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116" autoAdjust="0"/>
  </p:normalViewPr>
  <p:slideViewPr>
    <p:cSldViewPr snapToGrid="0" snapToObjects="1">
      <p:cViewPr>
        <p:scale>
          <a:sx n="125" d="100"/>
          <a:sy n="125" d="100"/>
        </p:scale>
        <p:origin x="696"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C78CF1-943C-4C70-8221-ABAC2211C291}"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D79EAE-9F86-4FC5-9D64-CA8FA30D4B39}" type="slidenum">
              <a:rPr lang="en-US" smtClean="0"/>
              <a:t>‹#›</a:t>
            </a:fld>
            <a:endParaRPr lang="en-US"/>
          </a:p>
        </p:txBody>
      </p:sp>
    </p:spTree>
    <p:extLst>
      <p:ext uri="{BB962C8B-B14F-4D97-AF65-F5344CB8AC3E}">
        <p14:creationId xmlns:p14="http://schemas.microsoft.com/office/powerpoint/2010/main" val="1745205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Chào thầy/cô và cả lớp. Bài báo cáo Task 3 của nhóm gồm 5 phần theo đúng yêu cầu, cộng thêm một khối Phân tích khám phá dữ liệu (EDA). Mỗi mục chúng em trình bày theo công thức: làm gì, vì sao làm, và kết quả đầu ra là gì.</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bức tranh tổng thể. Chúng em bắt đầu từ 7 bảng OULAD thô, gộp thành một bảng master 32.593 dòng 33 cột, cắt dữ liệu theo 6 mốc tiến độ khóa học, tiền xử lý theo trình tự chống rò rỉ, rồi tách train/test. Đầu ra là 6 bộ dữ liệu theo mốc thời gian và một tập kiểm tra cố định; toàn bộ được 16 kiểm thử tự động xác nhận không rò rỉ.</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Đề tài giải quyết bài toán phát hiện sớm sinh viên có nguy cơ học kém, và quan trọng là phải giải thích được. Nghiên cứu trước có ba điểm yếu: mô hình hộp đen, dự đoán quá muộn, và mất cân bằng lớp. Vì vậy dữ liệu của Task 3 phải đủ để trả lời ba câu hỏi nghiên cứu.</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bài toán phân loại nhị phân. Nhãn at_risk gộp Fail và Withdrawn; not-at-risk gồm Pass và Distinction — gom theo tiêu chí có cần can thiệp hay không. Tỉ lệ at-risk thật là 52,8%, tức mất cân bằng nhẹ, không phải con số minh họa 68/32.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Dữ liệu đầu vào chia ba nhóm: nhân khẩu học cho bối cảnh và phân tích công bằng; tương tác clickstream là tín hiệu hành vi sớm; kết quả đánh giá là bằng chứng năng lực. Chia nhóm rõ giúp giải thích mô hình theo từng nhóm về sau.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dòng dữ liệu là một sinh viên trong một môn–kỳ. Phạm vi gồm hơn 32 nghìn bản ghi trên 22 môn–kỳ. Chúng em loại sớm các cột định danh, biến date_unregistration (gây rò rỉ tương lai) và biến final_result gốc sau khi đã tạo nhãn.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Dữ liệu lấy từ bộ OULAD của Open University, công bố năm 2017. Đây là dữ liệu thứ cấp công khai, đã ẩn danh tại nguồn, cấp phép CC-BY 4.0, nên chỉ cần trích dẫn đúng là đáp ứng yêu cầu đạo đức.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Quy trình thu thập: tải 7 file CSV, đặt vào thư mục data/raw, rồi xác minh toàn vẹn bằng mã băm MD5. Bảng nặng nhất là studentVle với hơn 10,6 triệu dòng clickstream, nên chúng em đọc theo từng khối 500 nghìn dòng để tránh tràn bộ nhớ.</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bảng liên kết qua ba loại khoá: khoá sinh viên–môn–kỳ nối các bảng chính; id_site nối clickstream với loại hoạt động; id_assessment nối bài nộp với trọng số và hạn nộp. Hiểu đúng khoá là điều kiện để gộp mà không nhân bản dữ liệu.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Nguồn phù hợp vì có đủ ba nhóm đặc trưng và có dấu thời gian để làm dự đoán theo mốc. Ưu điểm là chuẩn quốc tế, ẩn danh, tái lập, miễn phí. Hạn chế là dữ liệu một trường, click chỉ là số đếm. Các rủi ro như mất cân bằng, lệch, đa cộng tuyến, rò rỉ thời gian đều được xử lý ở các phần sau.</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Sau khi gộp, bảng master có 32.593 dòng và 33 cột. Bước đầu tiên là khám tổng quát: số dòng, số cột, kiểu dữ liệu, để biết mình đang xử lý gì trước khi can thiệp.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Chỉ ba cột bị thiếu. date_unregistration thiếu 22.521 do đa số không rút môn — đây là thiếu cấu trúc, không dùng làm đặc trưng. imd_band thiếu 1.111 điền Unknown thành một nhóm riêng. date_registration thiếu 45 điền trung vị train. Điểm thiếu do chưa nộp điền 0 kèm cờ not_submitted — đây là tín hiệu chứ không phải nhiễu.</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Kiểm tra trùng theo khoá sinh viên–môn–kỳ: kết quả 0 khoá trùng. Lập danh mục kiểu biến để mã hoá đúng về sau. Chuẩn hoá định dạng bằng cách cắt khoảng trắng và đối chiếu số giá trị với từ điển dữ liệu.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Chúng em dò bất thường logic và dùng quy tắc IQR để phát hiện ngoại lai. Các biến click lệch phải rất mạnh, ví dụ clicks_resource có skew khoảng 35. Bảng các biến nghi ngoại lai được em bàn giao cho Đức để thống nhất chiến lược xử lý.</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biến có chiến lược riêng: log1p cho biến click lệch mạnh, winsorize cắt 1% hai đầu cho biến lệch vừa, và giữ nguyên với biến trong phạm vi tự nhiên. Nguyên tắc quan trọng là không xoá dòng nào, vì giá trị cực trị của sinh viên nguy cơ là tín hiệu cần giữ.</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Bảy bảng được gộp bằng left join lên bảng nền studentInfo. Nhật ký số dòng trước và sau mỗi phép gộp đều giữ nguyên 32.593, chứng minh không nhân bản và không thất thoát. Đầu ra là bảng master sạch 32.593 dòng 33 cột.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EDA của nhóm có 3 mục tiêu. Một là hiểu dữ liệu — hơn 32 nghìn bản ghi, 33 biến chia 3 nhóm: nhân khẩu học, tương tác (clickstream) và điểm số. Hai là kiểm tra chất lượng — thiếu, phân phối, ngoại lai. Ba, quan trọng nhất với đề tài phát hiện sớm, là tìm biến phân biệt được sinh viên nguy cơ. Mọi kết luận EDA phục vụ trực tiếp cho hai việc phía sau: chọn đặc trưng và đảm bảo không rò rỉ dữ liệu.</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Ở phân phối đơn biến, nhóm vẽ histogram kèm KDE và boxplot cho từng biến số. Rõ nhất là các biến đếm click lệch phải rất mạnh: clicks_resource có độ lệch skew tới 34,7 và độ nhọn kurtosis hơn 2.100 — đa số click ít, nhưng một nhóm nhỏ hoạt động cực nhiều tạo đuôi dài. Đây là ngoại lai thật, phản ánh hành vi học thật chứ không phải lỗi, nên nhóm không xoá mà xử lý bằng log1p và chuẩn hoá. Vì dữ liệu không chuẩn, các bước sau nhóm dùng kiểm định phi tham số Mann–Whitney thay cho t-test.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Phân phối nhãn: at-risk chiếm 52,8% — mất cân bằng nhẹ, là con số thật của bộ dữ liệu. Để tìm biến phân biệt tốt, với mỗi biến số nhóm so sánh hai nhóm bằng Cohen's d kèm Mann–Whitney, hiệu chỉnh đa kiểm định Benjamini–Hochberg. Ba biến mạnh nhất thuộc nhóm tương tác và điểm: số ngày kể từ lần hoạt động cuối (d khoảng 2,5 — rất lớn), số bài đã nộp, điểm có trọng số. Cụ thể, sinh viên at-risk trung bình 171 ngày không hoạt động so với chỉ 14 ngày ở nhóm còn lại; nộp trung bình 2,3 bài so với 8,6 bài. Toàn bộ 19/19 biến đều có ý nghĩa. Kết luận: tín hiệu nguy cơ nằm ở hành vi và điểm, không phải nhân khẩu học. Nếu được hỏi về nhân khẩu học: yếu, Cramér's V cao nhất chỉ khoảng 0,15.</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Bước đa biến dùng cả Pearson và Spearman — Spearman quan trọng vì dữ liệu lệch. Hai phát hiện chính. Một, tương quan với nhãn: days_since_last_activity +0,78, số bài nộp và điểm tương quan âm khoảng 0,71–0,72 — khớp đúng kết quả Cohen's d ở slide trước, hai phương pháp độc lập cho cùng kết luận. Hai, kiểm tra rò rỉ — bước bắt buộc: nhóm đặt ngưỡng nếu biến nào |r| ≥ 0,95 với nhãn thì nghi leakage; kết quả không biến nào vượt — mạnh nhất chỉ 0,78, hợp lý về giáo dục chứ không phải rò rỉ. Ngoài ra có 2 cặp đa cộng tuyến cao nên ở mô hình tuyến tính nhóm sẽ cân nhắc gộp/bỏ bớt. Biến phân loại liên hệ với nhãn đều yếu.</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này gắn trực tiếp với RQ1: tín hiệu xuất hiện từ giai đoạn nào? Nhóm tính lại Cohen's d cho từng biến tại cả 6 mốc. Khả năng phân biệt tăng dần đều theo thời gian — ví dụ weighted_score_to_date tăng từ 0,61 ở mốc 10% lên gần 1,96 ở cuối khóa, và n_assessments_submitted từ 0,67 lên 2,05, đúng bằng giá trị ở slide bivariate. Quan trọng cho phát hiện sớm: ngay mốc 10%, n_days_active đã đạt mức phân biệt mạnh; đến mốc 20%, cả điểm và số bài nộp đều mạnh. Một minh chứng nữa cho cách xử lý nhãn Withdrawn: sinh viên rút môn có median 233 ngày không hoạt động và chỉ 89 click, so với 1.425 click ở nhóm an toàn. Tóm lại EDA cho ba kết luận: tín hiệu nằm ở tương tác và điểm; không có rò rỉ; và dự đoán sớm khả thi từ khoảng 20% tiến độ. LƯU Ý: tránh trích 'days_since 1,56 ở mốc 100%' cạnh 'd=2,55' của slide trước — hai số tính trên hai bộ khác nhau (master vs dataset_t100).</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Mã hoá phân loại theo bốn chiến lược tuỳ bản chất biến: thứ bậc dùng OrdinalEncoder để giữ thứ tự; danh định dùng OneHotEncoder; nhị phân dùng BinaryEncoder; biến chỉ báo giữ nguyên. Nếu dùng sai, ví dụ one-hot cho biến thứ bậc, sẽ làm mất thông tin thứ tự.</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Với các biến click lệch phải mạnh, chúng em áp dụng biến đổi log1p để giảm đuôi nặng, giúp ổn định mô hình tuyến tính. Bằng chứng là độ lệch skew từ 13 đến 35 thấy ở phần EDA đơn biến.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StandardScaler đưa biến số về trung bình 0 và độ lệch chuẩn 1. Cần thiết vì tổng click lên hàng nghìn áp đảo điểm số 0–100 về biên độ, đặc biệt với Logistic Regression và mạng nơ-ron. Điểm mấu chốt chống rò rỉ: chỉ fit trên train, rồi transform cho cả train và test.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Chúng em tạo các đặc trưng phái sinh từ clickstream và bài nộp, mỗi đặc trưng gắn một giả thuyết: ngừng hoạt động lâu hoặc bỏ nộp bài thì nguy cơ cao. Ý nghĩa được kiểm chứng bằng Cohen's d ở phần EDA — các đặc trưng mới này phân biệt hai lớp rất mạnh.</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Dữ liệu mất cân bằng nhẹ với tỷ số 1,12. Dù nhẹ, bỏ sót sinh viên nguy cơ là sai lầm đắt nhất, nên chỉ số chính là PR-AUC và recall trên lớp at-risk chứ không phải accuracy. Câu hỏi RQ3 sẽ so sánh các chiến lược SMOTE, ADASYN, class-weight, và chỉ tái lấy mẫu trên tập train.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Chia 80% train, 20% test. Phương pháp StratifiedGroupKFold vừa phân tầng theo nhãn at_risk vừa gom nhóm theo id_student. Lý do gom theo sinh viên: một sinh viên học nhiều môn–kỳ, nếu chia theo dòng thì cùng một người sẽ xuất hiện ở cả train và test, gây rò rỉ nhóm.</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Rò rỉ kiểm soát theo hai trục. Trục thời gian: hàm cut_at_checkpoint chỉ giữ sự kiện đến ngày mốc, với ba quy tắc loại bài nộp và click sau mốc. Trục đặc trưng: mọi bộ học chỉ fit trên train. Kết quả là 6 bộ dữ liệu theo mốc dùng chung một danh sách sinh viên.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Trình tự tiền xử lý bắt buộc: chia trước, rồi mới điền khuyết, xử lý ngoại lai, mã hoá, chuẩn hoá, và cuối cùng tái lấy mẫu. Mọi tham số học từ train rồi áp lên test. Nếu fit trên toàn bộ dữ liệu trước khi chia thì test rò rỉ vào train, cho kết quả ảo. Sau khi chia, tỉ lệ nhãn train và test chênh nhau dưới 0,02.</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Định nghĩa tập test được lưu cố định và commit vào repo, kèm báo cáo split_report. Kiểm tra lại cho thấy 0 sinh viên trùng giữa train và test. Test cố định dùng lại qua cả 6 mốc nên 6 điểm hiệu năng so sánh được với nhau. Toàn bộ được 16 kiểm thử tự động xác nhận không rò rỉ.</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Tóm lại, năm mục của Task 3 đều hoàn thành với sản phẩm và số liệu cụ thể: xác định dữ liệu, thu thập, làm sạch, chuẩn hoá và biến đổi, và tách train/test.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Đầu ra của Task 3 là bảng master, sáu bộ dữ liệu theo mốc, một tập test cố định, và một pipeline tái lập hoàn toàn. Bước tiếp theo là benchmark mô hình theo từng mốc cho RQ1, xử lý mất cân bằng cho RQ3, và thêm lớp giải thích SHAP/LIME cùng đo độ ổn định cho RQ2. Em xin cảm ơn và nhóm sẵn sàng trả lời câu hỏi.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331720"/>
            <a:ext cx="12191695" cy="64008"/>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468880"/>
            <a:ext cx="10515600" cy="2011680"/>
          </a:xfrm>
          <a:prstGeom prst="rect">
            <a:avLst/>
          </a:prstGeom>
          <a:noFill/>
        </p:spPr>
        <p:txBody>
          <a:bodyPr wrap="square" lIns="0" tIns="0" rIns="0" bIns="0">
            <a:spAutoFit/>
          </a:bodyPr>
          <a:lstStyle/>
          <a:p>
            <a:r>
              <a:rPr sz="3300" b="1" i="0">
                <a:solidFill>
                  <a:srgbClr val="FFFFFF"/>
                </a:solidFill>
                <a:latin typeface="Calibri"/>
              </a:rPr>
              <a:t>Time-Aware Explainable ML cho phát hiện sớm sinh viên nguy cơ (OULAD)</a:t>
            </a:r>
          </a:p>
          <a:p>
            <a:pPr>
              <a:spcBef>
                <a:spcPts val="1000"/>
              </a:spcBef>
            </a:pPr>
            <a:r>
              <a:rPr sz="1600" b="0" i="1">
                <a:solidFill>
                  <a:srgbClr val="CFDCEC"/>
                </a:solidFill>
                <a:latin typeface="Calibri"/>
              </a:rPr>
              <a:t>Thu thập &amp; Tiền xử lý dữ liệu — Báo cáo Task 3</a:t>
            </a:r>
          </a:p>
        </p:txBody>
      </p:sp>
      <p:sp>
        <p:nvSpPr>
          <p:cNvPr id="5" name="TextBox 4"/>
          <p:cNvSpPr txBox="1"/>
          <p:nvPr/>
        </p:nvSpPr>
        <p:spPr>
          <a:xfrm>
            <a:off x="822960" y="1371600"/>
            <a:ext cx="10058400" cy="640080"/>
          </a:xfrm>
          <a:prstGeom prst="rect">
            <a:avLst/>
          </a:prstGeom>
          <a:noFill/>
        </p:spPr>
        <p:txBody>
          <a:bodyPr wrap="square" lIns="0" tIns="0" rIns="0" bIns="0">
            <a:spAutoFit/>
          </a:bodyPr>
          <a:lstStyle/>
          <a:p>
            <a:r>
              <a:rPr sz="1500" b="1" i="0">
                <a:solidFill>
                  <a:srgbClr val="E8722B"/>
                </a:solidFill>
                <a:latin typeface="Calibri"/>
              </a:rPr>
              <a:t>BÁO CÁO TÁC VỤ DỮ LIỆU</a:t>
            </a:r>
          </a:p>
        </p:txBody>
      </p:sp>
      <p:sp>
        <p:nvSpPr>
          <p:cNvPr id="6" name="TextBox 5"/>
          <p:cNvSpPr txBox="1"/>
          <p:nvPr/>
        </p:nvSpPr>
        <p:spPr>
          <a:xfrm>
            <a:off x="822960" y="4846320"/>
            <a:ext cx="10515600" cy="1554480"/>
          </a:xfrm>
          <a:prstGeom prst="rect">
            <a:avLst/>
          </a:prstGeom>
          <a:noFill/>
        </p:spPr>
        <p:txBody>
          <a:bodyPr wrap="square" lIns="0" tIns="0" rIns="0" bIns="0">
            <a:spAutoFit/>
          </a:bodyPr>
          <a:lstStyle/>
          <a:p>
            <a:pPr>
              <a:spcAft>
                <a:spcPts val="200"/>
              </a:spcAft>
            </a:pPr>
            <a:r>
              <a:rPr sz="1300" b="0" i="0">
                <a:solidFill>
                  <a:srgbClr val="D7E0EC"/>
                </a:solidFill>
                <a:latin typeface="Calibri"/>
              </a:rPr>
              <a:t>DSP391m · Đồ án Khoa học Dữ liệu · Nhóm 1 · Đại học FPT</a:t>
            </a:r>
          </a:p>
          <a:p>
            <a:pPr>
              <a:spcAft>
                <a:spcPts val="200"/>
              </a:spcAft>
            </a:pPr>
            <a:r>
              <a:rPr sz="1300" b="0" i="0">
                <a:solidFill>
                  <a:srgbClr val="D7E0EC"/>
                </a:solidFill>
                <a:latin typeface="Calibri"/>
              </a:rPr>
              <a:t>GVHD: Nguyễn Thị Hoàng Yến</a:t>
            </a:r>
          </a:p>
          <a:p>
            <a:pPr>
              <a:spcBef>
                <a:spcPts val="600"/>
              </a:spcBef>
            </a:pPr>
            <a:r>
              <a:rPr sz="1250" b="1" i="0">
                <a:solidFill>
                  <a:srgbClr val="FFFFFF"/>
                </a:solidFill>
                <a:latin typeface="Calibri"/>
              </a:rPr>
              <a:t>Thành viên: Sơn · Khoa · An · Đức · Phúc · Bình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MỤC LỤC</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Nội dung trình bày</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2166940"/>
          </a:xfrm>
          <a:prstGeom prst="rect">
            <a:avLst/>
          </a:prstGeom>
          <a:noFill/>
        </p:spPr>
        <p:txBody>
          <a:bodyPr wrap="square" lIns="0" tIns="0" rIns="0" bIns="0" anchor="t">
            <a:spAutoFit/>
          </a:bodyPr>
          <a:lstStyle/>
          <a:p>
            <a:pPr>
              <a:lnSpc>
                <a:spcPct val="104000"/>
              </a:lnSpc>
              <a:spcAft>
                <a:spcPts val="700"/>
              </a:spcAft>
            </a:pPr>
            <a:r>
              <a:rPr sz="1200" b="1" i="0" dirty="0">
                <a:solidFill>
                  <a:srgbClr val="0F2A4F"/>
                </a:solidFill>
                <a:latin typeface="Calibri"/>
              </a:rPr>
              <a:t>▪ </a:t>
            </a:r>
            <a:r>
              <a:rPr sz="1450" b="0" i="0" dirty="0" err="1">
                <a:solidFill>
                  <a:srgbClr val="262B33"/>
                </a:solidFill>
                <a:latin typeface="Calibri"/>
              </a:rPr>
              <a:t>Phần</a:t>
            </a:r>
            <a:r>
              <a:rPr sz="1450" b="0" i="0" dirty="0">
                <a:solidFill>
                  <a:srgbClr val="262B33"/>
                </a:solidFill>
                <a:latin typeface="Calibri"/>
              </a:rPr>
              <a:t> 1 — </a:t>
            </a:r>
            <a:r>
              <a:rPr sz="1450" b="0" i="0" dirty="0" err="1">
                <a:solidFill>
                  <a:srgbClr val="262B33"/>
                </a:solidFill>
                <a:latin typeface="Calibri"/>
              </a:rPr>
              <a:t>Xác</a:t>
            </a:r>
            <a:r>
              <a:rPr sz="1450" b="0" i="0" dirty="0">
                <a:solidFill>
                  <a:srgbClr val="262B33"/>
                </a:solidFill>
                <a:latin typeface="Calibri"/>
              </a:rPr>
              <a:t> </a:t>
            </a:r>
            <a:r>
              <a:rPr sz="1450" b="0" i="0" dirty="0" err="1">
                <a:solidFill>
                  <a:srgbClr val="262B33"/>
                </a:solidFill>
                <a:latin typeface="Calibri"/>
              </a:rPr>
              <a:t>định</a:t>
            </a:r>
            <a:r>
              <a:rPr sz="1450" b="0" i="0" dirty="0">
                <a:solidFill>
                  <a:srgbClr val="262B33"/>
                </a:solidFill>
                <a:latin typeface="Calibri"/>
              </a:rPr>
              <a:t> </a:t>
            </a:r>
            <a:r>
              <a:rPr sz="1450" b="0" i="0" dirty="0" err="1">
                <a:solidFill>
                  <a:srgbClr val="262B33"/>
                </a:solidFill>
                <a:latin typeface="Calibri"/>
              </a:rPr>
              <a:t>dữ</a:t>
            </a:r>
            <a:r>
              <a:rPr sz="1450" b="0" i="0" dirty="0">
                <a:solidFill>
                  <a:srgbClr val="262B33"/>
                </a:solidFill>
                <a:latin typeface="Calibri"/>
              </a:rPr>
              <a:t> </a:t>
            </a:r>
            <a:r>
              <a:rPr sz="1450" b="0" i="0" dirty="0" err="1">
                <a:solidFill>
                  <a:srgbClr val="262B33"/>
                </a:solidFill>
                <a:latin typeface="Calibri"/>
              </a:rPr>
              <a:t>liệu</a:t>
            </a:r>
            <a:r>
              <a:rPr sz="1450" b="0" i="0" dirty="0">
                <a:solidFill>
                  <a:srgbClr val="262B33"/>
                </a:solidFill>
                <a:latin typeface="Calibri"/>
              </a:rPr>
              <a:t> </a:t>
            </a:r>
            <a:r>
              <a:rPr sz="1450" b="0" i="0" dirty="0" err="1">
                <a:solidFill>
                  <a:srgbClr val="262B33"/>
                </a:solidFill>
                <a:latin typeface="Calibri"/>
              </a:rPr>
              <a:t>cần</a:t>
            </a:r>
            <a:r>
              <a:rPr sz="1450" b="0" i="0" dirty="0">
                <a:solidFill>
                  <a:srgbClr val="262B33"/>
                </a:solidFill>
                <a:latin typeface="Calibri"/>
              </a:rPr>
              <a:t> </a:t>
            </a:r>
            <a:r>
              <a:rPr sz="1450" b="0" i="0" dirty="0" err="1">
                <a:solidFill>
                  <a:srgbClr val="262B33"/>
                </a:solidFill>
                <a:latin typeface="Calibri"/>
              </a:rPr>
              <a:t>có</a:t>
            </a:r>
            <a:r>
              <a:rPr sz="1450" b="0" i="0" dirty="0">
                <a:solidFill>
                  <a:srgbClr val="262B33"/>
                </a:solidFill>
                <a:latin typeface="Calibri"/>
              </a:rPr>
              <a:t>  (Sơn)</a:t>
            </a:r>
          </a:p>
          <a:p>
            <a:pPr>
              <a:lnSpc>
                <a:spcPct val="104000"/>
              </a:lnSpc>
              <a:spcAft>
                <a:spcPts val="700"/>
              </a:spcAft>
            </a:pPr>
            <a:r>
              <a:rPr sz="1200" b="1" i="0" dirty="0">
                <a:solidFill>
                  <a:srgbClr val="0F2A4F"/>
                </a:solidFill>
                <a:latin typeface="Calibri"/>
              </a:rPr>
              <a:t>▪ </a:t>
            </a:r>
            <a:r>
              <a:rPr sz="1450" b="0" i="0" dirty="0" err="1">
                <a:solidFill>
                  <a:srgbClr val="262B33"/>
                </a:solidFill>
                <a:latin typeface="Calibri"/>
              </a:rPr>
              <a:t>Phần</a:t>
            </a:r>
            <a:r>
              <a:rPr sz="1450" b="0" i="0" dirty="0">
                <a:solidFill>
                  <a:srgbClr val="262B33"/>
                </a:solidFill>
                <a:latin typeface="Calibri"/>
              </a:rPr>
              <a:t> 2 — Phương </a:t>
            </a:r>
            <a:r>
              <a:rPr sz="1450" b="0" i="0" dirty="0" err="1">
                <a:solidFill>
                  <a:srgbClr val="262B33"/>
                </a:solidFill>
                <a:latin typeface="Calibri"/>
              </a:rPr>
              <a:t>pháp</a:t>
            </a:r>
            <a:r>
              <a:rPr sz="1450" b="0" i="0" dirty="0">
                <a:solidFill>
                  <a:srgbClr val="262B33"/>
                </a:solidFill>
                <a:latin typeface="Calibri"/>
              </a:rPr>
              <a:t> </a:t>
            </a:r>
            <a:r>
              <a:rPr sz="1450" b="0" i="0" dirty="0" err="1">
                <a:solidFill>
                  <a:srgbClr val="262B33"/>
                </a:solidFill>
                <a:latin typeface="Calibri"/>
              </a:rPr>
              <a:t>thu</a:t>
            </a:r>
            <a:r>
              <a:rPr sz="1450" b="0" i="0" dirty="0">
                <a:solidFill>
                  <a:srgbClr val="262B33"/>
                </a:solidFill>
                <a:latin typeface="Calibri"/>
              </a:rPr>
              <a:t> </a:t>
            </a:r>
            <a:r>
              <a:rPr sz="1450" b="0" i="0" dirty="0" err="1">
                <a:solidFill>
                  <a:srgbClr val="262B33"/>
                </a:solidFill>
                <a:latin typeface="Calibri"/>
              </a:rPr>
              <a:t>thập</a:t>
            </a:r>
            <a:r>
              <a:rPr sz="1450" b="0" i="0" dirty="0">
                <a:solidFill>
                  <a:srgbClr val="262B33"/>
                </a:solidFill>
                <a:latin typeface="Calibri"/>
              </a:rPr>
              <a:t> </a:t>
            </a:r>
            <a:r>
              <a:rPr sz="1450" b="0" i="0" dirty="0" err="1">
                <a:solidFill>
                  <a:srgbClr val="262B33"/>
                </a:solidFill>
                <a:latin typeface="Calibri"/>
              </a:rPr>
              <a:t>dữ</a:t>
            </a:r>
            <a:r>
              <a:rPr sz="1450" b="0" i="0" dirty="0">
                <a:solidFill>
                  <a:srgbClr val="262B33"/>
                </a:solidFill>
                <a:latin typeface="Calibri"/>
              </a:rPr>
              <a:t> </a:t>
            </a:r>
            <a:r>
              <a:rPr sz="1450" b="0" i="0" dirty="0" err="1">
                <a:solidFill>
                  <a:srgbClr val="262B33"/>
                </a:solidFill>
                <a:latin typeface="Calibri"/>
              </a:rPr>
              <a:t>liệu</a:t>
            </a:r>
            <a:r>
              <a:rPr sz="1450" b="0" i="0" dirty="0">
                <a:solidFill>
                  <a:srgbClr val="262B33"/>
                </a:solidFill>
                <a:latin typeface="Calibri"/>
              </a:rPr>
              <a:t>  (Phúc)</a:t>
            </a:r>
          </a:p>
          <a:p>
            <a:pPr>
              <a:lnSpc>
                <a:spcPct val="104000"/>
              </a:lnSpc>
              <a:spcAft>
                <a:spcPts val="700"/>
              </a:spcAft>
            </a:pPr>
            <a:r>
              <a:rPr sz="1200" b="1" i="0" dirty="0">
                <a:solidFill>
                  <a:srgbClr val="0F2A4F"/>
                </a:solidFill>
                <a:latin typeface="Calibri"/>
              </a:rPr>
              <a:t>▪ </a:t>
            </a:r>
            <a:r>
              <a:rPr sz="1450" b="0" i="0" dirty="0" err="1">
                <a:solidFill>
                  <a:srgbClr val="262B33"/>
                </a:solidFill>
                <a:latin typeface="Calibri"/>
              </a:rPr>
              <a:t>Phần</a:t>
            </a:r>
            <a:r>
              <a:rPr sz="1450" b="0" i="0" dirty="0">
                <a:solidFill>
                  <a:srgbClr val="262B33"/>
                </a:solidFill>
                <a:latin typeface="Calibri"/>
              </a:rPr>
              <a:t> 3 — Làm </a:t>
            </a:r>
            <a:r>
              <a:rPr sz="1450" b="0" i="0" dirty="0" err="1">
                <a:solidFill>
                  <a:srgbClr val="262B33"/>
                </a:solidFill>
                <a:latin typeface="Calibri"/>
              </a:rPr>
              <a:t>sạch</a:t>
            </a:r>
            <a:r>
              <a:rPr sz="1450" b="0" i="0" dirty="0">
                <a:solidFill>
                  <a:srgbClr val="262B33"/>
                </a:solidFill>
                <a:latin typeface="Calibri"/>
              </a:rPr>
              <a:t> </a:t>
            </a:r>
            <a:r>
              <a:rPr sz="1450" b="0" i="0" dirty="0" err="1">
                <a:solidFill>
                  <a:srgbClr val="262B33"/>
                </a:solidFill>
                <a:latin typeface="Calibri"/>
              </a:rPr>
              <a:t>dữ</a:t>
            </a:r>
            <a:r>
              <a:rPr sz="1450" b="0" i="0" dirty="0">
                <a:solidFill>
                  <a:srgbClr val="262B33"/>
                </a:solidFill>
                <a:latin typeface="Calibri"/>
              </a:rPr>
              <a:t> </a:t>
            </a:r>
            <a:r>
              <a:rPr sz="1450" b="0" i="0" dirty="0" err="1">
                <a:solidFill>
                  <a:srgbClr val="262B33"/>
                </a:solidFill>
                <a:latin typeface="Calibri"/>
              </a:rPr>
              <a:t>liệu</a:t>
            </a:r>
            <a:r>
              <a:rPr sz="1450" b="0" i="0" dirty="0">
                <a:solidFill>
                  <a:srgbClr val="262B33"/>
                </a:solidFill>
                <a:latin typeface="Calibri"/>
              </a:rPr>
              <a:t>  (</a:t>
            </a:r>
            <a:r>
              <a:rPr lang="vi-VN" sz="1450" dirty="0">
                <a:solidFill>
                  <a:srgbClr val="262B33"/>
                </a:solidFill>
                <a:latin typeface="Calibri"/>
              </a:rPr>
              <a:t>An</a:t>
            </a:r>
            <a:r>
              <a:rPr sz="1450" b="0" i="0" dirty="0">
                <a:solidFill>
                  <a:srgbClr val="262B33"/>
                </a:solidFill>
                <a:latin typeface="Calibri"/>
              </a:rPr>
              <a:t>)</a:t>
            </a:r>
          </a:p>
          <a:p>
            <a:pPr>
              <a:lnSpc>
                <a:spcPct val="104000"/>
              </a:lnSpc>
              <a:spcAft>
                <a:spcPts val="700"/>
              </a:spcAft>
            </a:pPr>
            <a:r>
              <a:rPr sz="1200" b="1" i="0" dirty="0">
                <a:solidFill>
                  <a:srgbClr val="0F2A4F"/>
                </a:solidFill>
                <a:latin typeface="Calibri"/>
              </a:rPr>
              <a:t>▪ </a:t>
            </a:r>
            <a:r>
              <a:rPr sz="1450" b="0" i="0" dirty="0" err="1">
                <a:solidFill>
                  <a:srgbClr val="262B33"/>
                </a:solidFill>
                <a:latin typeface="Calibri"/>
              </a:rPr>
              <a:t>Khối</a:t>
            </a:r>
            <a:r>
              <a:rPr sz="1450" b="0" i="0" dirty="0">
                <a:solidFill>
                  <a:srgbClr val="262B33"/>
                </a:solidFill>
                <a:latin typeface="Calibri"/>
              </a:rPr>
              <a:t> EDA — </a:t>
            </a:r>
            <a:r>
              <a:rPr sz="1450" b="0" i="0" dirty="0" err="1">
                <a:solidFill>
                  <a:srgbClr val="262B33"/>
                </a:solidFill>
                <a:latin typeface="Calibri"/>
              </a:rPr>
              <a:t>Phân</a:t>
            </a:r>
            <a:r>
              <a:rPr sz="1450" b="0" i="0" dirty="0">
                <a:solidFill>
                  <a:srgbClr val="262B33"/>
                </a:solidFill>
                <a:latin typeface="Calibri"/>
              </a:rPr>
              <a:t> </a:t>
            </a:r>
            <a:r>
              <a:rPr sz="1450" b="0" i="0" dirty="0" err="1">
                <a:solidFill>
                  <a:srgbClr val="262B33"/>
                </a:solidFill>
                <a:latin typeface="Calibri"/>
              </a:rPr>
              <a:t>tích</a:t>
            </a:r>
            <a:r>
              <a:rPr sz="1450" b="0" i="0" dirty="0">
                <a:solidFill>
                  <a:srgbClr val="262B33"/>
                </a:solidFill>
                <a:latin typeface="Calibri"/>
              </a:rPr>
              <a:t> </a:t>
            </a:r>
            <a:r>
              <a:rPr sz="1450" b="0" i="0" dirty="0" err="1">
                <a:solidFill>
                  <a:srgbClr val="262B33"/>
                </a:solidFill>
                <a:latin typeface="Calibri"/>
              </a:rPr>
              <a:t>khám</a:t>
            </a:r>
            <a:r>
              <a:rPr sz="1450" b="0" i="0" dirty="0">
                <a:solidFill>
                  <a:srgbClr val="262B33"/>
                </a:solidFill>
                <a:latin typeface="Calibri"/>
              </a:rPr>
              <a:t> </a:t>
            </a:r>
            <a:r>
              <a:rPr sz="1450" b="0" i="0" dirty="0" err="1">
                <a:solidFill>
                  <a:srgbClr val="262B33"/>
                </a:solidFill>
                <a:latin typeface="Calibri"/>
              </a:rPr>
              <a:t>phá</a:t>
            </a:r>
            <a:r>
              <a:rPr sz="1450" b="0" i="0" dirty="0">
                <a:solidFill>
                  <a:srgbClr val="262B33"/>
                </a:solidFill>
                <a:latin typeface="Calibri"/>
              </a:rPr>
              <a:t> </a:t>
            </a:r>
            <a:r>
              <a:rPr sz="1450" b="0" i="0" dirty="0" err="1">
                <a:solidFill>
                  <a:srgbClr val="262B33"/>
                </a:solidFill>
                <a:latin typeface="Calibri"/>
              </a:rPr>
              <a:t>dữ</a:t>
            </a:r>
            <a:r>
              <a:rPr sz="1450" b="0" i="0" dirty="0">
                <a:solidFill>
                  <a:srgbClr val="262B33"/>
                </a:solidFill>
                <a:latin typeface="Calibri"/>
              </a:rPr>
              <a:t> </a:t>
            </a:r>
            <a:r>
              <a:rPr sz="1450" b="0" i="0" dirty="0" err="1">
                <a:solidFill>
                  <a:srgbClr val="262B33"/>
                </a:solidFill>
                <a:latin typeface="Calibri"/>
              </a:rPr>
              <a:t>liệu</a:t>
            </a:r>
            <a:r>
              <a:rPr sz="1450" b="0" i="0" dirty="0">
                <a:solidFill>
                  <a:srgbClr val="262B33"/>
                </a:solidFill>
                <a:latin typeface="Calibri"/>
              </a:rPr>
              <a:t>  (Bình)</a:t>
            </a:r>
          </a:p>
          <a:p>
            <a:pPr>
              <a:lnSpc>
                <a:spcPct val="104000"/>
              </a:lnSpc>
              <a:spcAft>
                <a:spcPts val="700"/>
              </a:spcAft>
            </a:pPr>
            <a:r>
              <a:rPr sz="1200" b="1" i="0" dirty="0">
                <a:solidFill>
                  <a:srgbClr val="0F2A4F"/>
                </a:solidFill>
                <a:latin typeface="Calibri"/>
              </a:rPr>
              <a:t>▪ </a:t>
            </a:r>
            <a:r>
              <a:rPr sz="1450" b="0" i="0" dirty="0" err="1">
                <a:solidFill>
                  <a:srgbClr val="262B33"/>
                </a:solidFill>
                <a:latin typeface="Calibri"/>
              </a:rPr>
              <a:t>Phần</a:t>
            </a:r>
            <a:r>
              <a:rPr sz="1450" b="0" i="0" dirty="0">
                <a:solidFill>
                  <a:srgbClr val="262B33"/>
                </a:solidFill>
                <a:latin typeface="Calibri"/>
              </a:rPr>
              <a:t> 4 — </a:t>
            </a:r>
            <a:r>
              <a:rPr sz="1450" b="0" i="0" dirty="0" err="1">
                <a:solidFill>
                  <a:srgbClr val="262B33"/>
                </a:solidFill>
                <a:latin typeface="Calibri"/>
              </a:rPr>
              <a:t>Chuẩn</a:t>
            </a:r>
            <a:r>
              <a:rPr sz="1450" b="0" i="0" dirty="0">
                <a:solidFill>
                  <a:srgbClr val="262B33"/>
                </a:solidFill>
                <a:latin typeface="Calibri"/>
              </a:rPr>
              <a:t> </a:t>
            </a:r>
            <a:r>
              <a:rPr sz="1450" b="0" i="0" dirty="0" err="1">
                <a:solidFill>
                  <a:srgbClr val="262B33"/>
                </a:solidFill>
                <a:latin typeface="Calibri"/>
              </a:rPr>
              <a:t>hoá</a:t>
            </a:r>
            <a:r>
              <a:rPr sz="1450" b="0" i="0" dirty="0">
                <a:solidFill>
                  <a:srgbClr val="262B33"/>
                </a:solidFill>
                <a:latin typeface="Calibri"/>
              </a:rPr>
              <a:t> &amp; </a:t>
            </a:r>
            <a:r>
              <a:rPr sz="1450" b="0" i="0" dirty="0" err="1">
                <a:solidFill>
                  <a:srgbClr val="262B33"/>
                </a:solidFill>
                <a:latin typeface="Calibri"/>
              </a:rPr>
              <a:t>biến</a:t>
            </a:r>
            <a:r>
              <a:rPr sz="1450" b="0" i="0" dirty="0">
                <a:solidFill>
                  <a:srgbClr val="262B33"/>
                </a:solidFill>
                <a:latin typeface="Calibri"/>
              </a:rPr>
              <a:t> </a:t>
            </a:r>
            <a:r>
              <a:rPr sz="1450" b="0" i="0" dirty="0" err="1">
                <a:solidFill>
                  <a:srgbClr val="262B33"/>
                </a:solidFill>
                <a:latin typeface="Calibri"/>
              </a:rPr>
              <a:t>đổi</a:t>
            </a:r>
            <a:r>
              <a:rPr sz="1450" b="0" i="0" dirty="0">
                <a:solidFill>
                  <a:srgbClr val="262B33"/>
                </a:solidFill>
                <a:latin typeface="Calibri"/>
              </a:rPr>
              <a:t> </a:t>
            </a:r>
            <a:r>
              <a:rPr sz="1450" b="0" i="0" dirty="0" err="1">
                <a:solidFill>
                  <a:srgbClr val="262B33"/>
                </a:solidFill>
                <a:latin typeface="Calibri"/>
              </a:rPr>
              <a:t>dữ</a:t>
            </a:r>
            <a:r>
              <a:rPr sz="1450" b="0" i="0" dirty="0">
                <a:solidFill>
                  <a:srgbClr val="262B33"/>
                </a:solidFill>
                <a:latin typeface="Calibri"/>
              </a:rPr>
              <a:t> </a:t>
            </a:r>
            <a:r>
              <a:rPr sz="1450" b="0" i="0" dirty="0" err="1">
                <a:solidFill>
                  <a:srgbClr val="262B33"/>
                </a:solidFill>
                <a:latin typeface="Calibri"/>
              </a:rPr>
              <a:t>liệu</a:t>
            </a:r>
            <a:r>
              <a:rPr sz="1450" b="0" i="0" dirty="0">
                <a:solidFill>
                  <a:srgbClr val="262B33"/>
                </a:solidFill>
                <a:latin typeface="Calibri"/>
              </a:rPr>
              <a:t>  (Đức)</a:t>
            </a:r>
          </a:p>
          <a:p>
            <a:pPr>
              <a:lnSpc>
                <a:spcPct val="104000"/>
              </a:lnSpc>
              <a:spcAft>
                <a:spcPts val="700"/>
              </a:spcAft>
            </a:pPr>
            <a:r>
              <a:rPr sz="1200" b="1" i="0" dirty="0">
                <a:solidFill>
                  <a:srgbClr val="0F2A4F"/>
                </a:solidFill>
                <a:latin typeface="Calibri"/>
              </a:rPr>
              <a:t>▪ </a:t>
            </a:r>
            <a:r>
              <a:rPr sz="1450" b="0" i="0" dirty="0" err="1">
                <a:solidFill>
                  <a:srgbClr val="262B33"/>
                </a:solidFill>
                <a:latin typeface="Calibri"/>
              </a:rPr>
              <a:t>Phần</a:t>
            </a:r>
            <a:r>
              <a:rPr sz="1450" b="0" i="0" dirty="0">
                <a:solidFill>
                  <a:srgbClr val="262B33"/>
                </a:solidFill>
                <a:latin typeface="Calibri"/>
              </a:rPr>
              <a:t> 5 — </a:t>
            </a:r>
            <a:r>
              <a:rPr sz="1450" b="0" i="0" dirty="0" err="1">
                <a:solidFill>
                  <a:srgbClr val="262B33"/>
                </a:solidFill>
                <a:latin typeface="Calibri"/>
              </a:rPr>
              <a:t>Tách</a:t>
            </a:r>
            <a:r>
              <a:rPr sz="1450" b="0" i="0" dirty="0">
                <a:solidFill>
                  <a:srgbClr val="262B33"/>
                </a:solidFill>
                <a:latin typeface="Calibri"/>
              </a:rPr>
              <a:t> train/test &amp; </a:t>
            </a:r>
            <a:r>
              <a:rPr sz="1450" b="0" i="0" dirty="0" err="1">
                <a:solidFill>
                  <a:srgbClr val="262B33"/>
                </a:solidFill>
                <a:latin typeface="Calibri"/>
              </a:rPr>
              <a:t>chống</a:t>
            </a:r>
            <a:r>
              <a:rPr sz="1450" b="0" i="0" dirty="0">
                <a:solidFill>
                  <a:srgbClr val="262B33"/>
                </a:solidFill>
                <a:latin typeface="Calibri"/>
              </a:rPr>
              <a:t> </a:t>
            </a:r>
            <a:r>
              <a:rPr sz="1450" b="0" i="0" dirty="0" err="1">
                <a:solidFill>
                  <a:srgbClr val="262B33"/>
                </a:solidFill>
                <a:latin typeface="Calibri"/>
              </a:rPr>
              <a:t>rò</a:t>
            </a:r>
            <a:r>
              <a:rPr sz="1450" b="0" i="0" dirty="0">
                <a:solidFill>
                  <a:srgbClr val="262B33"/>
                </a:solidFill>
                <a:latin typeface="Calibri"/>
              </a:rPr>
              <a:t> </a:t>
            </a:r>
            <a:r>
              <a:rPr sz="1450" b="0" i="0" dirty="0" err="1">
                <a:solidFill>
                  <a:srgbClr val="262B33"/>
                </a:solidFill>
                <a:latin typeface="Calibri"/>
              </a:rPr>
              <a:t>rỉ</a:t>
            </a:r>
            <a:r>
              <a:rPr sz="1450" b="0" i="0" dirty="0">
                <a:solidFill>
                  <a:srgbClr val="262B33"/>
                </a:solidFill>
                <a:latin typeface="Calibri"/>
              </a:rPr>
              <a:t>  (Khoa)</a:t>
            </a:r>
          </a:p>
          <a:p>
            <a:pPr>
              <a:lnSpc>
                <a:spcPct val="104000"/>
              </a:lnSpc>
              <a:spcBef>
                <a:spcPts val="400"/>
              </a:spcBef>
              <a:spcAft>
                <a:spcPts val="700"/>
              </a:spcAft>
            </a:pPr>
            <a:r>
              <a:rPr sz="1200" b="0" i="1" dirty="0" err="1">
                <a:solidFill>
                  <a:srgbClr val="5B6370"/>
                </a:solidFill>
                <a:latin typeface="Calibri"/>
              </a:rPr>
              <a:t>Mỗi</a:t>
            </a:r>
            <a:r>
              <a:rPr sz="1200" b="0" i="1" dirty="0">
                <a:solidFill>
                  <a:srgbClr val="5B6370"/>
                </a:solidFill>
                <a:latin typeface="Calibri"/>
              </a:rPr>
              <a:t> </a:t>
            </a:r>
            <a:r>
              <a:rPr sz="1200" b="0" i="1" dirty="0" err="1">
                <a:solidFill>
                  <a:srgbClr val="5B6370"/>
                </a:solidFill>
                <a:latin typeface="Calibri"/>
              </a:rPr>
              <a:t>mục</a:t>
            </a:r>
            <a:r>
              <a:rPr sz="1200" b="0" i="1" dirty="0">
                <a:solidFill>
                  <a:srgbClr val="5B6370"/>
                </a:solidFill>
                <a:latin typeface="Calibri"/>
              </a:rPr>
              <a:t> </a:t>
            </a:r>
            <a:r>
              <a:rPr sz="1200" b="0" i="1" dirty="0" err="1">
                <a:solidFill>
                  <a:srgbClr val="5B6370"/>
                </a:solidFill>
                <a:latin typeface="Calibri"/>
              </a:rPr>
              <a:t>trình</a:t>
            </a:r>
            <a:r>
              <a:rPr sz="1200" b="0" i="1" dirty="0">
                <a:solidFill>
                  <a:srgbClr val="5B6370"/>
                </a:solidFill>
                <a:latin typeface="Calibri"/>
              </a:rPr>
              <a:t> </a:t>
            </a:r>
            <a:r>
              <a:rPr sz="1200" b="0" i="1" dirty="0" err="1">
                <a:solidFill>
                  <a:srgbClr val="5B6370"/>
                </a:solidFill>
                <a:latin typeface="Calibri"/>
              </a:rPr>
              <a:t>bày</a:t>
            </a:r>
            <a:r>
              <a:rPr sz="1200" b="0" i="1" dirty="0">
                <a:solidFill>
                  <a:srgbClr val="5B6370"/>
                </a:solidFill>
                <a:latin typeface="Calibri"/>
              </a:rPr>
              <a:t> </a:t>
            </a:r>
            <a:r>
              <a:rPr sz="1200" b="0" i="1" dirty="0" err="1">
                <a:solidFill>
                  <a:srgbClr val="5B6370"/>
                </a:solidFill>
                <a:latin typeface="Calibri"/>
              </a:rPr>
              <a:t>theo</a:t>
            </a:r>
            <a:r>
              <a:rPr sz="1200" b="0" i="1" dirty="0">
                <a:solidFill>
                  <a:srgbClr val="5B6370"/>
                </a:solidFill>
                <a:latin typeface="Calibri"/>
              </a:rPr>
              <a:t>: Làm </a:t>
            </a:r>
            <a:r>
              <a:rPr sz="1200" b="0" i="1" dirty="0" err="1">
                <a:solidFill>
                  <a:srgbClr val="5B6370"/>
                </a:solidFill>
                <a:latin typeface="Calibri"/>
              </a:rPr>
              <a:t>gì</a:t>
            </a:r>
            <a:r>
              <a:rPr sz="1200" b="0" i="1" dirty="0">
                <a:solidFill>
                  <a:srgbClr val="5B6370"/>
                </a:solidFill>
                <a:latin typeface="Calibri"/>
              </a:rPr>
              <a:t> – </a:t>
            </a:r>
            <a:r>
              <a:rPr sz="1200" b="0" i="1" dirty="0" err="1">
                <a:solidFill>
                  <a:srgbClr val="5B6370"/>
                </a:solidFill>
                <a:latin typeface="Calibri"/>
              </a:rPr>
              <a:t>Vì</a:t>
            </a:r>
            <a:r>
              <a:rPr sz="1200" b="0" i="1" dirty="0">
                <a:solidFill>
                  <a:srgbClr val="5B6370"/>
                </a:solidFill>
                <a:latin typeface="Calibri"/>
              </a:rPr>
              <a:t> </a:t>
            </a:r>
            <a:r>
              <a:rPr sz="1200" b="0" i="1" dirty="0" err="1">
                <a:solidFill>
                  <a:srgbClr val="5B6370"/>
                </a:solidFill>
                <a:latin typeface="Calibri"/>
              </a:rPr>
              <a:t>sao</a:t>
            </a:r>
            <a:r>
              <a:rPr sz="1200" b="0" i="1" dirty="0">
                <a:solidFill>
                  <a:srgbClr val="5B6370"/>
                </a:solidFill>
                <a:latin typeface="Calibri"/>
              </a:rPr>
              <a:t> – </a:t>
            </a:r>
            <a:r>
              <a:rPr sz="1200" b="0" i="1" dirty="0" err="1">
                <a:solidFill>
                  <a:srgbClr val="5B6370"/>
                </a:solidFill>
                <a:latin typeface="Calibri"/>
              </a:rPr>
              <a:t>Kết</a:t>
            </a:r>
            <a:r>
              <a:rPr sz="1200" b="0" i="1" dirty="0">
                <a:solidFill>
                  <a:srgbClr val="5B6370"/>
                </a:solidFill>
                <a:latin typeface="Calibri"/>
              </a:rPr>
              <a:t> </a:t>
            </a:r>
            <a:r>
              <a:rPr sz="1200" b="0" i="1" dirty="0" err="1">
                <a:solidFill>
                  <a:srgbClr val="5B6370"/>
                </a:solidFill>
                <a:latin typeface="Calibri"/>
              </a:rPr>
              <a:t>quả</a:t>
            </a:r>
            <a:r>
              <a:rPr sz="1200" b="0" i="1" dirty="0">
                <a:solidFill>
                  <a:srgbClr val="5B6370"/>
                </a:solidFill>
                <a:latin typeface="Calibri"/>
              </a:rPr>
              <a:t> </a:t>
            </a:r>
            <a:r>
              <a:rPr sz="1200" b="0" i="1" dirty="0" err="1">
                <a:solidFill>
                  <a:srgbClr val="5B6370"/>
                </a:solidFill>
                <a:latin typeface="Calibri"/>
              </a:rPr>
              <a:t>đầu</a:t>
            </a:r>
            <a:r>
              <a:rPr sz="1200" b="0" i="1" dirty="0">
                <a:solidFill>
                  <a:srgbClr val="5B6370"/>
                </a:solidFill>
                <a:latin typeface="Calibri"/>
              </a:rPr>
              <a:t> </a:t>
            </a:r>
            <a:r>
              <a:rPr sz="1200" b="0" i="1" dirty="0" err="1">
                <a:solidFill>
                  <a:srgbClr val="5B6370"/>
                </a:solidFill>
                <a:latin typeface="Calibri"/>
              </a:rPr>
              <a:t>ra.</a:t>
            </a:r>
            <a:endParaRPr sz="1200" b="0" i="1" dirty="0">
              <a:solidFill>
                <a:srgbClr val="5B637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3</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BỨC TRANH TỔNG THỂ</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Pipeline dữ liệu của nhóm</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7 bảng OULAD thô → gộp → master_raw (32.593 × 33) → cắt theo 6 mốc thời gian → tiền xử lý chống rò rỉ → train/test.</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Slide 'neo' để luôn biết đang ở bước nào của quy trình.</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6 bộ dữ liệu dataset_t10…t100 + tập test 20% cố định; 16/16 kiểm thử rò rỉ ĐẠT.</a:t>
            </a:r>
          </a:p>
        </p:txBody>
      </p:sp>
      <p:pic>
        <p:nvPicPr>
          <p:cNvPr id="10" name="Picture 9" descr="preprocessing_sequence.png"/>
          <p:cNvPicPr>
            <a:picLocks noChangeAspect="1"/>
          </p:cNvPicPr>
          <p:nvPr/>
        </p:nvPicPr>
        <p:blipFill>
          <a:blip r:embed="rId3"/>
          <a:stretch>
            <a:fillRect/>
          </a:stretch>
        </p:blipFill>
        <p:spPr>
          <a:xfrm>
            <a:off x="7040880" y="1783080"/>
            <a:ext cx="4709160" cy="3967503"/>
          </a:xfrm>
          <a:prstGeom prst="rect">
            <a:avLst/>
          </a:prstGeom>
        </p:spPr>
      </p:pic>
      <p:sp>
        <p:nvSpPr>
          <p:cNvPr id="11" name="TextBox 10"/>
          <p:cNvSpPr txBox="1"/>
          <p:nvPr/>
        </p:nvSpPr>
        <p:spPr>
          <a:xfrm>
            <a:off x="7040880" y="5796303"/>
            <a:ext cx="4709160" cy="365760"/>
          </a:xfrm>
          <a:prstGeom prst="rect">
            <a:avLst/>
          </a:prstGeom>
          <a:noFill/>
        </p:spPr>
        <p:txBody>
          <a:bodyPr wrap="square" lIns="0" tIns="0" rIns="0" bIns="0">
            <a:spAutoFit/>
          </a:bodyPr>
          <a:lstStyle/>
          <a:p>
            <a:pPr algn="ctr"/>
            <a:r>
              <a:rPr sz="950" b="0" i="1">
                <a:solidFill>
                  <a:srgbClr val="5B6370"/>
                </a:solidFill>
                <a:latin typeface="Calibri"/>
              </a:rPr>
              <a:t>Trình tự pipeline tiền xử lý (preprocessing_sequence.png)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468880"/>
            <a:ext cx="1463040" cy="82296"/>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058400" cy="640080"/>
          </a:xfrm>
          <a:prstGeom prst="rect">
            <a:avLst/>
          </a:prstGeom>
          <a:noFill/>
        </p:spPr>
        <p:txBody>
          <a:bodyPr wrap="square" lIns="0" tIns="0" rIns="0" bIns="0">
            <a:spAutoFit/>
          </a:bodyPr>
          <a:lstStyle/>
          <a:p>
            <a:r>
              <a:rPr sz="1500" b="1" i="0">
                <a:solidFill>
                  <a:srgbClr val="E8722B"/>
                </a:solidFill>
                <a:latin typeface="Calibri"/>
              </a:rPr>
              <a:t>PHẦN 1</a:t>
            </a:r>
          </a:p>
        </p:txBody>
      </p:sp>
      <p:sp>
        <p:nvSpPr>
          <p:cNvPr id="5" name="TextBox 4"/>
          <p:cNvSpPr txBox="1"/>
          <p:nvPr/>
        </p:nvSpPr>
        <p:spPr>
          <a:xfrm>
            <a:off x="822960" y="2697480"/>
            <a:ext cx="10332720" cy="1828800"/>
          </a:xfrm>
          <a:prstGeom prst="rect">
            <a:avLst/>
          </a:prstGeom>
          <a:noFill/>
        </p:spPr>
        <p:txBody>
          <a:bodyPr wrap="square" lIns="0" tIns="0" rIns="0" bIns="0">
            <a:spAutoFit/>
          </a:bodyPr>
          <a:lstStyle/>
          <a:p>
            <a:r>
              <a:rPr sz="3000" b="1" i="0">
                <a:solidFill>
                  <a:srgbClr val="FFFFFF"/>
                </a:solidFill>
                <a:latin typeface="Calibri"/>
              </a:rPr>
              <a:t>Xác định dữ liệu cần có</a:t>
            </a:r>
          </a:p>
          <a:p>
            <a:pPr>
              <a:spcBef>
                <a:spcPts val="800"/>
              </a:spcBef>
            </a:pPr>
            <a:r>
              <a:rPr sz="1500" b="0" i="1">
                <a:solidFill>
                  <a:srgbClr val="CFDCEC"/>
                </a:solidFill>
                <a:latin typeface="Calibri"/>
              </a:rPr>
              <a:t>Mục tiêu · Biến mục tiêu · Nhóm dữ liệu · Đơn vị &amp; phạm vi</a:t>
            </a:r>
          </a:p>
        </p:txBody>
      </p:sp>
      <p:sp>
        <p:nvSpPr>
          <p:cNvPr id="6" name="TextBox 5"/>
          <p:cNvSpPr txBox="1"/>
          <p:nvPr/>
        </p:nvSpPr>
        <p:spPr>
          <a:xfrm>
            <a:off x="822960" y="5120640"/>
            <a:ext cx="10058400" cy="548640"/>
          </a:xfrm>
          <a:prstGeom prst="rect">
            <a:avLst/>
          </a:prstGeom>
          <a:noFill/>
        </p:spPr>
        <p:txBody>
          <a:bodyPr wrap="square" lIns="0" tIns="0" rIns="0" bIns="0">
            <a:spAutoFit/>
          </a:bodyPr>
          <a:lstStyle/>
          <a:p>
            <a:r>
              <a:rPr sz="1400" b="1" i="0">
                <a:solidFill>
                  <a:srgbClr val="FFFFFF"/>
                </a:solidFill>
                <a:latin typeface="Calibri"/>
              </a:rPr>
              <a:t>Trình bày: Sơn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Sơn</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4</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1 · XÁC ĐỊNH DỮ LIỆU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Bài toán &amp; mục tiêu đề tài</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Phát hiện SỚM sinh viên nguy cơ học kém trên VLE, và GIẢI THÍCH được mỗi dự đoán.</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Ba khoảng trống của nghiên cứu trước: hộp đen (opacity), dự đoán muộn (lateness), mất cân bằng lớp.</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Dữ liệu phải phục vụ RQ1 (dự đoán sớm), RQ2 (ổn định giải thích), RQ3 (mất cân bằng).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Sơn</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5</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1 · XÁC ĐỊNH DỮ LIỆU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Biến mục tiêu (at_risk)</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Phân loại nhị phân: at_risk suy ra từ final_result.</a:t>
            </a:r>
          </a:p>
          <a:p>
            <a:pPr>
              <a:lnSpc>
                <a:spcPct val="104000"/>
              </a:lnSpc>
              <a:spcAft>
                <a:spcPts val="700"/>
              </a:spcAft>
            </a:pPr>
            <a:r>
              <a:rPr sz="1200" b="1" i="0">
                <a:solidFill>
                  <a:srgbClr val="0F2A4F"/>
                </a:solidFill>
                <a:latin typeface="Calibri"/>
              </a:rPr>
              <a:t>▪ </a:t>
            </a:r>
            <a:r>
              <a:rPr sz="1450" b="0" i="0">
                <a:solidFill>
                  <a:srgbClr val="262B33"/>
                </a:solidFill>
                <a:latin typeface="Calibri"/>
              </a:rPr>
              <a:t>at-risk (1) = Fail + Withdrawn  ·  not-at-risk (0) = Pass + Distinction.</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Gom theo 'có cần can thiệp hay không' — đúng mục tiêu cảnh báo sớm.</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at-risk 52,8% (17.208) vs not-at-risk 47,2% (15.385) — số THẬT, không phải 68/32.</a:t>
            </a:r>
          </a:p>
        </p:txBody>
      </p:sp>
      <p:pic>
        <p:nvPicPr>
          <p:cNvPr id="10" name="Picture 9" descr="target_distribution.png"/>
          <p:cNvPicPr>
            <a:picLocks noChangeAspect="1"/>
          </p:cNvPicPr>
          <p:nvPr/>
        </p:nvPicPr>
        <p:blipFill>
          <a:blip r:embed="rId3"/>
          <a:stretch>
            <a:fillRect/>
          </a:stretch>
        </p:blipFill>
        <p:spPr>
          <a:xfrm>
            <a:off x="7040880" y="1783080"/>
            <a:ext cx="4709160" cy="2290229"/>
          </a:xfrm>
          <a:prstGeom prst="rect">
            <a:avLst/>
          </a:prstGeom>
        </p:spPr>
      </p:pic>
      <p:sp>
        <p:nvSpPr>
          <p:cNvPr id="11" name="TextBox 10"/>
          <p:cNvSpPr txBox="1"/>
          <p:nvPr/>
        </p:nvSpPr>
        <p:spPr>
          <a:xfrm>
            <a:off x="7040880" y="4119029"/>
            <a:ext cx="4709160" cy="365760"/>
          </a:xfrm>
          <a:prstGeom prst="rect">
            <a:avLst/>
          </a:prstGeom>
          <a:noFill/>
        </p:spPr>
        <p:txBody>
          <a:bodyPr wrap="square" lIns="0" tIns="0" rIns="0" bIns="0">
            <a:spAutoFit/>
          </a:bodyPr>
          <a:lstStyle/>
          <a:p>
            <a:pPr algn="ctr"/>
            <a:r>
              <a:rPr sz="950" b="0" i="1">
                <a:solidFill>
                  <a:srgbClr val="5B6370"/>
                </a:solidFill>
                <a:latin typeface="Calibri"/>
              </a:rPr>
              <a:t>Phân phối biến mục tiêu (target_distribution.png)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Sơn</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6</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1 · XÁC ĐỊNH DỮ LIỆU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Ba nhóm dữ liệu đầu vào &amp; vai trò</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Ba nhóm đặc trưng:</a:t>
            </a:r>
          </a:p>
          <a:p>
            <a:pPr lvl="1">
              <a:lnSpc>
                <a:spcPct val="104000"/>
              </a:lnSpc>
              <a:spcAft>
                <a:spcPts val="400"/>
              </a:spcAft>
            </a:pPr>
            <a:r>
              <a:rPr sz="1200" b="0" i="0">
                <a:solidFill>
                  <a:srgbClr val="5B6370"/>
                </a:solidFill>
                <a:latin typeface="Calibri"/>
              </a:rPr>
              <a:t>– </a:t>
            </a:r>
            <a:r>
              <a:rPr sz="1250" b="0" i="0">
                <a:solidFill>
                  <a:srgbClr val="5B6370"/>
                </a:solidFill>
                <a:latin typeface="Calibri"/>
              </a:rPr>
              <a:t>Nhân khẩu học — gender, region, education, imd_band, age_band, disability…</a:t>
            </a:r>
          </a:p>
          <a:p>
            <a:pPr lvl="1">
              <a:lnSpc>
                <a:spcPct val="104000"/>
              </a:lnSpc>
              <a:spcAft>
                <a:spcPts val="400"/>
              </a:spcAft>
            </a:pPr>
            <a:r>
              <a:rPr sz="1200" b="0" i="0">
                <a:solidFill>
                  <a:srgbClr val="5B6370"/>
                </a:solidFill>
                <a:latin typeface="Calibri"/>
              </a:rPr>
              <a:t>– </a:t>
            </a:r>
            <a:r>
              <a:rPr sz="1250" b="0" i="0">
                <a:solidFill>
                  <a:srgbClr val="5B6370"/>
                </a:solidFill>
                <a:latin typeface="Calibri"/>
              </a:rPr>
              <a:t>Tương tác/VLE — clickstream: tổng/loại click, số ngày hoạt động…</a:t>
            </a:r>
          </a:p>
          <a:p>
            <a:pPr lvl="1">
              <a:lnSpc>
                <a:spcPct val="104000"/>
              </a:lnSpc>
              <a:spcAft>
                <a:spcPts val="400"/>
              </a:spcAft>
            </a:pPr>
            <a:r>
              <a:rPr sz="1200" b="0" i="0">
                <a:solidFill>
                  <a:srgbClr val="5B6370"/>
                </a:solidFill>
                <a:latin typeface="Calibri"/>
              </a:rPr>
              <a:t>– </a:t>
            </a:r>
            <a:r>
              <a:rPr sz="1250" b="0" i="0">
                <a:solidFill>
                  <a:srgbClr val="5B6370"/>
                </a:solidFill>
                <a:latin typeface="Calibri"/>
              </a:rPr>
              <a:t>Kết quả đánh giá — điểm bài nộp, số bài nộp, cờ chưa nộp.</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Nhân khẩu = bối cảnh &amp; công bằng; tương tác = tín hiệu hành vi sớm; kết quả = bằng chứng năng lực.</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Bộ đặc trưng chia 3 nhóm rõ ràng → thuận tiện diễn giải SHAP/LIME theo nhóm.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Sơn</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7</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1 · XÁC ĐỊNH DỮ LIỆU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Đơn vị quan sát, phạm vi &amp; dữ liệu loại trừ</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Đơn vị quan sát: 1 dòng = 1 sinh viên–môn–kỳ (code_module × code_presentation × id_student).</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Phạm vi: 32.593 bản ghi · 22 môn–kỳ · 7 bảng · các kỳ 2013–2014 của Open University.</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Loại trừ: bỏ cột định danh; KHÔNG dùng date_unregistration làm đặc trưng; bỏ final_result gốc.</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Tách đơn vị quan sát &amp; loại trừ sớm để tránh rò rỉ và nhân bản dữ liệu.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468880"/>
            <a:ext cx="1463040" cy="82296"/>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058400" cy="640080"/>
          </a:xfrm>
          <a:prstGeom prst="rect">
            <a:avLst/>
          </a:prstGeom>
          <a:noFill/>
        </p:spPr>
        <p:txBody>
          <a:bodyPr wrap="square" lIns="0" tIns="0" rIns="0" bIns="0">
            <a:spAutoFit/>
          </a:bodyPr>
          <a:lstStyle/>
          <a:p>
            <a:r>
              <a:rPr sz="1500" b="1" i="0">
                <a:solidFill>
                  <a:srgbClr val="E8722B"/>
                </a:solidFill>
                <a:latin typeface="Calibri"/>
              </a:rPr>
              <a:t>PHẦN 2</a:t>
            </a:r>
          </a:p>
        </p:txBody>
      </p:sp>
      <p:sp>
        <p:nvSpPr>
          <p:cNvPr id="5" name="TextBox 4"/>
          <p:cNvSpPr txBox="1"/>
          <p:nvPr/>
        </p:nvSpPr>
        <p:spPr>
          <a:xfrm>
            <a:off x="822960" y="2697480"/>
            <a:ext cx="10332720" cy="1828800"/>
          </a:xfrm>
          <a:prstGeom prst="rect">
            <a:avLst/>
          </a:prstGeom>
          <a:noFill/>
        </p:spPr>
        <p:txBody>
          <a:bodyPr wrap="square" lIns="0" tIns="0" rIns="0" bIns="0">
            <a:spAutoFit/>
          </a:bodyPr>
          <a:lstStyle/>
          <a:p>
            <a:r>
              <a:rPr sz="3000" b="1" i="0">
                <a:solidFill>
                  <a:srgbClr val="FFFFFF"/>
                </a:solidFill>
                <a:latin typeface="Calibri"/>
              </a:rPr>
              <a:t>Phương pháp thu thập dữ liệu</a:t>
            </a:r>
          </a:p>
          <a:p>
            <a:pPr>
              <a:spcBef>
                <a:spcPts val="800"/>
              </a:spcBef>
            </a:pPr>
            <a:r>
              <a:rPr sz="1500" b="0" i="1">
                <a:solidFill>
                  <a:srgbClr val="CFDCEC"/>
                </a:solidFill>
                <a:latin typeface="Calibri"/>
              </a:rPr>
              <a:t>Nguồn · Cấu trúc 7 bảng · Liên kết · Ưu/Nhược/Rủi ro</a:t>
            </a:r>
          </a:p>
        </p:txBody>
      </p:sp>
      <p:sp>
        <p:nvSpPr>
          <p:cNvPr id="6" name="TextBox 5"/>
          <p:cNvSpPr txBox="1"/>
          <p:nvPr/>
        </p:nvSpPr>
        <p:spPr>
          <a:xfrm>
            <a:off x="822960" y="5120640"/>
            <a:ext cx="10058400" cy="548640"/>
          </a:xfrm>
          <a:prstGeom prst="rect">
            <a:avLst/>
          </a:prstGeom>
          <a:noFill/>
        </p:spPr>
        <p:txBody>
          <a:bodyPr wrap="square" lIns="0" tIns="0" rIns="0" bIns="0">
            <a:spAutoFit/>
          </a:bodyPr>
          <a:lstStyle/>
          <a:p>
            <a:r>
              <a:rPr sz="1400" b="1" i="0">
                <a:solidFill>
                  <a:srgbClr val="FFFFFF"/>
                </a:solidFill>
                <a:latin typeface="Calibri"/>
              </a:rPr>
              <a:t>Trình bày: Phúc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Phúc</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8</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2 · THU THẬP DỮ LIỆU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Nguồn &amp; loại dữ liệu</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Nguồn: Open University Learning Analytics Dataset (OULAD), Kuzilek và cộng sự (2017).</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Loại: dữ liệu THỨ CẤP công khai, đã ẩn danh tại nguồn, giấy phép CC-BY 4.0.</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Đáp ứng đạo đức bằng trích dẫn đúng quy cách; không xử lý dữ liệu cá nhân nhạy cảm.</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Hợp pháp, tái lập, không cần thu thập sơ cấp — phù hợp môi trường học thuật.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Phúc</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9</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2 · THU THẬP DỮ LIỆU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Cách thu thập &amp; cấu trúc 7 bảng</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Tải 7 CSV → đặt vào data/raw/ → xác minh toàn vẹn bằng MD5 (data_manifest.txt).</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7 bảng: studentInfo, courses, studentRegistration, studentVle (10.655.280 dòng), vle, assessments, studentAssessment.</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Tách bảng nền khỏi bảng nặng → xử lý theo chunk (500k dòng/lần) tránh tràn bộ nhớ.</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Dữ liệu thô được 'đóng băng' + có checksum → mọi thành viên dùng đúng một bản.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Phúc</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10</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2 · THU THẬP DỮ LIỆU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Mối liên hệ giữa các bảng</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Khoá liên kết chính:</a:t>
            </a:r>
          </a:p>
          <a:p>
            <a:pPr lvl="1">
              <a:lnSpc>
                <a:spcPct val="104000"/>
              </a:lnSpc>
              <a:spcAft>
                <a:spcPts val="400"/>
              </a:spcAft>
            </a:pPr>
            <a:r>
              <a:rPr sz="1200" b="0" i="0">
                <a:solidFill>
                  <a:srgbClr val="5B6370"/>
                </a:solidFill>
                <a:latin typeface="Calibri"/>
              </a:rPr>
              <a:t>– </a:t>
            </a:r>
            <a:r>
              <a:rPr sz="1250" b="0" i="0">
                <a:solidFill>
                  <a:srgbClr val="5B6370"/>
                </a:solidFill>
                <a:latin typeface="Calibri"/>
              </a:rPr>
              <a:t>(code_module, code_presentation, id_student) — nối studentInfo ↔ registration ↔ VLE-agg ↔ performance.</a:t>
            </a:r>
          </a:p>
          <a:p>
            <a:pPr lvl="1">
              <a:lnSpc>
                <a:spcPct val="104000"/>
              </a:lnSpc>
              <a:spcAft>
                <a:spcPts val="400"/>
              </a:spcAft>
            </a:pPr>
            <a:r>
              <a:rPr sz="1200" b="0" i="0">
                <a:solidFill>
                  <a:srgbClr val="5B6370"/>
                </a:solidFill>
                <a:latin typeface="Calibri"/>
              </a:rPr>
              <a:t>– </a:t>
            </a:r>
            <a:r>
              <a:rPr sz="1250" b="0" i="0">
                <a:solidFill>
                  <a:srgbClr val="5B6370"/>
                </a:solidFill>
                <a:latin typeface="Calibri"/>
              </a:rPr>
              <a:t>id_site — nối studentVle ↔ vle (lấy loại hoạt động).</a:t>
            </a:r>
          </a:p>
          <a:p>
            <a:pPr lvl="1">
              <a:lnSpc>
                <a:spcPct val="104000"/>
              </a:lnSpc>
              <a:spcAft>
                <a:spcPts val="400"/>
              </a:spcAft>
            </a:pPr>
            <a:r>
              <a:rPr sz="1200" b="0" i="0">
                <a:solidFill>
                  <a:srgbClr val="5B6370"/>
                </a:solidFill>
                <a:latin typeface="Calibri"/>
              </a:rPr>
              <a:t>– </a:t>
            </a:r>
            <a:r>
              <a:rPr sz="1250" b="0" i="0">
                <a:solidFill>
                  <a:srgbClr val="5B6370"/>
                </a:solidFill>
                <a:latin typeface="Calibri"/>
              </a:rPr>
              <a:t>id_assessment — nối studentAssessment ↔ assessments (lấy trọng số/hạn nộp).</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Hiểu khoá là điều kiện để gộp KHÔNG nhân bản (validate='many_to_one').</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Lược đồ quan hệ — nền tảng cho bước gộp ở Phần 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Phúc</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11</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2 · THU THẬP DỮ LIỆU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Đánh giá nguồn: phù hợp · ưu · hạn chế · rủi ro</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2994"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Phù hợp: đủ 3 nhóm đặc trưng + dấu thời gian → cho phép dự đoán time-aware; 32k đủ lớn.</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Ưu điểm: chuẩn benchmark quốc tế, ẩn danh, tái lập, miễn phí.</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Hạn chế: thứ cấp 1 trường; click chỉ là số đếm (không nội dung); kỳ 2013–2014.</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Rủi ro: mất cân bằng nhẹ · thiếu cấu trúc · lệch phải mạnh · đa cộng tuyến · rò rỉ thời gian — đều có phương án ở Phần 3–5.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354"/>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468880"/>
            <a:ext cx="1463040" cy="82296"/>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058400" cy="640080"/>
          </a:xfrm>
          <a:prstGeom prst="rect">
            <a:avLst/>
          </a:prstGeom>
          <a:noFill/>
        </p:spPr>
        <p:txBody>
          <a:bodyPr wrap="square" lIns="0" tIns="0" rIns="0" bIns="0">
            <a:spAutoFit/>
          </a:bodyPr>
          <a:lstStyle/>
          <a:p>
            <a:r>
              <a:rPr sz="1500" b="1" i="0">
                <a:solidFill>
                  <a:srgbClr val="E8722B"/>
                </a:solidFill>
                <a:latin typeface="Calibri"/>
              </a:rPr>
              <a:t>PHẦN 3</a:t>
            </a:r>
          </a:p>
        </p:txBody>
      </p:sp>
      <p:sp>
        <p:nvSpPr>
          <p:cNvPr id="5" name="TextBox 4"/>
          <p:cNvSpPr txBox="1"/>
          <p:nvPr/>
        </p:nvSpPr>
        <p:spPr>
          <a:xfrm>
            <a:off x="822960" y="2697480"/>
            <a:ext cx="10332720" cy="1828800"/>
          </a:xfrm>
          <a:prstGeom prst="rect">
            <a:avLst/>
          </a:prstGeom>
          <a:noFill/>
        </p:spPr>
        <p:txBody>
          <a:bodyPr wrap="square" lIns="0" tIns="0" rIns="0" bIns="0">
            <a:spAutoFit/>
          </a:bodyPr>
          <a:lstStyle/>
          <a:p>
            <a:r>
              <a:rPr sz="3000" b="1" i="0">
                <a:solidFill>
                  <a:srgbClr val="FFFFFF"/>
                </a:solidFill>
                <a:latin typeface="Calibri"/>
              </a:rPr>
              <a:t>Làm sạch dữ liệu</a:t>
            </a:r>
          </a:p>
          <a:p>
            <a:pPr>
              <a:spcBef>
                <a:spcPts val="800"/>
              </a:spcBef>
            </a:pPr>
            <a:r>
              <a:rPr sz="1500" b="0" i="1">
                <a:solidFill>
                  <a:srgbClr val="CFDCEC"/>
                </a:solidFill>
                <a:latin typeface="Calibri"/>
              </a:rPr>
              <a:t>Thiếu · Trùng · Kiểu · Ngoại lai · Gộp bảng</a:t>
            </a:r>
          </a:p>
        </p:txBody>
      </p:sp>
      <p:sp>
        <p:nvSpPr>
          <p:cNvPr id="6" name="TextBox 5"/>
          <p:cNvSpPr txBox="1"/>
          <p:nvPr/>
        </p:nvSpPr>
        <p:spPr>
          <a:xfrm>
            <a:off x="822960" y="5120640"/>
            <a:ext cx="10058400" cy="215444"/>
          </a:xfrm>
          <a:prstGeom prst="rect">
            <a:avLst/>
          </a:prstGeom>
          <a:noFill/>
        </p:spPr>
        <p:txBody>
          <a:bodyPr wrap="square" lIns="0" tIns="0" rIns="0" bIns="0">
            <a:spAutoFit/>
          </a:bodyPr>
          <a:lstStyle/>
          <a:p>
            <a:r>
              <a:rPr sz="1400" b="1" i="0" dirty="0" err="1">
                <a:solidFill>
                  <a:srgbClr val="FFFFFF"/>
                </a:solidFill>
                <a:latin typeface="Calibri"/>
              </a:rPr>
              <a:t>Trình</a:t>
            </a:r>
            <a:r>
              <a:rPr sz="1400" b="1" i="0" dirty="0">
                <a:solidFill>
                  <a:srgbClr val="FFFFFF"/>
                </a:solidFill>
                <a:latin typeface="Calibri"/>
              </a:rPr>
              <a:t> </a:t>
            </a:r>
            <a:r>
              <a:rPr sz="1400" b="1" i="0" dirty="0" err="1">
                <a:solidFill>
                  <a:srgbClr val="FFFFFF"/>
                </a:solidFill>
                <a:latin typeface="Calibri"/>
              </a:rPr>
              <a:t>bày</a:t>
            </a:r>
            <a:r>
              <a:rPr sz="1400" b="1" i="0" dirty="0">
                <a:solidFill>
                  <a:srgbClr val="FFFFFF"/>
                </a:solidFill>
                <a:latin typeface="Calibri"/>
              </a:rPr>
              <a:t>: </a:t>
            </a:r>
            <a:r>
              <a:rPr lang="vi-VN" sz="1400" b="1" i="0" dirty="0">
                <a:solidFill>
                  <a:srgbClr val="FFFFFF"/>
                </a:solidFill>
                <a:latin typeface="Calibri"/>
              </a:rPr>
              <a:t>An</a:t>
            </a:r>
            <a:endParaRPr sz="1400" b="1" i="0" dirty="0">
              <a:solidFill>
                <a:srgbClr val="FFFFFF"/>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An</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12</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3 · LÀM SẠCH</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Kiểm tra tổng quan dữ liệu thô</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Sau gộp: 32.593 dòng × 33 cột; rà kiểu dữ liệu &amp; cấu trúc.</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Bước 'khám tổng quát' trước khi can thiệp — biết quy mô &amp; loại biến.</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Bảng tóm tắt số dòng – cột – kiểu, làm mốc cho các bước làm sạch.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An</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13</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3 · LÀM SẠCH</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Dữ liệu thiếu: phát hiện &amp; phương án</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Chỉ 3 cột thiếu; điểm/số bài thiếu do chưa nộp → điền 0 + cờ not_submitted.</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Mỗi loại thiếu (MCAR/MAR/MNAR) xử lý khác nhau; thiếu do 'chưa nộp' là TÍN HIỆU, không phải nhiễu.</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Sau xử lý: 0 giá trị khuyết ở mọi cột đặc trưng.</a:t>
            </a:r>
          </a:p>
        </p:txBody>
      </p:sp>
      <p:pic>
        <p:nvPicPr>
          <p:cNvPr id="10" name="Picture 9" descr="quality_missingness.png"/>
          <p:cNvPicPr>
            <a:picLocks noChangeAspect="1"/>
          </p:cNvPicPr>
          <p:nvPr/>
        </p:nvPicPr>
        <p:blipFill>
          <a:blip r:embed="rId3"/>
          <a:stretch>
            <a:fillRect/>
          </a:stretch>
        </p:blipFill>
        <p:spPr>
          <a:xfrm>
            <a:off x="7040880" y="1783080"/>
            <a:ext cx="4709160" cy="2372493"/>
          </a:xfrm>
          <a:prstGeom prst="rect">
            <a:avLst/>
          </a:prstGeom>
        </p:spPr>
      </p:pic>
      <p:sp>
        <p:nvSpPr>
          <p:cNvPr id="11" name="TextBox 10"/>
          <p:cNvSpPr txBox="1"/>
          <p:nvPr/>
        </p:nvSpPr>
        <p:spPr>
          <a:xfrm>
            <a:off x="7040880" y="4201293"/>
            <a:ext cx="4709160" cy="365760"/>
          </a:xfrm>
          <a:prstGeom prst="rect">
            <a:avLst/>
          </a:prstGeom>
          <a:noFill/>
        </p:spPr>
        <p:txBody>
          <a:bodyPr wrap="square" lIns="0" tIns="0" rIns="0" bIns="0">
            <a:spAutoFit/>
          </a:bodyPr>
          <a:lstStyle/>
          <a:p>
            <a:pPr algn="ctr"/>
            <a:r>
              <a:rPr sz="950" b="0" i="1">
                <a:solidFill>
                  <a:srgbClr val="5B6370"/>
                </a:solidFill>
                <a:latin typeface="Calibri"/>
              </a:rPr>
              <a:t>quality_missingness.png</a:t>
            </a:r>
          </a:p>
        </p:txBody>
      </p:sp>
      <p:graphicFrame>
        <p:nvGraphicFramePr>
          <p:cNvPr id="12" name="Table 11"/>
          <p:cNvGraphicFramePr>
            <a:graphicFrameLocks noGrp="1"/>
          </p:cNvGraphicFramePr>
          <p:nvPr/>
        </p:nvGraphicFramePr>
        <p:xfrm>
          <a:off x="548640" y="4160520"/>
          <a:ext cx="6309360" cy="131673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29184">
                <a:tc>
                  <a:txBody>
                    <a:bodyPr/>
                    <a:lstStyle/>
                    <a:p>
                      <a:r>
                        <a:rPr sz="1100" b="1" i="0">
                          <a:solidFill>
                            <a:srgbClr val="FFFFFF"/>
                          </a:solidFill>
                          <a:latin typeface="Calibri"/>
                        </a:rPr>
                        <a:t>Cột</a:t>
                      </a:r>
                    </a:p>
                  </a:txBody>
                  <a:tcPr marT="25400" marB="25400" anchor="ctr">
                    <a:solidFill>
                      <a:srgbClr val="0F2A4F"/>
                    </a:solidFill>
                  </a:tcPr>
                </a:tc>
                <a:tc>
                  <a:txBody>
                    <a:bodyPr/>
                    <a:lstStyle/>
                    <a:p>
                      <a:r>
                        <a:rPr sz="1100" b="1" i="0">
                          <a:solidFill>
                            <a:srgbClr val="FFFFFF"/>
                          </a:solidFill>
                          <a:latin typeface="Calibri"/>
                        </a:rPr>
                        <a:t>Số thiếu</a:t>
                      </a:r>
                    </a:p>
                  </a:txBody>
                  <a:tcPr marT="25400" marB="25400" anchor="ctr">
                    <a:solidFill>
                      <a:srgbClr val="0F2A4F"/>
                    </a:solidFill>
                  </a:tcPr>
                </a:tc>
                <a:tc>
                  <a:txBody>
                    <a:bodyPr/>
                    <a:lstStyle/>
                    <a:p>
                      <a:r>
                        <a:rPr sz="1100" b="1" i="0">
                          <a:solidFill>
                            <a:srgbClr val="FFFFFF"/>
                          </a:solidFill>
                          <a:latin typeface="Calibri"/>
                        </a:rPr>
                        <a:t>Xử lý</a:t>
                      </a:r>
                    </a:p>
                  </a:txBody>
                  <a:tcPr marT="25400" marB="25400" anchor="ctr">
                    <a:solidFill>
                      <a:srgbClr val="0F2A4F"/>
                    </a:solidFill>
                  </a:tcPr>
                </a:tc>
                <a:extLst>
                  <a:ext uri="{0D108BD9-81ED-4DB2-BD59-A6C34878D82A}">
                    <a16:rowId xmlns:a16="http://schemas.microsoft.com/office/drawing/2014/main" val="10000"/>
                  </a:ext>
                </a:extLst>
              </a:tr>
              <a:tr h="329184">
                <a:tc>
                  <a:txBody>
                    <a:bodyPr/>
                    <a:lstStyle/>
                    <a:p>
                      <a:r>
                        <a:rPr sz="1100" b="1" i="0">
                          <a:solidFill>
                            <a:srgbClr val="0F2A4F"/>
                          </a:solidFill>
                          <a:latin typeface="Calibri"/>
                        </a:rPr>
                        <a:t>date_unregistration</a:t>
                      </a:r>
                    </a:p>
                  </a:txBody>
                  <a:tcPr marT="12700" marB="12700" anchor="ctr">
                    <a:solidFill>
                      <a:srgbClr val="FFFFFF"/>
                    </a:solidFill>
                  </a:tcPr>
                </a:tc>
                <a:tc>
                  <a:txBody>
                    <a:bodyPr/>
                    <a:lstStyle/>
                    <a:p>
                      <a:r>
                        <a:rPr sz="1100" b="0" i="0">
                          <a:solidFill>
                            <a:srgbClr val="262B33"/>
                          </a:solidFill>
                          <a:latin typeface="Calibri"/>
                        </a:rPr>
                        <a:t>22.521</a:t>
                      </a:r>
                    </a:p>
                  </a:txBody>
                  <a:tcPr marT="12700" marB="12700" anchor="ctr">
                    <a:solidFill>
                      <a:srgbClr val="FFFFFF"/>
                    </a:solidFill>
                  </a:tcPr>
                </a:tc>
                <a:tc>
                  <a:txBody>
                    <a:bodyPr/>
                    <a:lstStyle/>
                    <a:p>
                      <a:r>
                        <a:rPr sz="1100" b="0" i="0">
                          <a:solidFill>
                            <a:srgbClr val="262B33"/>
                          </a:solidFill>
                          <a:latin typeface="Calibri"/>
                        </a:rPr>
                        <a:t>Bỏ (thiếu cấu trúc)</a:t>
                      </a:r>
                    </a:p>
                  </a:txBody>
                  <a:tcPr marT="12700" marB="12700" anchor="ctr">
                    <a:solidFill>
                      <a:srgbClr val="FFFFFF"/>
                    </a:solidFill>
                  </a:tcPr>
                </a:tc>
                <a:extLst>
                  <a:ext uri="{0D108BD9-81ED-4DB2-BD59-A6C34878D82A}">
                    <a16:rowId xmlns:a16="http://schemas.microsoft.com/office/drawing/2014/main" val="10001"/>
                  </a:ext>
                </a:extLst>
              </a:tr>
              <a:tr h="329184">
                <a:tc>
                  <a:txBody>
                    <a:bodyPr/>
                    <a:lstStyle/>
                    <a:p>
                      <a:r>
                        <a:rPr sz="1100" b="1" i="0">
                          <a:solidFill>
                            <a:srgbClr val="0F2A4F"/>
                          </a:solidFill>
                          <a:latin typeface="Calibri"/>
                        </a:rPr>
                        <a:t>imd_band</a:t>
                      </a:r>
                    </a:p>
                  </a:txBody>
                  <a:tcPr marT="12700" marB="12700" anchor="ctr">
                    <a:solidFill>
                      <a:srgbClr val="F2F4F7"/>
                    </a:solidFill>
                  </a:tcPr>
                </a:tc>
                <a:tc>
                  <a:txBody>
                    <a:bodyPr/>
                    <a:lstStyle/>
                    <a:p>
                      <a:r>
                        <a:rPr sz="1100" b="0" i="0">
                          <a:solidFill>
                            <a:srgbClr val="262B33"/>
                          </a:solidFill>
                          <a:latin typeface="Calibri"/>
                        </a:rPr>
                        <a:t>1.111</a:t>
                      </a:r>
                    </a:p>
                  </a:txBody>
                  <a:tcPr marT="12700" marB="12700" anchor="ctr">
                    <a:solidFill>
                      <a:srgbClr val="F2F4F7"/>
                    </a:solidFill>
                  </a:tcPr>
                </a:tc>
                <a:tc>
                  <a:txBody>
                    <a:bodyPr/>
                    <a:lstStyle/>
                    <a:p>
                      <a:r>
                        <a:rPr sz="1100" b="0" i="0">
                          <a:solidFill>
                            <a:srgbClr val="262B33"/>
                          </a:solidFill>
                          <a:latin typeface="Calibri"/>
                        </a:rPr>
                        <a:t>Điền 'Unknown'</a:t>
                      </a:r>
                    </a:p>
                  </a:txBody>
                  <a:tcPr marT="12700" marB="12700" anchor="ctr">
                    <a:solidFill>
                      <a:srgbClr val="F2F4F7"/>
                    </a:solidFill>
                  </a:tcPr>
                </a:tc>
                <a:extLst>
                  <a:ext uri="{0D108BD9-81ED-4DB2-BD59-A6C34878D82A}">
                    <a16:rowId xmlns:a16="http://schemas.microsoft.com/office/drawing/2014/main" val="10002"/>
                  </a:ext>
                </a:extLst>
              </a:tr>
              <a:tr h="329184">
                <a:tc>
                  <a:txBody>
                    <a:bodyPr/>
                    <a:lstStyle/>
                    <a:p>
                      <a:r>
                        <a:rPr sz="1100" b="1" i="0">
                          <a:solidFill>
                            <a:srgbClr val="0F2A4F"/>
                          </a:solidFill>
                          <a:latin typeface="Calibri"/>
                        </a:rPr>
                        <a:t>date_registration</a:t>
                      </a:r>
                    </a:p>
                  </a:txBody>
                  <a:tcPr marT="12700" marB="12700" anchor="ctr">
                    <a:solidFill>
                      <a:srgbClr val="FFFFFF"/>
                    </a:solidFill>
                  </a:tcPr>
                </a:tc>
                <a:tc>
                  <a:txBody>
                    <a:bodyPr/>
                    <a:lstStyle/>
                    <a:p>
                      <a:r>
                        <a:rPr sz="1100" b="0" i="0">
                          <a:solidFill>
                            <a:srgbClr val="262B33"/>
                          </a:solidFill>
                          <a:latin typeface="Calibri"/>
                        </a:rPr>
                        <a:t>45</a:t>
                      </a:r>
                    </a:p>
                  </a:txBody>
                  <a:tcPr marT="12700" marB="12700" anchor="ctr">
                    <a:solidFill>
                      <a:srgbClr val="FFFFFF"/>
                    </a:solidFill>
                  </a:tcPr>
                </a:tc>
                <a:tc>
                  <a:txBody>
                    <a:bodyPr/>
                    <a:lstStyle/>
                    <a:p>
                      <a:r>
                        <a:rPr sz="1100" b="0" i="0">
                          <a:solidFill>
                            <a:srgbClr val="262B33"/>
                          </a:solidFill>
                          <a:latin typeface="Calibri"/>
                        </a:rPr>
                        <a:t>Trung vị train</a:t>
                      </a:r>
                    </a:p>
                  </a:txBody>
                  <a:tcPr marT="12700" marB="12700"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2769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An</a:t>
            </a:r>
          </a:p>
          <a:p>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14</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3 · LÀM SẠCH</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Trùng lặp &amp; chuẩn hoá định dạng</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Trùng: kiểm tra theo khoá sinh viên–môn–kỳ → drop_duplicates → 0 khoá trùng.</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Kiểu dữ liệu: danh mục numeric / ordinal / nominal / binary / indicator (VARIABLE_TYPES).</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Chuẩn hoá: strip text; đối chiếu từ điển (region 13, education 5, imd_band 10, age_band 3, gender/disability 2).</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Nhận diện đúng kiểu là điều kiện mã hoá đúng ở Phần 4; chuẩn hoá để 'Y ' ≠ 'Y' không xảy ra.</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Bộ dữ liệu nhất quán về định dạng &amp; kiểu.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An</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15</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3 · LÀM SẠCH</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Giá trị bất thường &amp; ngoại lai: phát hiện</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Dò bất thường logic (điểm ∈ [0–100]) + dò ngoại lai bằng quy tắc IQR (log_outliers).</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Clickstream lệch phải rất mạnh: clicks_resource skew ≈ 35, kurtosis ≈ 2.125; max_clicks_single_day max = 6.988.</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Bảng 7 biến nghi ngoại lai — bàn giao Bình → Đức (handoff_outliers_for_Duc.csv).</a:t>
            </a:r>
          </a:p>
        </p:txBody>
      </p:sp>
      <p:pic>
        <p:nvPicPr>
          <p:cNvPr id="10" name="Picture 9" descr="univariate_boxplots.png"/>
          <p:cNvPicPr>
            <a:picLocks noChangeAspect="1"/>
          </p:cNvPicPr>
          <p:nvPr/>
        </p:nvPicPr>
        <p:blipFill>
          <a:blip r:embed="rId3"/>
          <a:stretch>
            <a:fillRect/>
          </a:stretch>
        </p:blipFill>
        <p:spPr>
          <a:xfrm>
            <a:off x="7040880" y="1783080"/>
            <a:ext cx="4709160" cy="2093174"/>
          </a:xfrm>
          <a:prstGeom prst="rect">
            <a:avLst/>
          </a:prstGeom>
        </p:spPr>
      </p:pic>
      <p:sp>
        <p:nvSpPr>
          <p:cNvPr id="11" name="TextBox 10"/>
          <p:cNvSpPr txBox="1"/>
          <p:nvPr/>
        </p:nvSpPr>
        <p:spPr>
          <a:xfrm>
            <a:off x="7040880" y="3921974"/>
            <a:ext cx="4709160" cy="365760"/>
          </a:xfrm>
          <a:prstGeom prst="rect">
            <a:avLst/>
          </a:prstGeom>
          <a:noFill/>
        </p:spPr>
        <p:txBody>
          <a:bodyPr wrap="square" lIns="0" tIns="0" rIns="0" bIns="0">
            <a:spAutoFit/>
          </a:bodyPr>
          <a:lstStyle/>
          <a:p>
            <a:pPr algn="ctr"/>
            <a:r>
              <a:rPr sz="950" b="0" i="1">
                <a:solidFill>
                  <a:srgbClr val="5B6370"/>
                </a:solidFill>
                <a:latin typeface="Calibri"/>
              </a:rPr>
              <a:t>univariate_boxplots.png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Bình</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16</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3 · LÀM SẠCH</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Xử lý bất thường &amp; ngoại lai</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Chiến lược theo biến: log1p cho 12 biến click lệch mạnh · winsorize (cắt 1% hai đầu) cho biến lệch vừa · none cho biến trong phạm vi tự nhiên.</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KHÔNG loại bỏ dòng nào: giá trị cực trị của sinh viên at-risk (vd học lại nhiều lần) là tín hiệu cần giữ.</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Mọi biến số 'thuần' hơn về phân phối mà vẫn giữ nguyên 32.593 dòng.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An</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17</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3 · LÀM SẠCH</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Gộp bảng &amp; bộ dữ liệu sạch cuối cùng</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Gộp: studentInfo (nền) ← left join ← registration ← engagement ← performance ← courses.</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Nhật ký trước/sau chứng minh không nhân bản, không thất thoát (validate='many_to_one').</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master_raw = 32.593 × 33 — bộ dữ liệu sạch, một dòng một sinh viên–môn–kỳ.</a:t>
            </a:r>
          </a:p>
        </p:txBody>
      </p:sp>
      <p:graphicFrame>
        <p:nvGraphicFramePr>
          <p:cNvPr id="10" name="Table 9"/>
          <p:cNvGraphicFramePr>
            <a:graphicFrameLocks noGrp="1"/>
          </p:cNvGraphicFramePr>
          <p:nvPr/>
        </p:nvGraphicFramePr>
        <p:xfrm>
          <a:off x="548640" y="4206240"/>
          <a:ext cx="8229600" cy="1645919"/>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29183">
                <a:tc>
                  <a:txBody>
                    <a:bodyPr/>
                    <a:lstStyle/>
                    <a:p>
                      <a:r>
                        <a:rPr sz="1200" b="1" i="0">
                          <a:solidFill>
                            <a:srgbClr val="FFFFFF"/>
                          </a:solidFill>
                          <a:latin typeface="Calibri"/>
                        </a:rPr>
                        <a:t>Bước</a:t>
                      </a:r>
                    </a:p>
                  </a:txBody>
                  <a:tcPr marT="25400" marB="25400" anchor="ctr">
                    <a:solidFill>
                      <a:srgbClr val="0F2A4F"/>
                    </a:solidFill>
                  </a:tcPr>
                </a:tc>
                <a:tc>
                  <a:txBody>
                    <a:bodyPr/>
                    <a:lstStyle/>
                    <a:p>
                      <a:r>
                        <a:rPr sz="1200" b="1" i="0">
                          <a:solidFill>
                            <a:srgbClr val="FFFFFF"/>
                          </a:solidFill>
                          <a:latin typeface="Calibri"/>
                        </a:rPr>
                        <a:t>rows_before</a:t>
                      </a:r>
                    </a:p>
                  </a:txBody>
                  <a:tcPr marT="25400" marB="25400" anchor="ctr">
                    <a:solidFill>
                      <a:srgbClr val="0F2A4F"/>
                    </a:solidFill>
                  </a:tcPr>
                </a:tc>
                <a:tc>
                  <a:txBody>
                    <a:bodyPr/>
                    <a:lstStyle/>
                    <a:p>
                      <a:r>
                        <a:rPr sz="1200" b="1" i="0">
                          <a:solidFill>
                            <a:srgbClr val="FFFFFF"/>
                          </a:solidFill>
                          <a:latin typeface="Calibri"/>
                        </a:rPr>
                        <a:t>rows_after</a:t>
                      </a:r>
                    </a:p>
                  </a:txBody>
                  <a:tcPr marT="25400" marB="25400" anchor="ctr">
                    <a:solidFill>
                      <a:srgbClr val="0F2A4F"/>
                    </a:solidFill>
                  </a:tcPr>
                </a:tc>
                <a:extLst>
                  <a:ext uri="{0D108BD9-81ED-4DB2-BD59-A6C34878D82A}">
                    <a16:rowId xmlns:a16="http://schemas.microsoft.com/office/drawing/2014/main" val="10000"/>
                  </a:ext>
                </a:extLst>
              </a:tr>
              <a:tr h="329183">
                <a:tc>
                  <a:txBody>
                    <a:bodyPr/>
                    <a:lstStyle/>
                    <a:p>
                      <a:r>
                        <a:rPr sz="1200" b="1" i="0">
                          <a:solidFill>
                            <a:srgbClr val="0F2A4F"/>
                          </a:solidFill>
                          <a:latin typeface="Calibri"/>
                        </a:rPr>
                        <a:t>studentInfo (nền)</a:t>
                      </a:r>
                    </a:p>
                  </a:txBody>
                  <a:tcPr marT="12700" marB="12700" anchor="ctr">
                    <a:solidFill>
                      <a:srgbClr val="FFFFFF"/>
                    </a:solidFill>
                  </a:tcPr>
                </a:tc>
                <a:tc>
                  <a:txBody>
                    <a:bodyPr/>
                    <a:lstStyle/>
                    <a:p>
                      <a:r>
                        <a:rPr sz="1200" b="0" i="0">
                          <a:solidFill>
                            <a:srgbClr val="262B33"/>
                          </a:solidFill>
                          <a:latin typeface="Calibri"/>
                        </a:rPr>
                        <a:t>32.593</a:t>
                      </a:r>
                    </a:p>
                  </a:txBody>
                  <a:tcPr marT="12700" marB="12700" anchor="ctr">
                    <a:solidFill>
                      <a:srgbClr val="FFFFFF"/>
                    </a:solidFill>
                  </a:tcPr>
                </a:tc>
                <a:tc>
                  <a:txBody>
                    <a:bodyPr/>
                    <a:lstStyle/>
                    <a:p>
                      <a:r>
                        <a:rPr sz="1200" b="0" i="0">
                          <a:solidFill>
                            <a:srgbClr val="262B33"/>
                          </a:solidFill>
                          <a:latin typeface="Calibri"/>
                        </a:rPr>
                        <a:t>32.593</a:t>
                      </a:r>
                    </a:p>
                  </a:txBody>
                  <a:tcPr marT="12700" marB="12700" anchor="ctr">
                    <a:solidFill>
                      <a:srgbClr val="FFFFFF"/>
                    </a:solidFill>
                  </a:tcPr>
                </a:tc>
                <a:extLst>
                  <a:ext uri="{0D108BD9-81ED-4DB2-BD59-A6C34878D82A}">
                    <a16:rowId xmlns:a16="http://schemas.microsoft.com/office/drawing/2014/main" val="10001"/>
                  </a:ext>
                </a:extLst>
              </a:tr>
              <a:tr h="329183">
                <a:tc>
                  <a:txBody>
                    <a:bodyPr/>
                    <a:lstStyle/>
                    <a:p>
                      <a:r>
                        <a:rPr sz="1200" b="1" i="0">
                          <a:solidFill>
                            <a:srgbClr val="0F2A4F"/>
                          </a:solidFill>
                          <a:latin typeface="Calibri"/>
                        </a:rPr>
                        <a:t>+ registration</a:t>
                      </a:r>
                    </a:p>
                  </a:txBody>
                  <a:tcPr marT="12700" marB="12700" anchor="ctr">
                    <a:solidFill>
                      <a:srgbClr val="F2F4F7"/>
                    </a:solidFill>
                  </a:tcPr>
                </a:tc>
                <a:tc>
                  <a:txBody>
                    <a:bodyPr/>
                    <a:lstStyle/>
                    <a:p>
                      <a:r>
                        <a:rPr sz="1200" b="0" i="0">
                          <a:solidFill>
                            <a:srgbClr val="262B33"/>
                          </a:solidFill>
                          <a:latin typeface="Calibri"/>
                        </a:rPr>
                        <a:t>32.593</a:t>
                      </a:r>
                    </a:p>
                  </a:txBody>
                  <a:tcPr marT="12700" marB="12700" anchor="ctr">
                    <a:solidFill>
                      <a:srgbClr val="F2F4F7"/>
                    </a:solidFill>
                  </a:tcPr>
                </a:tc>
                <a:tc>
                  <a:txBody>
                    <a:bodyPr/>
                    <a:lstStyle/>
                    <a:p>
                      <a:r>
                        <a:rPr sz="1200" b="0" i="0">
                          <a:solidFill>
                            <a:srgbClr val="262B33"/>
                          </a:solidFill>
                          <a:latin typeface="Calibri"/>
                        </a:rPr>
                        <a:t>32.593</a:t>
                      </a:r>
                    </a:p>
                  </a:txBody>
                  <a:tcPr marT="12700" marB="12700" anchor="ctr">
                    <a:solidFill>
                      <a:srgbClr val="F2F4F7"/>
                    </a:solidFill>
                  </a:tcPr>
                </a:tc>
                <a:extLst>
                  <a:ext uri="{0D108BD9-81ED-4DB2-BD59-A6C34878D82A}">
                    <a16:rowId xmlns:a16="http://schemas.microsoft.com/office/drawing/2014/main" val="10002"/>
                  </a:ext>
                </a:extLst>
              </a:tr>
              <a:tr h="329183">
                <a:tc>
                  <a:txBody>
                    <a:bodyPr/>
                    <a:lstStyle/>
                    <a:p>
                      <a:r>
                        <a:rPr sz="1200" b="1" i="0">
                          <a:solidFill>
                            <a:srgbClr val="0F2A4F"/>
                          </a:solidFill>
                          <a:latin typeface="Calibri"/>
                        </a:rPr>
                        <a:t>+ engagement</a:t>
                      </a:r>
                    </a:p>
                  </a:txBody>
                  <a:tcPr marT="12700" marB="12700" anchor="ctr">
                    <a:solidFill>
                      <a:srgbClr val="FFFFFF"/>
                    </a:solidFill>
                  </a:tcPr>
                </a:tc>
                <a:tc>
                  <a:txBody>
                    <a:bodyPr/>
                    <a:lstStyle/>
                    <a:p>
                      <a:r>
                        <a:rPr sz="1200" b="0" i="0">
                          <a:solidFill>
                            <a:srgbClr val="262B33"/>
                          </a:solidFill>
                          <a:latin typeface="Calibri"/>
                        </a:rPr>
                        <a:t>32.593</a:t>
                      </a:r>
                    </a:p>
                  </a:txBody>
                  <a:tcPr marT="12700" marB="12700" anchor="ctr">
                    <a:solidFill>
                      <a:srgbClr val="FFFFFF"/>
                    </a:solidFill>
                  </a:tcPr>
                </a:tc>
                <a:tc>
                  <a:txBody>
                    <a:bodyPr/>
                    <a:lstStyle/>
                    <a:p>
                      <a:r>
                        <a:rPr sz="1200" b="0" i="0">
                          <a:solidFill>
                            <a:srgbClr val="262B33"/>
                          </a:solidFill>
                          <a:latin typeface="Calibri"/>
                        </a:rPr>
                        <a:t>32.593</a:t>
                      </a:r>
                    </a:p>
                  </a:txBody>
                  <a:tcPr marT="12700" marB="12700" anchor="ctr">
                    <a:solidFill>
                      <a:srgbClr val="FFFFFF"/>
                    </a:solidFill>
                  </a:tcPr>
                </a:tc>
                <a:extLst>
                  <a:ext uri="{0D108BD9-81ED-4DB2-BD59-A6C34878D82A}">
                    <a16:rowId xmlns:a16="http://schemas.microsoft.com/office/drawing/2014/main" val="10003"/>
                  </a:ext>
                </a:extLst>
              </a:tr>
              <a:tr h="329187">
                <a:tc>
                  <a:txBody>
                    <a:bodyPr/>
                    <a:lstStyle/>
                    <a:p>
                      <a:r>
                        <a:rPr sz="1200" b="1" i="0">
                          <a:solidFill>
                            <a:srgbClr val="0F2A4F"/>
                          </a:solidFill>
                          <a:latin typeface="Calibri"/>
                        </a:rPr>
                        <a:t>+ performance</a:t>
                      </a:r>
                    </a:p>
                  </a:txBody>
                  <a:tcPr marT="12700" marB="12700" anchor="ctr">
                    <a:solidFill>
                      <a:srgbClr val="F2F4F7"/>
                    </a:solidFill>
                  </a:tcPr>
                </a:tc>
                <a:tc>
                  <a:txBody>
                    <a:bodyPr/>
                    <a:lstStyle/>
                    <a:p>
                      <a:r>
                        <a:rPr sz="1200" b="0" i="0">
                          <a:solidFill>
                            <a:srgbClr val="262B33"/>
                          </a:solidFill>
                          <a:latin typeface="Calibri"/>
                        </a:rPr>
                        <a:t>32.593</a:t>
                      </a:r>
                    </a:p>
                  </a:txBody>
                  <a:tcPr marT="12700" marB="12700" anchor="ctr">
                    <a:solidFill>
                      <a:srgbClr val="F2F4F7"/>
                    </a:solidFill>
                  </a:tcPr>
                </a:tc>
                <a:tc>
                  <a:txBody>
                    <a:bodyPr/>
                    <a:lstStyle/>
                    <a:p>
                      <a:r>
                        <a:rPr sz="1200" b="0" i="0">
                          <a:solidFill>
                            <a:srgbClr val="262B33"/>
                          </a:solidFill>
                          <a:latin typeface="Calibri"/>
                        </a:rPr>
                        <a:t>32.593</a:t>
                      </a:r>
                    </a:p>
                  </a:txBody>
                  <a:tcPr marT="12700" marB="12700"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468880"/>
            <a:ext cx="1463040" cy="82296"/>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058400" cy="640080"/>
          </a:xfrm>
          <a:prstGeom prst="rect">
            <a:avLst/>
          </a:prstGeom>
          <a:noFill/>
        </p:spPr>
        <p:txBody>
          <a:bodyPr wrap="square" lIns="0" tIns="0" rIns="0" bIns="0">
            <a:spAutoFit/>
          </a:bodyPr>
          <a:lstStyle/>
          <a:p>
            <a:r>
              <a:rPr sz="1500" b="1" i="0">
                <a:solidFill>
                  <a:srgbClr val="E8722B"/>
                </a:solidFill>
                <a:latin typeface="Calibri"/>
              </a:rPr>
              <a:t>KHỐI EDA</a:t>
            </a:r>
          </a:p>
        </p:txBody>
      </p:sp>
      <p:sp>
        <p:nvSpPr>
          <p:cNvPr id="5" name="TextBox 4"/>
          <p:cNvSpPr txBox="1"/>
          <p:nvPr/>
        </p:nvSpPr>
        <p:spPr>
          <a:xfrm>
            <a:off x="822960" y="2697480"/>
            <a:ext cx="10332720" cy="1828800"/>
          </a:xfrm>
          <a:prstGeom prst="rect">
            <a:avLst/>
          </a:prstGeom>
          <a:noFill/>
        </p:spPr>
        <p:txBody>
          <a:bodyPr wrap="square" lIns="0" tIns="0" rIns="0" bIns="0">
            <a:spAutoFit/>
          </a:bodyPr>
          <a:lstStyle/>
          <a:p>
            <a:r>
              <a:rPr sz="3000" b="1" i="0">
                <a:solidFill>
                  <a:srgbClr val="FFFFFF"/>
                </a:solidFill>
                <a:latin typeface="Calibri"/>
              </a:rPr>
              <a:t>Phân tích khám phá dữ liệu</a:t>
            </a:r>
          </a:p>
          <a:p>
            <a:pPr>
              <a:spcBef>
                <a:spcPts val="800"/>
              </a:spcBef>
            </a:pPr>
            <a:r>
              <a:rPr sz="1500" b="0" i="1">
                <a:solidFill>
                  <a:srgbClr val="CFDCEC"/>
                </a:solidFill>
                <a:latin typeface="Calibri"/>
              </a:rPr>
              <a:t>Hiểu dữ liệu · Kiểm tra chất lượng · Tìm tín hiệu phân biệt</a:t>
            </a:r>
          </a:p>
        </p:txBody>
      </p:sp>
      <p:sp>
        <p:nvSpPr>
          <p:cNvPr id="6" name="TextBox 5"/>
          <p:cNvSpPr txBox="1"/>
          <p:nvPr/>
        </p:nvSpPr>
        <p:spPr>
          <a:xfrm>
            <a:off x="822960" y="5120640"/>
            <a:ext cx="10058400" cy="215444"/>
          </a:xfrm>
          <a:prstGeom prst="rect">
            <a:avLst/>
          </a:prstGeom>
          <a:noFill/>
        </p:spPr>
        <p:txBody>
          <a:bodyPr wrap="square" lIns="0" tIns="0" rIns="0" bIns="0">
            <a:spAutoFit/>
          </a:bodyPr>
          <a:lstStyle/>
          <a:p>
            <a:r>
              <a:rPr sz="1400" b="1" i="0" dirty="0" err="1">
                <a:solidFill>
                  <a:srgbClr val="FFFFFF"/>
                </a:solidFill>
                <a:latin typeface="Calibri"/>
              </a:rPr>
              <a:t>Trình</a:t>
            </a:r>
            <a:r>
              <a:rPr sz="1400" b="1" i="0" dirty="0">
                <a:solidFill>
                  <a:srgbClr val="FFFFFF"/>
                </a:solidFill>
                <a:latin typeface="Calibri"/>
              </a:rPr>
              <a:t> </a:t>
            </a:r>
            <a:r>
              <a:rPr sz="1400" b="1" i="0" dirty="0" err="1">
                <a:solidFill>
                  <a:srgbClr val="FFFFFF"/>
                </a:solidFill>
                <a:latin typeface="Calibri"/>
              </a:rPr>
              <a:t>bày</a:t>
            </a:r>
            <a:r>
              <a:rPr sz="1400" b="1" i="0" dirty="0">
                <a:solidFill>
                  <a:srgbClr val="FFFFFF"/>
                </a:solidFill>
                <a:latin typeface="Calibri"/>
              </a:rPr>
              <a:t>: </a:t>
            </a:r>
            <a:r>
              <a:rPr lang="vi-VN" sz="1400" b="1" dirty="0">
                <a:solidFill>
                  <a:srgbClr val="FFFFFF"/>
                </a:solidFill>
                <a:latin typeface="Calibri"/>
              </a:rPr>
              <a:t>ĐỨC</a:t>
            </a:r>
            <a:endParaRPr sz="1400" b="1" i="0" dirty="0">
              <a:solidFill>
                <a:srgbClr val="FFFFFF"/>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Đức</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18</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EDA · MỤC TIÊU</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Mục tiêu EDA</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200" b="1" i="0">
                <a:solidFill>
                  <a:srgbClr val="0F2A4F"/>
                </a:solidFill>
                <a:latin typeface="Calibri"/>
              </a:rPr>
              <a:t>▪ </a:t>
            </a:r>
            <a:r>
              <a:rPr sz="1450" b="0" i="0">
                <a:solidFill>
                  <a:srgbClr val="262B33"/>
                </a:solidFill>
                <a:latin typeface="Calibri"/>
              </a:rPr>
              <a:t>Hiểu dữ liệu: 32.593 sinh viên, 33 biến (nhân khẩu học · tương tác · điểm số).</a:t>
            </a:r>
          </a:p>
          <a:p>
            <a:pPr>
              <a:lnSpc>
                <a:spcPct val="104000"/>
              </a:lnSpc>
              <a:spcAft>
                <a:spcPts val="700"/>
              </a:spcAft>
            </a:pPr>
            <a:r>
              <a:rPr sz="1200" b="1" i="0">
                <a:solidFill>
                  <a:srgbClr val="0F2A4F"/>
                </a:solidFill>
                <a:latin typeface="Calibri"/>
              </a:rPr>
              <a:t>▪ </a:t>
            </a:r>
            <a:r>
              <a:rPr sz="1450" b="0" i="0">
                <a:solidFill>
                  <a:srgbClr val="262B33"/>
                </a:solidFill>
                <a:latin typeface="Calibri"/>
              </a:rPr>
              <a:t>Kiểm tra chất lượng: thiếu dữ liệu, kiểu dữ liệu, ngoại lai.</a:t>
            </a:r>
          </a:p>
          <a:p>
            <a:pPr>
              <a:lnSpc>
                <a:spcPct val="104000"/>
              </a:lnSpc>
              <a:spcAft>
                <a:spcPts val="700"/>
              </a:spcAft>
            </a:pPr>
            <a:r>
              <a:rPr sz="1200" b="1" i="0">
                <a:solidFill>
                  <a:srgbClr val="0F2A4F"/>
                </a:solidFill>
                <a:latin typeface="Calibri"/>
              </a:rPr>
              <a:t>▪ </a:t>
            </a:r>
            <a:r>
              <a:rPr sz="1450" b="0" i="0">
                <a:solidFill>
                  <a:srgbClr val="262B33"/>
                </a:solidFill>
                <a:latin typeface="Calibri"/>
              </a:rPr>
              <a:t>Tìm tín hiệu phân biệt sinh viên at-risk vs not-at-risk.</a:t>
            </a:r>
          </a:p>
          <a:p>
            <a:pPr>
              <a:lnSpc>
                <a:spcPct val="104000"/>
              </a:lnSpc>
              <a:spcAft>
                <a:spcPts val="700"/>
              </a:spcAft>
            </a:pPr>
            <a:r>
              <a:rPr sz="1200" b="1" i="0">
                <a:solidFill>
                  <a:srgbClr val="0F2A4F"/>
                </a:solidFill>
                <a:latin typeface="Calibri"/>
              </a:rPr>
              <a:t>▪ </a:t>
            </a:r>
            <a:r>
              <a:rPr sz="1450" b="0" i="0">
                <a:solidFill>
                  <a:srgbClr val="262B33"/>
                </a:solidFill>
                <a:latin typeface="Calibri"/>
              </a:rPr>
              <a:t>Phục vụ 2 quyết định: chọn đặc trưng &amp; chống rò rỉ (leakage).</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32.593 bản ghi · 33 cột · 3 nhóm biến.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Đức</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19</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EDA · UNIVARIATE</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Phân tích phân phối (Univariate)</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200" b="1" i="0">
                <a:solidFill>
                  <a:srgbClr val="0F2A4F"/>
                </a:solidFill>
                <a:latin typeface="Calibri"/>
              </a:rPr>
              <a:t>▪ </a:t>
            </a:r>
            <a:r>
              <a:rPr sz="1450" b="0" i="0">
                <a:solidFill>
                  <a:srgbClr val="262B33"/>
                </a:solidFill>
                <a:latin typeface="Calibri"/>
              </a:rPr>
              <a:t>Công cụ: histogram + KDE, boxplot cho mỗi biến số.</a:t>
            </a:r>
          </a:p>
          <a:p>
            <a:pPr>
              <a:lnSpc>
                <a:spcPct val="104000"/>
              </a:lnSpc>
              <a:spcAft>
                <a:spcPts val="700"/>
              </a:spcAft>
            </a:pPr>
            <a:r>
              <a:rPr sz="1200" b="1" i="0">
                <a:solidFill>
                  <a:srgbClr val="0F2A4F"/>
                </a:solidFill>
                <a:latin typeface="Calibri"/>
              </a:rPr>
              <a:t>▪ </a:t>
            </a:r>
            <a:r>
              <a:rPr sz="1450" b="0" i="0">
                <a:solidFill>
                  <a:srgbClr val="262B33"/>
                </a:solidFill>
                <a:latin typeface="Calibri"/>
              </a:rPr>
              <a:t>Phần lớn biến clickstream LỆCH PHẢI MẠNH (right-skewed).</a:t>
            </a:r>
          </a:p>
          <a:p>
            <a:pPr>
              <a:lnSpc>
                <a:spcPct val="104000"/>
              </a:lnSpc>
              <a:spcAft>
                <a:spcPts val="700"/>
              </a:spcAft>
            </a:pPr>
            <a:r>
              <a:rPr sz="1200" b="1" i="0">
                <a:solidFill>
                  <a:srgbClr val="0F2A4F"/>
                </a:solidFill>
                <a:latin typeface="Calibri"/>
              </a:rPr>
              <a:t>▪ </a:t>
            </a:r>
            <a:r>
              <a:rPr sz="1450" b="0" i="0">
                <a:solidFill>
                  <a:srgbClr val="262B33"/>
                </a:solidFill>
                <a:latin typeface="Calibri"/>
              </a:rPr>
              <a:t>Đuôi nặng → nhiều ngoại lai THẬT (sinh viên siêu tích cực), không xoá.</a:t>
            </a:r>
          </a:p>
          <a:p>
            <a:pPr>
              <a:lnSpc>
                <a:spcPct val="104000"/>
              </a:lnSpc>
              <a:spcAft>
                <a:spcPts val="700"/>
              </a:spcAft>
            </a:pPr>
            <a:r>
              <a:rPr sz="1200" b="1" i="0">
                <a:solidFill>
                  <a:srgbClr val="0F2A4F"/>
                </a:solidFill>
                <a:latin typeface="Calibri"/>
              </a:rPr>
              <a:t>▪ </a:t>
            </a:r>
            <a:r>
              <a:rPr sz="1450" b="0" i="0">
                <a:solidFill>
                  <a:srgbClr val="262B33"/>
                </a:solidFill>
                <a:latin typeface="Calibri"/>
              </a:rPr>
              <a:t>Hệ quả: cần biến đổi log + chuẩn hoá; dùng kiểm định phi tham số.</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clicks_resource skew 34,71 · kurtosis 2.125,45 → lệch phải, đuôi nặng.</a:t>
            </a:r>
          </a:p>
        </p:txBody>
      </p:sp>
      <p:pic>
        <p:nvPicPr>
          <p:cNvPr id="10" name="Picture 9" descr="univariate_hist_kde.png"/>
          <p:cNvPicPr>
            <a:picLocks noChangeAspect="1"/>
          </p:cNvPicPr>
          <p:nvPr/>
        </p:nvPicPr>
        <p:blipFill>
          <a:blip r:embed="rId3"/>
          <a:stretch>
            <a:fillRect/>
          </a:stretch>
        </p:blipFill>
        <p:spPr>
          <a:xfrm>
            <a:off x="4240692" y="3407465"/>
            <a:ext cx="6696332" cy="30161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Đức</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20</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EDA · BIVARIATE</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Phân tích theo nhãn at-risk (Bivariate)</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200" b="1" i="0">
                <a:solidFill>
                  <a:srgbClr val="0F2A4F"/>
                </a:solidFill>
                <a:latin typeface="Calibri"/>
              </a:rPr>
              <a:t>▪ </a:t>
            </a:r>
            <a:r>
              <a:rPr sz="1450" b="0" i="0">
                <a:solidFill>
                  <a:srgbClr val="262B33"/>
                </a:solidFill>
                <a:latin typeface="Calibri"/>
              </a:rPr>
              <a:t>Phân phối lớp: at-risk 52,8% vs not-at-risk 47,2% → mất cân bằng nhẹ.</a:t>
            </a:r>
          </a:p>
          <a:p>
            <a:pPr>
              <a:lnSpc>
                <a:spcPct val="104000"/>
              </a:lnSpc>
              <a:spcAft>
                <a:spcPts val="700"/>
              </a:spcAft>
            </a:pPr>
            <a:r>
              <a:rPr sz="1200" b="1" i="0">
                <a:solidFill>
                  <a:srgbClr val="0F2A4F"/>
                </a:solidFill>
                <a:latin typeface="Calibri"/>
              </a:rPr>
              <a:t>▪ </a:t>
            </a:r>
            <a:r>
              <a:rPr sz="1450" b="0" i="0">
                <a:solidFill>
                  <a:srgbClr val="262B33"/>
                </a:solidFill>
                <a:latin typeface="Calibri"/>
              </a:rPr>
              <a:t>So sánh 2 nhóm bằng Cohen's d + Mann–Whitney (hiệu chỉnh BH).</a:t>
            </a:r>
          </a:p>
          <a:p>
            <a:pPr>
              <a:lnSpc>
                <a:spcPct val="104000"/>
              </a:lnSpc>
              <a:spcAft>
                <a:spcPts val="700"/>
              </a:spcAft>
            </a:pPr>
            <a:r>
              <a:rPr sz="1200" b="1" i="0">
                <a:solidFill>
                  <a:srgbClr val="0F2A4F"/>
                </a:solidFill>
                <a:latin typeface="Calibri"/>
              </a:rPr>
              <a:t>▪ </a:t>
            </a:r>
            <a:r>
              <a:rPr sz="1450" b="0" i="0">
                <a:solidFill>
                  <a:srgbClr val="262B33"/>
                </a:solidFill>
                <a:latin typeface="Calibri"/>
              </a:rPr>
              <a:t>Top biến: days_since_last_activity d=2,55 · n_assessments_submitted 2,05 · weighted_score_to_date 1,96.</a:t>
            </a:r>
          </a:p>
          <a:p>
            <a:pPr>
              <a:lnSpc>
                <a:spcPct val="104000"/>
              </a:lnSpc>
              <a:spcAft>
                <a:spcPts val="700"/>
              </a:spcAft>
            </a:pPr>
            <a:r>
              <a:rPr sz="1200" b="1" i="0">
                <a:solidFill>
                  <a:srgbClr val="0F2A4F"/>
                </a:solidFill>
                <a:latin typeface="Calibri"/>
              </a:rPr>
              <a:t>▪ </a:t>
            </a:r>
            <a:r>
              <a:rPr sz="1450" b="0" i="0">
                <a:solidFill>
                  <a:srgbClr val="262B33"/>
                </a:solidFill>
                <a:latin typeface="Calibri"/>
              </a:rPr>
              <a:t>19/19 biến số có ý nghĩa thống kê (q &lt; 0,05).</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days_since: 171 vs 14 ngày · n_assessments: 2,3 vs 8,6 bài.</a:t>
            </a:r>
          </a:p>
        </p:txBody>
      </p:sp>
      <p:pic>
        <p:nvPicPr>
          <p:cNvPr id="10" name="Picture 9" descr="bivariate_effect_sizes.png"/>
          <p:cNvPicPr>
            <a:picLocks noChangeAspect="1"/>
          </p:cNvPicPr>
          <p:nvPr/>
        </p:nvPicPr>
        <p:blipFill>
          <a:blip r:embed="rId3"/>
          <a:stretch>
            <a:fillRect/>
          </a:stretch>
        </p:blipFill>
        <p:spPr>
          <a:xfrm>
            <a:off x="7040880" y="1783080"/>
            <a:ext cx="4709160" cy="3195864"/>
          </a:xfrm>
          <a:prstGeom prst="rect">
            <a:avLst/>
          </a:prstGeom>
        </p:spPr>
      </p:pic>
      <p:sp>
        <p:nvSpPr>
          <p:cNvPr id="11" name="TextBox 10"/>
          <p:cNvSpPr txBox="1"/>
          <p:nvPr/>
        </p:nvSpPr>
        <p:spPr>
          <a:xfrm>
            <a:off x="7040880" y="5024664"/>
            <a:ext cx="4709160" cy="365760"/>
          </a:xfrm>
          <a:prstGeom prst="rect">
            <a:avLst/>
          </a:prstGeom>
          <a:noFill/>
        </p:spPr>
        <p:txBody>
          <a:bodyPr wrap="square" lIns="0" tIns="0" rIns="0" bIns="0">
            <a:spAutoFit/>
          </a:bodyPr>
          <a:lstStyle/>
          <a:p>
            <a:pPr algn="ctr"/>
            <a:r>
              <a:rPr sz="950" b="0" i="1">
                <a:solidFill>
                  <a:srgbClr val="5B6370"/>
                </a:solidFill>
                <a:latin typeface="Calibri"/>
              </a:rPr>
              <a:t>bivariate_effect_sizes.png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Đức</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21</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EDA · MULTIVARIATE</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Tương quan &amp; kiểm tra rò rỉ (Multivariate)</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200" b="1" i="0">
                <a:solidFill>
                  <a:srgbClr val="0F2A4F"/>
                </a:solidFill>
                <a:latin typeface="Calibri"/>
              </a:rPr>
              <a:t>▪ </a:t>
            </a:r>
            <a:r>
              <a:rPr sz="1450" b="0" i="0">
                <a:solidFill>
                  <a:srgbClr val="262B33"/>
                </a:solidFill>
                <a:latin typeface="Calibri"/>
              </a:rPr>
              <a:t>Heatmap Pearson (tuyến tính) + Spearman (đơn điệu, hợp dữ liệu lệch).</a:t>
            </a:r>
          </a:p>
          <a:p>
            <a:pPr>
              <a:lnSpc>
                <a:spcPct val="104000"/>
              </a:lnSpc>
              <a:spcAft>
                <a:spcPts val="700"/>
              </a:spcAft>
            </a:pPr>
            <a:r>
              <a:rPr sz="1200" b="1" i="0">
                <a:solidFill>
                  <a:srgbClr val="0F2A4F"/>
                </a:solidFill>
                <a:latin typeface="Calibri"/>
              </a:rPr>
              <a:t>▪ </a:t>
            </a:r>
            <a:r>
              <a:rPr sz="1450" b="0" i="0">
                <a:solidFill>
                  <a:srgbClr val="262B33"/>
                </a:solidFill>
                <a:latin typeface="Calibri"/>
              </a:rPr>
              <a:t>Tương quan với nhãn: days_since +0,78 · n_assessments −0,72 · weighted_score −0,71.</a:t>
            </a:r>
          </a:p>
          <a:p>
            <a:pPr>
              <a:lnSpc>
                <a:spcPct val="104000"/>
              </a:lnSpc>
              <a:spcAft>
                <a:spcPts val="700"/>
              </a:spcAft>
            </a:pPr>
            <a:r>
              <a:rPr sz="1200" b="1" i="0">
                <a:solidFill>
                  <a:srgbClr val="0F2A4F"/>
                </a:solidFill>
                <a:latin typeface="Calibri"/>
              </a:rPr>
              <a:t>▪ </a:t>
            </a:r>
            <a:r>
              <a:rPr sz="1450" b="0" i="0">
                <a:solidFill>
                  <a:srgbClr val="262B33"/>
                </a:solidFill>
                <a:latin typeface="Calibri"/>
              </a:rPr>
              <a:t>Đa cộng tuyến: 2 cặp |r| ≥ 0,8 (n_days_active–total_clicks = 0,84).</a:t>
            </a:r>
          </a:p>
          <a:p>
            <a:pPr>
              <a:lnSpc>
                <a:spcPct val="104000"/>
              </a:lnSpc>
              <a:spcAft>
                <a:spcPts val="700"/>
              </a:spcAft>
            </a:pPr>
            <a:r>
              <a:rPr sz="1200" b="1" i="0">
                <a:solidFill>
                  <a:srgbClr val="0F2A4F"/>
                </a:solidFill>
                <a:latin typeface="Calibri"/>
              </a:rPr>
              <a:t>▪ </a:t>
            </a:r>
            <a:r>
              <a:rPr sz="1450" b="0" i="0">
                <a:solidFill>
                  <a:srgbClr val="262B33"/>
                </a:solidFill>
                <a:latin typeface="Calibri"/>
              </a:rPr>
              <a:t>Kiểm tra leakage: KHÔNG biến nào |r| ≥ 0,95 với nhãn → không rò rỉ.</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r(nhãn) max = 0,78 · leakage ≥0,95: 0 biến · Cramér's V ≤ 0,15.</a:t>
            </a:r>
          </a:p>
        </p:txBody>
      </p:sp>
      <p:pic>
        <p:nvPicPr>
          <p:cNvPr id="10" name="Picture 9" descr="corr_with_target.png"/>
          <p:cNvPicPr>
            <a:picLocks noChangeAspect="1"/>
          </p:cNvPicPr>
          <p:nvPr/>
        </p:nvPicPr>
        <p:blipFill>
          <a:blip r:embed="rId3"/>
          <a:stretch>
            <a:fillRect/>
          </a:stretch>
        </p:blipFill>
        <p:spPr>
          <a:xfrm>
            <a:off x="7040880" y="1783080"/>
            <a:ext cx="4709160" cy="3058183"/>
          </a:xfrm>
          <a:prstGeom prst="rect">
            <a:avLst/>
          </a:prstGeom>
        </p:spPr>
      </p:pic>
      <p:sp>
        <p:nvSpPr>
          <p:cNvPr id="11" name="TextBox 10"/>
          <p:cNvSpPr txBox="1"/>
          <p:nvPr/>
        </p:nvSpPr>
        <p:spPr>
          <a:xfrm>
            <a:off x="7040880" y="4886983"/>
            <a:ext cx="4709160" cy="365760"/>
          </a:xfrm>
          <a:prstGeom prst="rect">
            <a:avLst/>
          </a:prstGeom>
          <a:noFill/>
        </p:spPr>
        <p:txBody>
          <a:bodyPr wrap="square" lIns="0" tIns="0" rIns="0" bIns="0">
            <a:spAutoFit/>
          </a:bodyPr>
          <a:lstStyle/>
          <a:p>
            <a:pPr algn="ctr"/>
            <a:r>
              <a:rPr sz="950" b="0" i="1">
                <a:solidFill>
                  <a:srgbClr val="5B6370"/>
                </a:solidFill>
                <a:latin typeface="Calibri"/>
              </a:rPr>
              <a:t>corr_with_target.png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i="0" dirty="0">
                <a:solidFill>
                  <a:srgbClr val="E8722B"/>
                </a:solidFill>
                <a:latin typeface="Calibri"/>
              </a:rPr>
              <a:t>Đức</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22</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EDA · TIME-AWARE (RQ1)</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Phân tích theo thời gian &amp; kết luận EDA</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200" b="1" i="0">
                <a:solidFill>
                  <a:srgbClr val="0F2A4F"/>
                </a:solidFill>
                <a:latin typeface="Calibri"/>
              </a:rPr>
              <a:t>▪ </a:t>
            </a:r>
            <a:r>
              <a:rPr sz="1450" b="0" i="0">
                <a:solidFill>
                  <a:srgbClr val="262B33"/>
                </a:solidFill>
                <a:latin typeface="Calibri"/>
              </a:rPr>
              <a:t>Đo Cohen's d từng biến tại 6 mốc 10%→100%; tín hiệu mạnh dần đều.</a:t>
            </a:r>
          </a:p>
          <a:p>
            <a:pPr>
              <a:lnSpc>
                <a:spcPct val="104000"/>
              </a:lnSpc>
              <a:spcAft>
                <a:spcPts val="700"/>
              </a:spcAft>
            </a:pPr>
            <a:r>
              <a:rPr sz="1200" b="1" i="0">
                <a:solidFill>
                  <a:srgbClr val="0F2A4F"/>
                </a:solidFill>
                <a:latin typeface="Calibri"/>
              </a:rPr>
              <a:t>▪ </a:t>
            </a:r>
            <a:r>
              <a:rPr sz="1450" b="0" i="0">
                <a:solidFill>
                  <a:srgbClr val="262B33"/>
                </a:solidFill>
                <a:latin typeface="Calibri"/>
              </a:rPr>
              <a:t>Mốc đầu đạt d ≥ 0,8: n_days_active từ 10% · điểm/số bài từ 20% · days_since từ 40%.</a:t>
            </a:r>
          </a:p>
          <a:p>
            <a:pPr>
              <a:lnSpc>
                <a:spcPct val="104000"/>
              </a:lnSpc>
              <a:spcAft>
                <a:spcPts val="700"/>
              </a:spcAft>
            </a:pPr>
            <a:r>
              <a:rPr sz="1200" b="1" i="0">
                <a:solidFill>
                  <a:srgbClr val="0F2A4F"/>
                </a:solidFill>
                <a:latin typeface="Calibri"/>
              </a:rPr>
              <a:t>▪ </a:t>
            </a:r>
            <a:r>
              <a:rPr sz="1450" b="0" i="0">
                <a:solidFill>
                  <a:srgbClr val="262B33"/>
                </a:solidFill>
                <a:latin typeface="Calibri"/>
              </a:rPr>
              <a:t>Withdrawn ngừng hoạt động sớm: median 233 ngày &amp; 89 click vs 11 ngày &amp; 1.425 click.</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Dự đoán sớm khả thi từ ~20% khóa học; ưu tiên đặc trưng tương tác + điểm.</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weighted_score d: 0,61 → 1,96 · n_assessments: 0,67 → 2,05 (10%→100%).</a:t>
            </a:r>
          </a:p>
        </p:txBody>
      </p:sp>
      <p:pic>
        <p:nvPicPr>
          <p:cNvPr id="10" name="Picture 9" descr="time_discrimination_curve.png"/>
          <p:cNvPicPr>
            <a:picLocks noChangeAspect="1"/>
          </p:cNvPicPr>
          <p:nvPr/>
        </p:nvPicPr>
        <p:blipFill>
          <a:blip r:embed="rId3"/>
          <a:stretch>
            <a:fillRect/>
          </a:stretch>
        </p:blipFill>
        <p:spPr>
          <a:xfrm>
            <a:off x="7040880" y="1783080"/>
            <a:ext cx="4709160" cy="3014299"/>
          </a:xfrm>
          <a:prstGeom prst="rect">
            <a:avLst/>
          </a:prstGeom>
        </p:spPr>
      </p:pic>
      <p:sp>
        <p:nvSpPr>
          <p:cNvPr id="11" name="TextBox 10"/>
          <p:cNvSpPr txBox="1"/>
          <p:nvPr/>
        </p:nvSpPr>
        <p:spPr>
          <a:xfrm>
            <a:off x="7040880" y="4843099"/>
            <a:ext cx="4709160" cy="365760"/>
          </a:xfrm>
          <a:prstGeom prst="rect">
            <a:avLst/>
          </a:prstGeom>
          <a:noFill/>
        </p:spPr>
        <p:txBody>
          <a:bodyPr wrap="square" lIns="0" tIns="0" rIns="0" bIns="0">
            <a:spAutoFit/>
          </a:bodyPr>
          <a:lstStyle/>
          <a:p>
            <a:pPr algn="ctr"/>
            <a:r>
              <a:rPr sz="950" b="0" i="1">
                <a:solidFill>
                  <a:srgbClr val="5B6370"/>
                </a:solidFill>
                <a:latin typeface="Calibri"/>
              </a:rPr>
              <a:t>time_discrimination_curve.png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468880"/>
            <a:ext cx="1463040" cy="82296"/>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058400" cy="640080"/>
          </a:xfrm>
          <a:prstGeom prst="rect">
            <a:avLst/>
          </a:prstGeom>
          <a:noFill/>
        </p:spPr>
        <p:txBody>
          <a:bodyPr wrap="square" lIns="0" tIns="0" rIns="0" bIns="0">
            <a:spAutoFit/>
          </a:bodyPr>
          <a:lstStyle/>
          <a:p>
            <a:r>
              <a:rPr sz="1500" b="1" i="0">
                <a:solidFill>
                  <a:srgbClr val="E8722B"/>
                </a:solidFill>
                <a:latin typeface="Calibri"/>
              </a:rPr>
              <a:t>PHẦN 4</a:t>
            </a:r>
          </a:p>
        </p:txBody>
      </p:sp>
      <p:sp>
        <p:nvSpPr>
          <p:cNvPr id="5" name="TextBox 4"/>
          <p:cNvSpPr txBox="1"/>
          <p:nvPr/>
        </p:nvSpPr>
        <p:spPr>
          <a:xfrm>
            <a:off x="822960" y="2697480"/>
            <a:ext cx="10332720" cy="1828800"/>
          </a:xfrm>
          <a:prstGeom prst="rect">
            <a:avLst/>
          </a:prstGeom>
          <a:noFill/>
        </p:spPr>
        <p:txBody>
          <a:bodyPr wrap="square" lIns="0" tIns="0" rIns="0" bIns="0">
            <a:spAutoFit/>
          </a:bodyPr>
          <a:lstStyle/>
          <a:p>
            <a:r>
              <a:rPr sz="3000" b="1" i="0">
                <a:solidFill>
                  <a:srgbClr val="FFFFFF"/>
                </a:solidFill>
                <a:latin typeface="Calibri"/>
              </a:rPr>
              <a:t>Chuẩn hoá &amp; biến đổi dữ liệu</a:t>
            </a:r>
          </a:p>
          <a:p>
            <a:pPr>
              <a:spcBef>
                <a:spcPts val="800"/>
              </a:spcBef>
            </a:pPr>
            <a:r>
              <a:rPr sz="1500" b="0" i="1">
                <a:solidFill>
                  <a:srgbClr val="CFDCEC"/>
                </a:solidFill>
                <a:latin typeface="Calibri"/>
              </a:rPr>
              <a:t>Mã hoá · log1p · Chuẩn hoá · Đặc trưng · Mất cân bằng</a:t>
            </a:r>
          </a:p>
        </p:txBody>
      </p:sp>
      <p:sp>
        <p:nvSpPr>
          <p:cNvPr id="6" name="TextBox 5"/>
          <p:cNvSpPr txBox="1"/>
          <p:nvPr/>
        </p:nvSpPr>
        <p:spPr>
          <a:xfrm>
            <a:off x="822960" y="5120640"/>
            <a:ext cx="10058400" cy="215444"/>
          </a:xfrm>
          <a:prstGeom prst="rect">
            <a:avLst/>
          </a:prstGeom>
          <a:noFill/>
        </p:spPr>
        <p:txBody>
          <a:bodyPr wrap="square" lIns="0" tIns="0" rIns="0" bIns="0">
            <a:spAutoFit/>
          </a:bodyPr>
          <a:lstStyle/>
          <a:p>
            <a:r>
              <a:rPr sz="1400" b="1" i="0" dirty="0" err="1">
                <a:solidFill>
                  <a:srgbClr val="FFFFFF"/>
                </a:solidFill>
                <a:latin typeface="Calibri"/>
              </a:rPr>
              <a:t>Trình</a:t>
            </a:r>
            <a:r>
              <a:rPr sz="1400" b="1" i="0" dirty="0">
                <a:solidFill>
                  <a:srgbClr val="FFFFFF"/>
                </a:solidFill>
                <a:latin typeface="Calibri"/>
              </a:rPr>
              <a:t> </a:t>
            </a:r>
            <a:r>
              <a:rPr sz="1400" b="1" i="0" dirty="0" err="1">
                <a:solidFill>
                  <a:srgbClr val="FFFFFF"/>
                </a:solidFill>
                <a:latin typeface="Calibri"/>
              </a:rPr>
              <a:t>bày</a:t>
            </a:r>
            <a:r>
              <a:rPr sz="1400" b="1" i="0" dirty="0">
                <a:solidFill>
                  <a:srgbClr val="FFFFFF"/>
                </a:solidFill>
                <a:latin typeface="Calibri"/>
              </a:rPr>
              <a:t>: </a:t>
            </a:r>
            <a:r>
              <a:rPr lang="vi-VN" sz="1400" b="1" dirty="0">
                <a:solidFill>
                  <a:srgbClr val="FFFFFF"/>
                </a:solidFill>
                <a:latin typeface="Calibri"/>
              </a:rPr>
              <a:t>Bình</a:t>
            </a:r>
            <a:endParaRPr sz="1400" b="1" i="0" dirty="0">
              <a:solidFill>
                <a:srgbClr val="FFFFFF"/>
              </a:solidFill>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a:t>
            </a:r>
            <a:r>
              <a:rPr lang="vi-VN" sz="900" b="1" i="0" dirty="0">
                <a:solidFill>
                  <a:srgbClr val="E8722B"/>
                </a:solidFill>
                <a:latin typeface="Calibri"/>
              </a:rPr>
              <a:t>Bình</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23</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4 · CHUẨN HOÁ &amp; BIẾN ĐỔI</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Mã hoá biến phân loại</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4 chiến lược theo bản chất biến (xem bảng).</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Mã hoá sai (one-hot cho biến thứ bậc) sẽ XOÁ thông tin thứ tự.</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Biến chữ → số, mô hình &amp; XAI đọc được.</a:t>
            </a:r>
          </a:p>
        </p:txBody>
      </p:sp>
      <p:graphicFrame>
        <p:nvGraphicFramePr>
          <p:cNvPr id="10" name="Table 9"/>
          <p:cNvGraphicFramePr>
            <a:graphicFrameLocks noGrp="1"/>
          </p:cNvGraphicFramePr>
          <p:nvPr/>
        </p:nvGraphicFramePr>
        <p:xfrm>
          <a:off x="548640" y="3566160"/>
          <a:ext cx="11064240" cy="164591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29183">
                <a:tc>
                  <a:txBody>
                    <a:bodyPr/>
                    <a:lstStyle/>
                    <a:p>
                      <a:r>
                        <a:rPr sz="1200" b="1" i="0">
                          <a:solidFill>
                            <a:srgbClr val="FFFFFF"/>
                          </a:solidFill>
                          <a:latin typeface="Calibri"/>
                        </a:rPr>
                        <a:t>Loại</a:t>
                      </a:r>
                    </a:p>
                  </a:txBody>
                  <a:tcPr marT="25400" marB="25400" anchor="ctr">
                    <a:solidFill>
                      <a:srgbClr val="0F2A4F"/>
                    </a:solidFill>
                  </a:tcPr>
                </a:tc>
                <a:tc>
                  <a:txBody>
                    <a:bodyPr/>
                    <a:lstStyle/>
                    <a:p>
                      <a:r>
                        <a:rPr sz="1200" b="1" i="0">
                          <a:solidFill>
                            <a:srgbClr val="FFFFFF"/>
                          </a:solidFill>
                          <a:latin typeface="Calibri"/>
                        </a:rPr>
                        <a:t>Biến</a:t>
                      </a:r>
                    </a:p>
                  </a:txBody>
                  <a:tcPr marT="25400" marB="25400" anchor="ctr">
                    <a:solidFill>
                      <a:srgbClr val="0F2A4F"/>
                    </a:solidFill>
                  </a:tcPr>
                </a:tc>
                <a:tc>
                  <a:txBody>
                    <a:bodyPr/>
                    <a:lstStyle/>
                    <a:p>
                      <a:r>
                        <a:rPr sz="1200" b="1" i="0">
                          <a:solidFill>
                            <a:srgbClr val="FFFFFF"/>
                          </a:solidFill>
                          <a:latin typeface="Calibri"/>
                        </a:rPr>
                        <a:t>Phương pháp</a:t>
                      </a:r>
                    </a:p>
                  </a:txBody>
                  <a:tcPr marT="25400" marB="25400" anchor="ctr">
                    <a:solidFill>
                      <a:srgbClr val="0F2A4F"/>
                    </a:solidFill>
                  </a:tcPr>
                </a:tc>
                <a:extLst>
                  <a:ext uri="{0D108BD9-81ED-4DB2-BD59-A6C34878D82A}">
                    <a16:rowId xmlns:a16="http://schemas.microsoft.com/office/drawing/2014/main" val="10000"/>
                  </a:ext>
                </a:extLst>
              </a:tr>
              <a:tr h="329183">
                <a:tc>
                  <a:txBody>
                    <a:bodyPr/>
                    <a:lstStyle/>
                    <a:p>
                      <a:r>
                        <a:rPr sz="1200" b="1" i="0">
                          <a:solidFill>
                            <a:srgbClr val="0F2A4F"/>
                          </a:solidFill>
                          <a:latin typeface="Calibri"/>
                        </a:rPr>
                        <a:t>Thứ bậc</a:t>
                      </a:r>
                    </a:p>
                  </a:txBody>
                  <a:tcPr marT="12700" marB="12700" anchor="ctr">
                    <a:solidFill>
                      <a:srgbClr val="FFFFFF"/>
                    </a:solidFill>
                  </a:tcPr>
                </a:tc>
                <a:tc>
                  <a:txBody>
                    <a:bodyPr/>
                    <a:lstStyle/>
                    <a:p>
                      <a:r>
                        <a:rPr sz="1200" b="0" i="0">
                          <a:solidFill>
                            <a:srgbClr val="262B33"/>
                          </a:solidFill>
                          <a:latin typeface="Calibri"/>
                        </a:rPr>
                        <a:t>highest_education, imd_band, age_band</a:t>
                      </a:r>
                    </a:p>
                  </a:txBody>
                  <a:tcPr marT="12700" marB="12700" anchor="ctr">
                    <a:solidFill>
                      <a:srgbClr val="FFFFFF"/>
                    </a:solidFill>
                  </a:tcPr>
                </a:tc>
                <a:tc>
                  <a:txBody>
                    <a:bodyPr/>
                    <a:lstStyle/>
                    <a:p>
                      <a:r>
                        <a:rPr sz="1200" b="0" i="0">
                          <a:solidFill>
                            <a:srgbClr val="262B33"/>
                          </a:solidFill>
                          <a:latin typeface="Calibri"/>
                        </a:rPr>
                        <a:t>OrdinalEncoder</a:t>
                      </a:r>
                    </a:p>
                  </a:txBody>
                  <a:tcPr marT="12700" marB="12700" anchor="ctr">
                    <a:solidFill>
                      <a:srgbClr val="FFFFFF"/>
                    </a:solidFill>
                  </a:tcPr>
                </a:tc>
                <a:extLst>
                  <a:ext uri="{0D108BD9-81ED-4DB2-BD59-A6C34878D82A}">
                    <a16:rowId xmlns:a16="http://schemas.microsoft.com/office/drawing/2014/main" val="10001"/>
                  </a:ext>
                </a:extLst>
              </a:tr>
              <a:tr h="329183">
                <a:tc>
                  <a:txBody>
                    <a:bodyPr/>
                    <a:lstStyle/>
                    <a:p>
                      <a:r>
                        <a:rPr sz="1200" b="1" i="0">
                          <a:solidFill>
                            <a:srgbClr val="0F2A4F"/>
                          </a:solidFill>
                          <a:latin typeface="Calibri"/>
                        </a:rPr>
                        <a:t>Danh định</a:t>
                      </a:r>
                    </a:p>
                  </a:txBody>
                  <a:tcPr marT="12700" marB="12700" anchor="ctr">
                    <a:solidFill>
                      <a:srgbClr val="F2F4F7"/>
                    </a:solidFill>
                  </a:tcPr>
                </a:tc>
                <a:tc>
                  <a:txBody>
                    <a:bodyPr/>
                    <a:lstStyle/>
                    <a:p>
                      <a:r>
                        <a:rPr sz="1200" b="0" i="0">
                          <a:solidFill>
                            <a:srgbClr val="262B33"/>
                          </a:solidFill>
                          <a:latin typeface="Calibri"/>
                        </a:rPr>
                        <a:t>region, code_module, code_presentation</a:t>
                      </a:r>
                    </a:p>
                  </a:txBody>
                  <a:tcPr marT="12700" marB="12700" anchor="ctr">
                    <a:solidFill>
                      <a:srgbClr val="F2F4F7"/>
                    </a:solidFill>
                  </a:tcPr>
                </a:tc>
                <a:tc>
                  <a:txBody>
                    <a:bodyPr/>
                    <a:lstStyle/>
                    <a:p>
                      <a:r>
                        <a:rPr sz="1200" b="0" i="0">
                          <a:solidFill>
                            <a:srgbClr val="262B33"/>
                          </a:solidFill>
                          <a:latin typeface="Calibri"/>
                        </a:rPr>
                        <a:t>OneHotEncoder</a:t>
                      </a:r>
                    </a:p>
                  </a:txBody>
                  <a:tcPr marT="12700" marB="12700" anchor="ctr">
                    <a:solidFill>
                      <a:srgbClr val="F2F4F7"/>
                    </a:solidFill>
                  </a:tcPr>
                </a:tc>
                <a:extLst>
                  <a:ext uri="{0D108BD9-81ED-4DB2-BD59-A6C34878D82A}">
                    <a16:rowId xmlns:a16="http://schemas.microsoft.com/office/drawing/2014/main" val="10002"/>
                  </a:ext>
                </a:extLst>
              </a:tr>
              <a:tr h="329183">
                <a:tc>
                  <a:txBody>
                    <a:bodyPr/>
                    <a:lstStyle/>
                    <a:p>
                      <a:r>
                        <a:rPr sz="1200" b="1" i="0">
                          <a:solidFill>
                            <a:srgbClr val="0F2A4F"/>
                          </a:solidFill>
                          <a:latin typeface="Calibri"/>
                        </a:rPr>
                        <a:t>Nhị phân</a:t>
                      </a:r>
                    </a:p>
                  </a:txBody>
                  <a:tcPr marT="12700" marB="12700" anchor="ctr">
                    <a:solidFill>
                      <a:srgbClr val="FFFFFF"/>
                    </a:solidFill>
                  </a:tcPr>
                </a:tc>
                <a:tc>
                  <a:txBody>
                    <a:bodyPr/>
                    <a:lstStyle/>
                    <a:p>
                      <a:r>
                        <a:rPr sz="1200" b="0" i="0">
                          <a:solidFill>
                            <a:srgbClr val="262B33"/>
                          </a:solidFill>
                          <a:latin typeface="Calibri"/>
                        </a:rPr>
                        <a:t>gender, disability</a:t>
                      </a:r>
                    </a:p>
                  </a:txBody>
                  <a:tcPr marT="12700" marB="12700" anchor="ctr">
                    <a:solidFill>
                      <a:srgbClr val="FFFFFF"/>
                    </a:solidFill>
                  </a:tcPr>
                </a:tc>
                <a:tc>
                  <a:txBody>
                    <a:bodyPr/>
                    <a:lstStyle/>
                    <a:p>
                      <a:r>
                        <a:rPr sz="1200" b="0" i="0">
                          <a:solidFill>
                            <a:srgbClr val="262B33"/>
                          </a:solidFill>
                          <a:latin typeface="Calibri"/>
                        </a:rPr>
                        <a:t>BinaryEncoder (0/1)</a:t>
                      </a:r>
                    </a:p>
                  </a:txBody>
                  <a:tcPr marT="12700" marB="12700" anchor="ctr">
                    <a:solidFill>
                      <a:srgbClr val="FFFFFF"/>
                    </a:solidFill>
                  </a:tcPr>
                </a:tc>
                <a:extLst>
                  <a:ext uri="{0D108BD9-81ED-4DB2-BD59-A6C34878D82A}">
                    <a16:rowId xmlns:a16="http://schemas.microsoft.com/office/drawing/2014/main" val="10003"/>
                  </a:ext>
                </a:extLst>
              </a:tr>
              <a:tr h="329187">
                <a:tc>
                  <a:txBody>
                    <a:bodyPr/>
                    <a:lstStyle/>
                    <a:p>
                      <a:r>
                        <a:rPr sz="1200" b="1" i="0">
                          <a:solidFill>
                            <a:srgbClr val="0F2A4F"/>
                          </a:solidFill>
                          <a:latin typeface="Calibri"/>
                        </a:rPr>
                        <a:t>Chỉ báo</a:t>
                      </a:r>
                    </a:p>
                  </a:txBody>
                  <a:tcPr marT="12700" marB="12700" anchor="ctr">
                    <a:solidFill>
                      <a:srgbClr val="F2F4F7"/>
                    </a:solidFill>
                  </a:tcPr>
                </a:tc>
                <a:tc>
                  <a:txBody>
                    <a:bodyPr/>
                    <a:lstStyle/>
                    <a:p>
                      <a:r>
                        <a:rPr sz="1200" b="0" i="0">
                          <a:solidFill>
                            <a:srgbClr val="262B33"/>
                          </a:solidFill>
                          <a:latin typeface="Calibri"/>
                        </a:rPr>
                        <a:t>not_submitted</a:t>
                      </a:r>
                    </a:p>
                  </a:txBody>
                  <a:tcPr marT="12700" marB="12700" anchor="ctr">
                    <a:solidFill>
                      <a:srgbClr val="F2F4F7"/>
                    </a:solidFill>
                  </a:tcPr>
                </a:tc>
                <a:tc>
                  <a:txBody>
                    <a:bodyPr/>
                    <a:lstStyle/>
                    <a:p>
                      <a:r>
                        <a:rPr sz="1200" b="0" i="0">
                          <a:solidFill>
                            <a:srgbClr val="262B33"/>
                          </a:solidFill>
                          <a:latin typeface="Calibri"/>
                        </a:rPr>
                        <a:t>passthrough</a:t>
                      </a:r>
                    </a:p>
                  </a:txBody>
                  <a:tcPr marT="12700" marB="12700"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Bình</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24</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4 · CHUẨN HOÁ &amp; BIẾN ĐỔI</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Biến đổi phân phối lệch (log1p)</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Áp log1p cho các biến click lệch phải mạnh (đã nêu ở Phần 3).</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Giảm đuôi nặng → ổn định mô hình tuyến tính &amp; khoảng cách; bằng chứng skew ~13–35 ở EDA.</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Đặc trưng click có phân phối cân đối hơn, không mất dòng.</a:t>
            </a:r>
          </a:p>
        </p:txBody>
      </p:sp>
      <p:pic>
        <p:nvPicPr>
          <p:cNvPr id="10" name="Picture 9" descr="univariate_hist_kde.png"/>
          <p:cNvPicPr>
            <a:picLocks noChangeAspect="1"/>
          </p:cNvPicPr>
          <p:nvPr/>
        </p:nvPicPr>
        <p:blipFill>
          <a:blip r:embed="rId3"/>
          <a:stretch>
            <a:fillRect/>
          </a:stretch>
        </p:blipFill>
        <p:spPr>
          <a:xfrm>
            <a:off x="7040880" y="1783080"/>
            <a:ext cx="4709160" cy="2121123"/>
          </a:xfrm>
          <a:prstGeom prst="rect">
            <a:avLst/>
          </a:prstGeom>
        </p:spPr>
      </p:pic>
      <p:sp>
        <p:nvSpPr>
          <p:cNvPr id="11" name="TextBox 10"/>
          <p:cNvSpPr txBox="1"/>
          <p:nvPr/>
        </p:nvSpPr>
        <p:spPr>
          <a:xfrm>
            <a:off x="7040880" y="3949923"/>
            <a:ext cx="4709160" cy="365760"/>
          </a:xfrm>
          <a:prstGeom prst="rect">
            <a:avLst/>
          </a:prstGeom>
          <a:noFill/>
        </p:spPr>
        <p:txBody>
          <a:bodyPr wrap="square" lIns="0" tIns="0" rIns="0" bIns="0">
            <a:spAutoFit/>
          </a:bodyPr>
          <a:lstStyle/>
          <a:p>
            <a:pPr algn="ctr"/>
            <a:r>
              <a:rPr sz="950" b="0" i="1">
                <a:solidFill>
                  <a:srgbClr val="5B6370"/>
                </a:solidFill>
                <a:latin typeface="Calibri"/>
              </a:rPr>
              <a:t>Phân phối lệch phải → log1p</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Bình</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25</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4 · CHUẨN HOÁ &amp; BIẾN ĐỔI</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Chuẩn hoá thang đo (StandardScaler)</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StandardScaler đưa biến số về trung bình 0, độ lệch chuẩn 1.</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Tổng click (0–hàng nghìn) áp đảo điểm số (0–100) → bắt buộc cho Logistic Regression &amp; ANN.</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CHỈ fit trên train, transform cho cả train/test (in scaler.mean_ chỉ tính từ train).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Bình</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26</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4 · CHUẨN HOÁ &amp; BIẾN ĐỔI</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Tạo đặc trưng mới &amp; kiểm tra ý nghĩa</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Tương tác: total_clicks, n_days_active, 8× clicks_&lt;loại&gt;, max/mean clicks, days_since_last_activity.</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Kết quả: mean_score_to_date, weighted_score_to_date, n_assessments_submitted, cờ not_submitted.</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Mỗi đặc trưng gắn giả thuyết: 'ngừng hoạt động lâu / bỏ nộp bài ⇒ nguy cơ cao'.</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Kiểm tra ý nghĩa bằng |Cohen's d|: days_since 2,55 · n_assessments 2,05 · weighted_score 1,96.</a:t>
            </a:r>
          </a:p>
        </p:txBody>
      </p:sp>
      <p:pic>
        <p:nvPicPr>
          <p:cNvPr id="10" name="Picture 9" descr="bivariate_effect_sizes.png"/>
          <p:cNvPicPr>
            <a:picLocks noChangeAspect="1"/>
          </p:cNvPicPr>
          <p:nvPr/>
        </p:nvPicPr>
        <p:blipFill>
          <a:blip r:embed="rId3"/>
          <a:stretch>
            <a:fillRect/>
          </a:stretch>
        </p:blipFill>
        <p:spPr>
          <a:xfrm>
            <a:off x="7040880" y="1783080"/>
            <a:ext cx="4709160" cy="3195864"/>
          </a:xfrm>
          <a:prstGeom prst="rect">
            <a:avLst/>
          </a:prstGeom>
        </p:spPr>
      </p:pic>
      <p:sp>
        <p:nvSpPr>
          <p:cNvPr id="11" name="TextBox 10"/>
          <p:cNvSpPr txBox="1"/>
          <p:nvPr/>
        </p:nvSpPr>
        <p:spPr>
          <a:xfrm>
            <a:off x="7040880" y="5024664"/>
            <a:ext cx="4709160" cy="365760"/>
          </a:xfrm>
          <a:prstGeom prst="rect">
            <a:avLst/>
          </a:prstGeom>
          <a:noFill/>
        </p:spPr>
        <p:txBody>
          <a:bodyPr wrap="square" lIns="0" tIns="0" rIns="0" bIns="0">
            <a:spAutoFit/>
          </a:bodyPr>
          <a:lstStyle/>
          <a:p>
            <a:pPr algn="ctr"/>
            <a:r>
              <a:rPr sz="950" b="0" i="1">
                <a:solidFill>
                  <a:srgbClr val="5B6370"/>
                </a:solidFill>
                <a:latin typeface="Calibri"/>
              </a:rPr>
              <a:t>|Cohen's d| theo đặc trưng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r>
              <a:rPr lang="vi-VN" sz="900" b="1" dirty="0">
                <a:solidFill>
                  <a:srgbClr val="E8722B"/>
                </a:solidFill>
                <a:latin typeface="Calibri"/>
              </a:rPr>
              <a:t>Bình</a:t>
            </a:r>
            <a:endParaRPr sz="900" b="1" i="0" dirty="0">
              <a:solidFill>
                <a:srgbClr val="E8722B"/>
              </a:solidFill>
              <a:latin typeface="Calibri"/>
            </a:endParaRP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27</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4 · CHUẨN HOÁ &amp; BIẾN ĐỔI</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Mất cân bằng dữ liệu &amp; phương án</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Kiểm tra: at-risk 52,8% / not-at-risk 47,2% → tỷ số mất cân bằng 1,12 (nhẹ).</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Bỏ sót sinh viên nguy cơ là sai lầm đắt nhất → chỉ số chính là PR-AUC &amp; recall lớp at-risk.</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Phương án RQ3: so sánh no-resampling / class-weight / SMOTE / ADASYN; CHỈ tái lấy mẫu trên train.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468880"/>
            <a:ext cx="1463040" cy="82296"/>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058400" cy="640080"/>
          </a:xfrm>
          <a:prstGeom prst="rect">
            <a:avLst/>
          </a:prstGeom>
          <a:noFill/>
        </p:spPr>
        <p:txBody>
          <a:bodyPr wrap="square" lIns="0" tIns="0" rIns="0" bIns="0">
            <a:spAutoFit/>
          </a:bodyPr>
          <a:lstStyle/>
          <a:p>
            <a:r>
              <a:rPr sz="1500" b="1" i="0">
                <a:solidFill>
                  <a:srgbClr val="E8722B"/>
                </a:solidFill>
                <a:latin typeface="Calibri"/>
              </a:rPr>
              <a:t>PHẦN 5</a:t>
            </a:r>
          </a:p>
        </p:txBody>
      </p:sp>
      <p:sp>
        <p:nvSpPr>
          <p:cNvPr id="5" name="TextBox 4"/>
          <p:cNvSpPr txBox="1"/>
          <p:nvPr/>
        </p:nvSpPr>
        <p:spPr>
          <a:xfrm>
            <a:off x="822960" y="2697480"/>
            <a:ext cx="10332720" cy="1828800"/>
          </a:xfrm>
          <a:prstGeom prst="rect">
            <a:avLst/>
          </a:prstGeom>
          <a:noFill/>
        </p:spPr>
        <p:txBody>
          <a:bodyPr wrap="square" lIns="0" tIns="0" rIns="0" bIns="0">
            <a:spAutoFit/>
          </a:bodyPr>
          <a:lstStyle/>
          <a:p>
            <a:r>
              <a:rPr sz="3000" b="1" i="0">
                <a:solidFill>
                  <a:srgbClr val="FFFFFF"/>
                </a:solidFill>
                <a:latin typeface="Calibri"/>
              </a:rPr>
              <a:t>Tách train/test &amp; chống rò rỉ</a:t>
            </a:r>
          </a:p>
          <a:p>
            <a:pPr>
              <a:spcBef>
                <a:spcPts val="800"/>
              </a:spcBef>
            </a:pPr>
            <a:r>
              <a:rPr sz="1500" b="0" i="1">
                <a:solidFill>
                  <a:srgbClr val="CFDCEC"/>
                </a:solidFill>
                <a:latin typeface="Calibri"/>
              </a:rPr>
              <a:t>Tỷ lệ · Phân tầng + nhóm · Time-aware · Lưu &amp; kiểm tra</a:t>
            </a:r>
          </a:p>
        </p:txBody>
      </p:sp>
      <p:sp>
        <p:nvSpPr>
          <p:cNvPr id="6" name="TextBox 5"/>
          <p:cNvSpPr txBox="1"/>
          <p:nvPr/>
        </p:nvSpPr>
        <p:spPr>
          <a:xfrm>
            <a:off x="822960" y="5120640"/>
            <a:ext cx="10058400" cy="548640"/>
          </a:xfrm>
          <a:prstGeom prst="rect">
            <a:avLst/>
          </a:prstGeom>
          <a:noFill/>
        </p:spPr>
        <p:txBody>
          <a:bodyPr wrap="square" lIns="0" tIns="0" rIns="0" bIns="0">
            <a:spAutoFit/>
          </a:bodyPr>
          <a:lstStyle/>
          <a:p>
            <a:r>
              <a:rPr sz="1400" b="1" i="0">
                <a:solidFill>
                  <a:srgbClr val="FFFFFF"/>
                </a:solidFill>
                <a:latin typeface="Calibri"/>
              </a:rPr>
              <a:t>Trình bày: Khoa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Khoa</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28</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5 · TÁCH &amp; CHỐNG RÒ RỈ</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Mục đích, tỷ lệ &amp; phương pháp chia</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Tỷ lệ 80% train / 20% test (TEST_SIZE = 0.2).</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Phương pháp: StratifiedGroupKFold — phân tầng theo at_risk + gom nhóm theo id_student.</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Một SV học nhiều môn–kỳ ⇒ gom theo id_student để KHÔNG cho cùng người ở cả train lẫn test (rò rỉ nhóm).</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Test ≈ 6.489 dòng / 6,5k sinh viên · train ≈ 26.104 dòng.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Khoa</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29</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5 · TÁCH &amp; CHỐNG RÒ RỈ</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Kiểm soát rò rỉ: 2 trục</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626364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Trục thời gian: cut_at_checkpoint() chỉ giữ sự kiện ≤ ngày mốc; cutoff_day = round(length × t/100).</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Trục đặc trưng: mọi bộ học (encoder, scaler, resampling) CHỈ fit trên train.</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Mô phỏng đúng 'thông tin có tại thời điểm dự đoán' — không nhìn tương lai.</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6 bộ dataset_t10…t100, cùng danh sách sinh viên; nhãn cố định 52,8% qua các mốc.</a:t>
            </a:r>
          </a:p>
        </p:txBody>
      </p:sp>
      <p:pic>
        <p:nvPicPr>
          <p:cNvPr id="10" name="Picture 9" descr="time_discrimination_curve.png"/>
          <p:cNvPicPr>
            <a:picLocks noChangeAspect="1"/>
          </p:cNvPicPr>
          <p:nvPr/>
        </p:nvPicPr>
        <p:blipFill>
          <a:blip r:embed="rId3"/>
          <a:stretch>
            <a:fillRect/>
          </a:stretch>
        </p:blipFill>
        <p:spPr>
          <a:xfrm>
            <a:off x="7040880" y="1783080"/>
            <a:ext cx="4709160" cy="3014299"/>
          </a:xfrm>
          <a:prstGeom prst="rect">
            <a:avLst/>
          </a:prstGeom>
        </p:spPr>
      </p:pic>
      <p:sp>
        <p:nvSpPr>
          <p:cNvPr id="11" name="TextBox 10"/>
          <p:cNvSpPr txBox="1"/>
          <p:nvPr/>
        </p:nvSpPr>
        <p:spPr>
          <a:xfrm>
            <a:off x="7040880" y="4843099"/>
            <a:ext cx="4709160" cy="365760"/>
          </a:xfrm>
          <a:prstGeom prst="rect">
            <a:avLst/>
          </a:prstGeom>
          <a:noFill/>
        </p:spPr>
        <p:txBody>
          <a:bodyPr wrap="square" lIns="0" tIns="0" rIns="0" bIns="0">
            <a:spAutoFit/>
          </a:bodyPr>
          <a:lstStyle/>
          <a:p>
            <a:pPr algn="ctr"/>
            <a:r>
              <a:rPr sz="950" b="0" i="1">
                <a:solidFill>
                  <a:srgbClr val="5B6370"/>
                </a:solidFill>
                <a:latin typeface="Calibri"/>
              </a:rPr>
              <a:t>Sức phân biệt tăng dần theo mốc (RQ1)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Khoa</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30</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5 · TÁCH &amp; CHỐNG RÒ RỈ</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Trình tự tiền xử lý đúng &amp; áp dụng train→test</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Trình tự: chia train/test → điền khuyết → ngoại lai → mã hoá/chuẩn hoá → tái lấy mẫu.</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Tham số (median, ngưỡng winsorize, mean/std, danh mục encoder) học từ train → transform lên test.</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Fit trên toàn bộ dữ liệu trước khi chia ⇒ test 'rò rỉ' vào train ⇒ kết quả ảo.</a:t>
            </a:r>
          </a:p>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Phân bố nhãn sau chia: train 0,53 / test 0,52 — chênh ≤ 0,02, đạt phân tầng.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310896"/>
          </a:xfrm>
          <a:prstGeom prst="rect">
            <a:avLst/>
          </a:prstGeom>
          <a:noFill/>
        </p:spPr>
        <p:txBody>
          <a:bodyPr wrap="square" lIns="0" tIns="0" rIns="0" bIns="0">
            <a:spAutoFit/>
          </a:bodyPr>
          <a:lstStyle/>
          <a:p>
            <a:r>
              <a:rPr sz="900" b="0" i="0">
                <a:solidFill>
                  <a:srgbClr val="5B6370"/>
                </a:solidFill>
                <a:latin typeface="Calibri"/>
              </a:rPr>
              <a:t>DSP391m · Nhóm 1 · Task 3 — Thu thập &amp; Tiền xử lý dữ liệu</a:t>
            </a:r>
            <a:r>
              <a:rPr sz="900" b="1" i="0">
                <a:solidFill>
                  <a:srgbClr val="E8722B"/>
                </a:solidFill>
                <a:latin typeface="Calibri"/>
              </a:rPr>
              <a:t>   ·   Khoa</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31</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PHẦN 5 · TÁCH &amp; CHỐNG RÒ RỈ</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Lưu &amp; kiểm tra lại: rò rỉ đã bị chặn</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Lưu: test_student_ids.csv (commit vào repo) + parquet train/test; split_report.csv.</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Kiểm tra lại: 0 sinh viên trùng giữa train/test; không lệch kiểu/cột; nhãn cân đối.</a:t>
            </a:r>
          </a:p>
          <a:p>
            <a:pPr>
              <a:lnSpc>
                <a:spcPct val="104000"/>
              </a:lnSpc>
              <a:spcAft>
                <a:spcPts val="700"/>
              </a:spcAft>
            </a:pPr>
            <a:r>
              <a:rPr sz="1300" b="1" i="0">
                <a:solidFill>
                  <a:srgbClr val="1F6FB2"/>
                </a:solidFill>
                <a:latin typeface="Calibri"/>
              </a:rPr>
              <a:t>● </a:t>
            </a:r>
            <a:r>
              <a:rPr sz="1450" b="1" i="0">
                <a:solidFill>
                  <a:srgbClr val="1F6FB2"/>
                </a:solidFill>
                <a:latin typeface="Calibri"/>
              </a:rPr>
              <a:t>Vì sao: </a:t>
            </a:r>
            <a:r>
              <a:rPr sz="1450" b="0" i="0">
                <a:solidFill>
                  <a:srgbClr val="262B33"/>
                </a:solidFill>
                <a:latin typeface="Calibri"/>
              </a:rPr>
              <a:t>Test cố định, dùng lại y hệt qua cả 6 mốc ⇒ 6 điểm hiệu năng SO SÁNH ĐƯỢC.</a:t>
            </a:r>
          </a:p>
          <a:p>
            <a:pPr>
              <a:lnSpc>
                <a:spcPct val="104000"/>
              </a:lnSpc>
              <a:spcBef>
                <a:spcPts val="600"/>
              </a:spcBef>
              <a:spcAft>
                <a:spcPts val="700"/>
              </a:spcAft>
            </a:pPr>
            <a:r>
              <a:rPr sz="1350" b="1" i="0">
                <a:solidFill>
                  <a:srgbClr val="E8722B"/>
                </a:solidFill>
                <a:latin typeface="Calibri"/>
              </a:rPr>
              <a:t>▶ Số liệu chốt:  </a:t>
            </a:r>
            <a:r>
              <a:rPr sz="1350" b="1" i="0">
                <a:solidFill>
                  <a:srgbClr val="0F2A4F"/>
                </a:solidFill>
                <a:latin typeface="Calibri"/>
              </a:rPr>
              <a:t>tests/test_leakage.py: 16/16 kiểm thử ĐẠT — bằng chứng tự động không rò rỉ.</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32</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KẾT LUẬN</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Tóm tắt Task 3</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Năm mục Task 3 đều hoàn thành với sản phẩm &amp; số liệu cụ thể (xem bảng).</a:t>
            </a:r>
          </a:p>
        </p:txBody>
      </p:sp>
      <p:graphicFrame>
        <p:nvGraphicFramePr>
          <p:cNvPr id="10" name="Table 9"/>
          <p:cNvGraphicFramePr>
            <a:graphicFrameLocks noGrp="1"/>
          </p:cNvGraphicFramePr>
          <p:nvPr/>
        </p:nvGraphicFramePr>
        <p:xfrm>
          <a:off x="548640" y="2468880"/>
          <a:ext cx="11155680" cy="1975104"/>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329184">
                <a:tc>
                  <a:txBody>
                    <a:bodyPr/>
                    <a:lstStyle/>
                    <a:p>
                      <a:r>
                        <a:rPr sz="1250" b="1" i="0">
                          <a:solidFill>
                            <a:srgbClr val="FFFFFF"/>
                          </a:solidFill>
                          <a:latin typeface="Calibri"/>
                        </a:rPr>
                        <a:t>Mục</a:t>
                      </a:r>
                    </a:p>
                  </a:txBody>
                  <a:tcPr marT="25400" marB="25400" anchor="ctr">
                    <a:solidFill>
                      <a:srgbClr val="0F2A4F"/>
                    </a:solidFill>
                  </a:tcPr>
                </a:tc>
                <a:tc>
                  <a:txBody>
                    <a:bodyPr/>
                    <a:lstStyle/>
                    <a:p>
                      <a:r>
                        <a:rPr sz="1250" b="1" i="0">
                          <a:solidFill>
                            <a:srgbClr val="FFFFFF"/>
                          </a:solidFill>
                          <a:latin typeface="Calibri"/>
                        </a:rPr>
                        <a:t>Kết quả của nhóm</a:t>
                      </a:r>
                    </a:p>
                  </a:txBody>
                  <a:tcPr marT="25400" marB="25400" anchor="ctr">
                    <a:solidFill>
                      <a:srgbClr val="0F2A4F"/>
                    </a:solidFill>
                  </a:tcPr>
                </a:tc>
                <a:extLst>
                  <a:ext uri="{0D108BD9-81ED-4DB2-BD59-A6C34878D82A}">
                    <a16:rowId xmlns:a16="http://schemas.microsoft.com/office/drawing/2014/main" val="10000"/>
                  </a:ext>
                </a:extLst>
              </a:tr>
              <a:tr h="329184">
                <a:tc>
                  <a:txBody>
                    <a:bodyPr/>
                    <a:lstStyle/>
                    <a:p>
                      <a:r>
                        <a:rPr sz="1250" b="1" i="0">
                          <a:solidFill>
                            <a:srgbClr val="0F2A4F"/>
                          </a:solidFill>
                          <a:latin typeface="Calibri"/>
                        </a:rPr>
                        <a:t>1. Xác định dữ liệu</a:t>
                      </a:r>
                    </a:p>
                  </a:txBody>
                  <a:tcPr marT="12700" marB="12700" anchor="ctr">
                    <a:solidFill>
                      <a:srgbClr val="FFFFFF"/>
                    </a:solidFill>
                  </a:tcPr>
                </a:tc>
                <a:tc>
                  <a:txBody>
                    <a:bodyPr/>
                    <a:lstStyle/>
                    <a:p>
                      <a:r>
                        <a:rPr sz="1250" b="0" i="0">
                          <a:solidFill>
                            <a:srgbClr val="262B33"/>
                          </a:solidFill>
                          <a:latin typeface="Calibri"/>
                        </a:rPr>
                        <a:t>at_risk nhị phân 52,8%; 3 nhóm; 32.593 sv–môn–kỳ</a:t>
                      </a:r>
                    </a:p>
                  </a:txBody>
                  <a:tcPr marT="12700" marB="12700" anchor="ctr">
                    <a:solidFill>
                      <a:srgbClr val="FFFFFF"/>
                    </a:solidFill>
                  </a:tcPr>
                </a:tc>
                <a:extLst>
                  <a:ext uri="{0D108BD9-81ED-4DB2-BD59-A6C34878D82A}">
                    <a16:rowId xmlns:a16="http://schemas.microsoft.com/office/drawing/2014/main" val="10001"/>
                  </a:ext>
                </a:extLst>
              </a:tr>
              <a:tr h="329184">
                <a:tc>
                  <a:txBody>
                    <a:bodyPr/>
                    <a:lstStyle/>
                    <a:p>
                      <a:r>
                        <a:rPr sz="1250" b="1" i="0">
                          <a:solidFill>
                            <a:srgbClr val="0F2A4F"/>
                          </a:solidFill>
                          <a:latin typeface="Calibri"/>
                        </a:rPr>
                        <a:t>2. Thu thập</a:t>
                      </a:r>
                    </a:p>
                  </a:txBody>
                  <a:tcPr marT="12700" marB="12700" anchor="ctr">
                    <a:solidFill>
                      <a:srgbClr val="F2F4F7"/>
                    </a:solidFill>
                  </a:tcPr>
                </a:tc>
                <a:tc>
                  <a:txBody>
                    <a:bodyPr/>
                    <a:lstStyle/>
                    <a:p>
                      <a:r>
                        <a:rPr sz="1250" b="0" i="0">
                          <a:solidFill>
                            <a:srgbClr val="262B33"/>
                          </a:solidFill>
                          <a:latin typeface="Calibri"/>
                        </a:rPr>
                        <a:t>OULAD CC-BY 4.0; 7 bảng; 10,6 triệu click; có MD5</a:t>
                      </a:r>
                    </a:p>
                  </a:txBody>
                  <a:tcPr marT="12700" marB="12700" anchor="ctr">
                    <a:solidFill>
                      <a:srgbClr val="F2F4F7"/>
                    </a:solidFill>
                  </a:tcPr>
                </a:tc>
                <a:extLst>
                  <a:ext uri="{0D108BD9-81ED-4DB2-BD59-A6C34878D82A}">
                    <a16:rowId xmlns:a16="http://schemas.microsoft.com/office/drawing/2014/main" val="10002"/>
                  </a:ext>
                </a:extLst>
              </a:tr>
              <a:tr h="329184">
                <a:tc>
                  <a:txBody>
                    <a:bodyPr/>
                    <a:lstStyle/>
                    <a:p>
                      <a:r>
                        <a:rPr sz="1250" b="1" i="0">
                          <a:solidFill>
                            <a:srgbClr val="0F2A4F"/>
                          </a:solidFill>
                          <a:latin typeface="Calibri"/>
                        </a:rPr>
                        <a:t>3. Làm sạch</a:t>
                      </a:r>
                    </a:p>
                  </a:txBody>
                  <a:tcPr marT="12700" marB="12700" anchor="ctr">
                    <a:solidFill>
                      <a:srgbClr val="FFFFFF"/>
                    </a:solidFill>
                  </a:tcPr>
                </a:tc>
                <a:tc>
                  <a:txBody>
                    <a:bodyPr/>
                    <a:lstStyle/>
                    <a:p>
                      <a:r>
                        <a:rPr sz="1250" b="0" i="0">
                          <a:solidFill>
                            <a:srgbClr val="262B33"/>
                          </a:solidFill>
                          <a:latin typeface="Calibri"/>
                        </a:rPr>
                        <a:t>0 trùng; log1p+winsorize, 0 dòng bị xoá; master 32.593×33</a:t>
                      </a:r>
                    </a:p>
                  </a:txBody>
                  <a:tcPr marT="12700" marB="12700" anchor="ctr">
                    <a:solidFill>
                      <a:srgbClr val="FFFFFF"/>
                    </a:solidFill>
                  </a:tcPr>
                </a:tc>
                <a:extLst>
                  <a:ext uri="{0D108BD9-81ED-4DB2-BD59-A6C34878D82A}">
                    <a16:rowId xmlns:a16="http://schemas.microsoft.com/office/drawing/2014/main" val="10003"/>
                  </a:ext>
                </a:extLst>
              </a:tr>
              <a:tr h="329184">
                <a:tc>
                  <a:txBody>
                    <a:bodyPr/>
                    <a:lstStyle/>
                    <a:p>
                      <a:r>
                        <a:rPr sz="1250" b="1" i="0">
                          <a:solidFill>
                            <a:srgbClr val="0F2A4F"/>
                          </a:solidFill>
                          <a:latin typeface="Calibri"/>
                        </a:rPr>
                        <a:t>4. Chuẩn hoá &amp; biến đổi</a:t>
                      </a:r>
                    </a:p>
                  </a:txBody>
                  <a:tcPr marT="12700" marB="12700" anchor="ctr">
                    <a:solidFill>
                      <a:srgbClr val="F2F4F7"/>
                    </a:solidFill>
                  </a:tcPr>
                </a:tc>
                <a:tc>
                  <a:txBody>
                    <a:bodyPr/>
                    <a:lstStyle/>
                    <a:p>
                      <a:r>
                        <a:rPr sz="1250" b="0" i="0">
                          <a:solidFill>
                            <a:srgbClr val="262B33"/>
                          </a:solidFill>
                          <a:latin typeface="Calibri"/>
                        </a:rPr>
                        <a:t>Ordinal+OneHot+Binary; StandardScaler; d≤2,55; RQ3</a:t>
                      </a:r>
                    </a:p>
                  </a:txBody>
                  <a:tcPr marT="12700" marB="12700" anchor="ctr">
                    <a:solidFill>
                      <a:srgbClr val="F2F4F7"/>
                    </a:solidFill>
                  </a:tcPr>
                </a:tc>
                <a:extLst>
                  <a:ext uri="{0D108BD9-81ED-4DB2-BD59-A6C34878D82A}">
                    <a16:rowId xmlns:a16="http://schemas.microsoft.com/office/drawing/2014/main" val="10004"/>
                  </a:ext>
                </a:extLst>
              </a:tr>
              <a:tr h="329184">
                <a:tc>
                  <a:txBody>
                    <a:bodyPr/>
                    <a:lstStyle/>
                    <a:p>
                      <a:r>
                        <a:rPr sz="1250" b="1" i="0">
                          <a:solidFill>
                            <a:srgbClr val="0F2A4F"/>
                          </a:solidFill>
                          <a:latin typeface="Calibri"/>
                        </a:rPr>
                        <a:t>5. Tách train/test</a:t>
                      </a:r>
                    </a:p>
                  </a:txBody>
                  <a:tcPr marT="12700" marB="12700" anchor="ctr">
                    <a:solidFill>
                      <a:srgbClr val="FFFFFF"/>
                    </a:solidFill>
                  </a:tcPr>
                </a:tc>
                <a:tc>
                  <a:txBody>
                    <a:bodyPr/>
                    <a:lstStyle/>
                    <a:p>
                      <a:r>
                        <a:rPr sz="1250" b="0" i="0">
                          <a:solidFill>
                            <a:srgbClr val="262B33"/>
                          </a:solidFill>
                          <a:latin typeface="Calibri"/>
                        </a:rPr>
                        <a:t>80/20 group+stratified; 6 mốc; 16/16 test đạt</a:t>
                      </a:r>
                    </a:p>
                  </a:txBody>
                  <a:tcPr marT="12700" marB="127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F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926080" cy="146304"/>
          </a:xfrm>
          <a:prstGeom prst="rect">
            <a:avLst/>
          </a:prstGeom>
          <a:solidFill>
            <a:srgbClr val="E87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6455664"/>
            <a:ext cx="8229600" cy="138499"/>
          </a:xfrm>
          <a:prstGeom prst="rect">
            <a:avLst/>
          </a:prstGeom>
          <a:noFill/>
        </p:spPr>
        <p:txBody>
          <a:bodyPr wrap="square" lIns="0" tIns="0" rIns="0" bIns="0">
            <a:spAutoFit/>
          </a:bodyPr>
          <a:lstStyle/>
          <a:p>
            <a:r>
              <a:rPr sz="900" b="0" i="0" dirty="0">
                <a:solidFill>
                  <a:srgbClr val="5B6370"/>
                </a:solidFill>
                <a:latin typeface="Calibri"/>
              </a:rPr>
              <a:t>DSP391m · </a:t>
            </a:r>
            <a:r>
              <a:rPr sz="900" b="0" i="0" dirty="0" err="1">
                <a:solidFill>
                  <a:srgbClr val="5B6370"/>
                </a:solidFill>
                <a:latin typeface="Calibri"/>
              </a:rPr>
              <a:t>Nhóm</a:t>
            </a:r>
            <a:r>
              <a:rPr sz="900" b="0" i="0" dirty="0">
                <a:solidFill>
                  <a:srgbClr val="5B6370"/>
                </a:solidFill>
                <a:latin typeface="Calibri"/>
              </a:rPr>
              <a:t> 1 · Task 3 — Thu </a:t>
            </a:r>
            <a:r>
              <a:rPr sz="900" b="0" i="0" dirty="0" err="1">
                <a:solidFill>
                  <a:srgbClr val="5B6370"/>
                </a:solidFill>
                <a:latin typeface="Calibri"/>
              </a:rPr>
              <a:t>thập</a:t>
            </a:r>
            <a:r>
              <a:rPr sz="900" b="0" i="0" dirty="0">
                <a:solidFill>
                  <a:srgbClr val="5B6370"/>
                </a:solidFill>
                <a:latin typeface="Calibri"/>
              </a:rPr>
              <a:t> &amp; </a:t>
            </a:r>
            <a:r>
              <a:rPr sz="900" b="0" i="0" dirty="0" err="1">
                <a:solidFill>
                  <a:srgbClr val="5B6370"/>
                </a:solidFill>
                <a:latin typeface="Calibri"/>
              </a:rPr>
              <a:t>Tiền</a:t>
            </a:r>
            <a:r>
              <a:rPr sz="900" b="0" i="0" dirty="0">
                <a:solidFill>
                  <a:srgbClr val="5B6370"/>
                </a:solidFill>
                <a:latin typeface="Calibri"/>
              </a:rPr>
              <a:t> </a:t>
            </a:r>
            <a:r>
              <a:rPr sz="900" b="0" i="0" dirty="0" err="1">
                <a:solidFill>
                  <a:srgbClr val="5B6370"/>
                </a:solidFill>
                <a:latin typeface="Calibri"/>
              </a:rPr>
              <a:t>xử</a:t>
            </a:r>
            <a:r>
              <a:rPr sz="900" b="0" i="0" dirty="0">
                <a:solidFill>
                  <a:srgbClr val="5B6370"/>
                </a:solidFill>
                <a:latin typeface="Calibri"/>
              </a:rPr>
              <a:t> </a:t>
            </a:r>
            <a:r>
              <a:rPr sz="900" b="0" i="0" dirty="0" err="1">
                <a:solidFill>
                  <a:srgbClr val="5B6370"/>
                </a:solidFill>
                <a:latin typeface="Calibri"/>
              </a:rPr>
              <a:t>lý</a:t>
            </a:r>
            <a:r>
              <a:rPr sz="900" b="0" i="0" dirty="0">
                <a:solidFill>
                  <a:srgbClr val="5B6370"/>
                </a:solidFill>
                <a:latin typeface="Calibri"/>
              </a:rPr>
              <a:t> </a:t>
            </a:r>
            <a:r>
              <a:rPr sz="900" b="0" i="0" dirty="0" err="1">
                <a:solidFill>
                  <a:srgbClr val="5B6370"/>
                </a:solidFill>
                <a:latin typeface="Calibri"/>
              </a:rPr>
              <a:t>dữ</a:t>
            </a:r>
            <a:r>
              <a:rPr sz="900" b="0" i="0" dirty="0">
                <a:solidFill>
                  <a:srgbClr val="5B6370"/>
                </a:solidFill>
                <a:latin typeface="Calibri"/>
              </a:rPr>
              <a:t> </a:t>
            </a:r>
            <a:r>
              <a:rPr sz="900" b="0" i="0" dirty="0" err="1">
                <a:solidFill>
                  <a:srgbClr val="5B6370"/>
                </a:solidFill>
                <a:latin typeface="Calibri"/>
              </a:rPr>
              <a:t>liệu</a:t>
            </a:r>
            <a:r>
              <a:rPr sz="900" b="1" i="0" dirty="0">
                <a:solidFill>
                  <a:srgbClr val="E8722B"/>
                </a:solidFill>
                <a:latin typeface="Calibri"/>
              </a:rPr>
              <a:t>   ·   </a:t>
            </a:r>
          </a:p>
        </p:txBody>
      </p:sp>
      <p:sp>
        <p:nvSpPr>
          <p:cNvPr id="5" name="TextBox 4"/>
          <p:cNvSpPr txBox="1"/>
          <p:nvPr/>
        </p:nvSpPr>
        <p:spPr>
          <a:xfrm>
            <a:off x="11155680" y="6455664"/>
            <a:ext cx="822960" cy="310896"/>
          </a:xfrm>
          <a:prstGeom prst="rect">
            <a:avLst/>
          </a:prstGeom>
          <a:noFill/>
        </p:spPr>
        <p:txBody>
          <a:bodyPr wrap="square" lIns="0" tIns="0" rIns="0" bIns="0">
            <a:spAutoFit/>
          </a:bodyPr>
          <a:lstStyle/>
          <a:p>
            <a:pPr algn="r"/>
            <a:r>
              <a:rPr sz="1000" b="1" i="0">
                <a:solidFill>
                  <a:srgbClr val="0F2A4F"/>
                </a:solidFill>
                <a:latin typeface="Calibri"/>
              </a:rPr>
              <a:t>33</a:t>
            </a:r>
          </a:p>
        </p:txBody>
      </p:sp>
      <p:sp>
        <p:nvSpPr>
          <p:cNvPr id="6" name="TextBox 5"/>
          <p:cNvSpPr txBox="1"/>
          <p:nvPr/>
        </p:nvSpPr>
        <p:spPr>
          <a:xfrm>
            <a:off x="502920" y="292608"/>
            <a:ext cx="10972800" cy="365760"/>
          </a:xfrm>
          <a:prstGeom prst="rect">
            <a:avLst/>
          </a:prstGeom>
          <a:noFill/>
        </p:spPr>
        <p:txBody>
          <a:bodyPr wrap="square" lIns="0" tIns="0" rIns="0" bIns="0">
            <a:spAutoFit/>
          </a:bodyPr>
          <a:lstStyle/>
          <a:p>
            <a:r>
              <a:rPr sz="1200" b="1" i="0">
                <a:solidFill>
                  <a:srgbClr val="E8722B"/>
                </a:solidFill>
                <a:latin typeface="Calibri"/>
              </a:rPr>
              <a:t>KẾT LUẬN</a:t>
            </a:r>
          </a:p>
        </p:txBody>
      </p:sp>
      <p:sp>
        <p:nvSpPr>
          <p:cNvPr id="7" name="TextBox 6"/>
          <p:cNvSpPr txBox="1"/>
          <p:nvPr/>
        </p:nvSpPr>
        <p:spPr>
          <a:xfrm>
            <a:off x="502920" y="603504"/>
            <a:ext cx="11155680" cy="868680"/>
          </a:xfrm>
          <a:prstGeom prst="rect">
            <a:avLst/>
          </a:prstGeom>
          <a:noFill/>
        </p:spPr>
        <p:txBody>
          <a:bodyPr wrap="square" lIns="0" tIns="0" rIns="0" bIns="0">
            <a:spAutoFit/>
          </a:bodyPr>
          <a:lstStyle/>
          <a:p>
            <a:r>
              <a:rPr sz="2500" b="1" i="0">
                <a:solidFill>
                  <a:srgbClr val="0F2A4F"/>
                </a:solidFill>
                <a:latin typeface="Calibri"/>
              </a:rPr>
              <a:t>Đầu ra &amp; bước tiếp theo</a:t>
            </a:r>
          </a:p>
        </p:txBody>
      </p:sp>
      <p:sp>
        <p:nvSpPr>
          <p:cNvPr id="8" name="Rectangle 7"/>
          <p:cNvSpPr/>
          <p:nvPr/>
        </p:nvSpPr>
        <p:spPr>
          <a:xfrm>
            <a:off x="502920" y="1481328"/>
            <a:ext cx="11155680" cy="22860"/>
          </a:xfrm>
          <a:prstGeom prst="rect">
            <a:avLst/>
          </a:prstGeom>
          <a:solidFill>
            <a:srgbClr val="D8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11155680" cy="4572000"/>
          </a:xfrm>
          <a:prstGeom prst="rect">
            <a:avLst/>
          </a:prstGeom>
          <a:noFill/>
        </p:spPr>
        <p:txBody>
          <a:bodyPr wrap="square" lIns="0" tIns="0" rIns="0" bIns="0" anchor="t">
            <a:spAutoFit/>
          </a:bodyPr>
          <a:lstStyle/>
          <a:p>
            <a:pPr>
              <a:lnSpc>
                <a:spcPct val="104000"/>
              </a:lnSpc>
              <a:spcAft>
                <a:spcPts val="700"/>
              </a:spcAft>
            </a:pPr>
            <a:r>
              <a:rPr sz="1300" b="1" i="0">
                <a:solidFill>
                  <a:srgbClr val="B97A0C"/>
                </a:solidFill>
                <a:latin typeface="Calibri"/>
              </a:rPr>
              <a:t>● </a:t>
            </a:r>
            <a:r>
              <a:rPr sz="1450" b="1" i="0">
                <a:solidFill>
                  <a:srgbClr val="B97A0C"/>
                </a:solidFill>
                <a:latin typeface="Calibri"/>
              </a:rPr>
              <a:t>Kết quả: </a:t>
            </a:r>
            <a:r>
              <a:rPr sz="1450" b="0" i="0">
                <a:solidFill>
                  <a:srgbClr val="262B33"/>
                </a:solidFill>
                <a:latin typeface="Calibri"/>
              </a:rPr>
              <a:t>Đầu ra Task 3: master_raw + 6 bộ dataset_t10…t100 + tập test cố định + pipeline tái lập (seed=42, MD5, Restart &amp; Run All).</a:t>
            </a:r>
          </a:p>
          <a:p>
            <a:pPr>
              <a:lnSpc>
                <a:spcPct val="104000"/>
              </a:lnSpc>
              <a:spcAft>
                <a:spcPts val="700"/>
              </a:spcAft>
            </a:pPr>
            <a:r>
              <a:rPr sz="1300" b="1" i="0">
                <a:solidFill>
                  <a:srgbClr val="1E8E4E"/>
                </a:solidFill>
                <a:latin typeface="Calibri"/>
              </a:rPr>
              <a:t>● </a:t>
            </a:r>
            <a:r>
              <a:rPr sz="1450" b="1" i="0">
                <a:solidFill>
                  <a:srgbClr val="1E8E4E"/>
                </a:solidFill>
                <a:latin typeface="Calibri"/>
              </a:rPr>
              <a:t>Làm gì: </a:t>
            </a:r>
            <a:r>
              <a:rPr sz="1450" b="0" i="0">
                <a:solidFill>
                  <a:srgbClr val="262B33"/>
                </a:solidFill>
                <a:latin typeface="Calibri"/>
              </a:rPr>
              <a:t>Bước tiếp: benchmark mô hình theo từng mốc (RQ1) → xử lý mất cân bằng (RQ3) → SHAP/LIME &amp; độ ổn định giải thích (RQ2).</a:t>
            </a:r>
          </a:p>
          <a:p>
            <a:pPr>
              <a:lnSpc>
                <a:spcPct val="104000"/>
              </a:lnSpc>
              <a:spcBef>
                <a:spcPts val="400"/>
              </a:spcBef>
              <a:spcAft>
                <a:spcPts val="700"/>
              </a:spcAft>
            </a:pPr>
            <a:r>
              <a:rPr sz="1200" b="0" i="1">
                <a:solidFill>
                  <a:srgbClr val="5B6370"/>
                </a:solidFill>
                <a:latin typeface="Calibri"/>
              </a:rPr>
              <a:t>Cảm ơn thầy/cô và cả lớp — nhóm sẵn sàng trả lời câu hỏi.</a:t>
            </a:r>
          </a:p>
        </p:txBody>
      </p:sp>
      <p:sp>
        <p:nvSpPr>
          <p:cNvPr id="10" name="TextBox 9"/>
          <p:cNvSpPr txBox="1"/>
          <p:nvPr/>
        </p:nvSpPr>
        <p:spPr>
          <a:xfrm>
            <a:off x="548640" y="5486400"/>
            <a:ext cx="11155680" cy="731520"/>
          </a:xfrm>
          <a:prstGeom prst="rect">
            <a:avLst/>
          </a:prstGeom>
          <a:noFill/>
        </p:spPr>
        <p:txBody>
          <a:bodyPr wrap="square" lIns="0" tIns="0" rIns="0" bIns="0">
            <a:spAutoFit/>
          </a:bodyPr>
          <a:lstStyle/>
          <a:p>
            <a:r>
              <a:rPr sz="2200" b="1" i="0">
                <a:solidFill>
                  <a:srgbClr val="E8722B"/>
                </a:solidFill>
                <a:latin typeface="Calibri"/>
              </a:rPr>
              <a:t>Cảm 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6904</Words>
  <Application>Microsoft Office PowerPoint</Application>
  <PresentationFormat>Widescreen</PresentationFormat>
  <Paragraphs>381</Paragraphs>
  <Slides>39</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Thanh Bình</cp:lastModifiedBy>
  <cp:revision>4</cp:revision>
  <dcterms:created xsi:type="dcterms:W3CDTF">2013-01-27T09:14:16Z</dcterms:created>
  <dcterms:modified xsi:type="dcterms:W3CDTF">2026-06-17T16:57:20Z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2026-06-17T16:33:12Z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d9382cd0-3731-4d9d-af3f-34022821cdc4</vt:lpwstr>
  </property>
  <property fmtid="{D5CDD505-2E9C-101B-9397-08002B2CF9AE}" pid="7" name="MSIP_Label_defa4170-0d19-0005-0004-bc88714345d2_ActionId">
    <vt:lpwstr>b0d302b6-1ef4-4735-b8f6-c1b3636d4a2b</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