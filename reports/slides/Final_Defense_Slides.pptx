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thầy/cô và các bạn. Nhóm 1 bảo vệ đồ án cuối kỳ: hệ thống machine learning nhận diện sớm sinh viên nguy cơ trên bộ dữ liệu OULAD — nhấn mạnh ba chữ: sớm, giải thích được, và trung thực về giới hạn.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toán: phân loại nhị phân sinh viên nguy cơ theo từng mốc tiến độ. Ba câu hỏi nghiên cứu: RQ1 dự đoán sớm được đến đâu; RQ2 lời giải thích có ổn định không; RQ3 xử lý mất cân bằng ảnh hưởng gì đến cả hiệu năng lẫn lời giải thích.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Dữ liệu là OULAD công khai của Open University: 32.593 lượt ghi danh của 28.785 sinh viên trên 22 khóa-kỳ, kèm log VLE khoảng 10,6 triệu click. Pipeline gộp 7 bảng thành bảng master rồi cắt theo 6 mốc tiến độ để mô phỏng dự đoán sớm.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Bốn quy tắc chống rò rỉ: cắt theo thời gian trước khi tính đặc trưng, fit-on-train, chia nhóm theo sinh viên, và tập test đóng băng chỉ chạm một lần. Split được kiểm bằng bộ test tự động: không sinh viên nào xuất hiện ở cả hai phía, tỷ lệ nhãn hai phía gần nhau.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Năm thuật toán từ tuyến tính đến boosting và mạng nơ-ron. Giao thức: cross-validation 5 fold lặp 5 seed trên train, kiểm định Friedman để so sánh có ý nghĩa thống kê, rồi mới đánh giá một lần duy nhất trên test. Chỉ số chính là recall và PR-AUC của lớp at-risk.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hiệu năng năm model trên tập test tại mốc 100%, chưa xử lý mất cân bằng, sắp theo recall. XGBoost dẫn đầu recall, LightGBM nhỉnh về PR-AUC; chênh lệch nhỏ nên nhóm chọn XGBoost làm model chính nhờ recall và hệ sinh thái giải thích.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kết luận không phụ thuộc một lần chia may mắn, nhóm chạy CV 5 fold lặp 5 seed — 25 khối — rồi kiểm định Friedman trên rank. Kết quả: khác biệt giữa các model có ý nghĩa thống kê; XGBoost đứng đầu về recall, LightGBM về PR-AUC, nhưng biên độ tuyệt đối nhỏ.</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Trả lời RQ1: chạy toàn bộ giao thức tại sáu mốc tiến độ. Hiệu năng tăng đơn điệu theo lượng dữ liệu; hai mốc rất sớm 10 và 20 phần trăm còn yếu, từ mốc 40 phần trăm trở đi recall vượt ngưỡng nhóm coi là dùng được để can thiệp.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quan trọng nhất. Recall toàn-cohort trông đẹp một phần vì tính cả sinh viên đã rút trước mốc dự đoán. Khi chỉ xét cohort còn đang học — nhóm ta thực sự can thiệp được — recall đạt 0,80 từ mốc 40 phần trăm trên full nhưng phải đến mốc 100 phần trăm trên active. Nhóm chủ động trình bày cả hai con số thay vì chỉ con số đẹp.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Ngưỡng quyết định được chọn trên tập validation theo từng chính sách — mặc định, tối ưu F1, Youden, hay ràng buộc recall — rồi mới áp một lần lên test. Số trên validation và test khớp nhau, chứng tỏ ngưỡng khái quát tốt và không có rò rỉ lựa chọn.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Vế thứ nhất của RQ3: về hiệu năng, bốn chiến lược xử lý mất cân bằng cho recall chênh nhau không quá một điểm phần trăm trên mọi model — hợp lý vì lớp at-risk chiếm khoảng 52 phần trăm, gần cân bằng. Nhưng đó chưa phải toàn bộ câu chuyện — sang slide sau.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Vế thứ hai của RQ3 và toàn bộ RQ2. Cùng hiệu năng nhưng SMOTE với ADASYN làm xáo trộn top-10 đặc trưng — Jaccard thấp nhất khoảng 0,54. Trong khi đó đổi seed thì giải thích khá ổn định: Spearman trung bình 0,97. Bài học: muốn giải thích nhất quán, tránh resampling tổng hợp khi dữ liệu đã gần cân bằng.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Mô hình được soi theo lăng kính công bằng: chênh lệch recall lớn nhất nằm ở nhóm chỉ số khó khăn kinh tế imd_band, khoảng sáu điểm phần trăm giữa mười một nhóm; giới tính, độ tuổi, khuyết tật gap nhỏ. Kết luận: chưa thấy thiên lệch nghiêm trọng nhưng phải giám sát tiếp khi dùng thật.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Sản phẩm ứng dụng: dashboard Streamlit cho cố vấn học tập — chọn khóa và mốc tiến độ, nhận danh sách sinh viên xếp theo rủi ro kèm giải thích SHAP từng em. Điểm đáng chú ý là bộ lọc còn-đang-học: mặc định chỉ hiện sinh viên còn can thiệp được, nhất quán với phân tích dual-cohort.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luận: RQ1 — dự đoán sớm dùng được từ giữa khóa, nhưng nhóm trung thực báo cả recall trên cohort còn đang học vốn thấp hơn; RQ2 — giải thích ổn định theo seed; RQ3 — resampling không giúp hiệu năng mà còn làm xáo trộn lời giải thích, nên khuyến nghị không resample. Hạn chế chính: một bộ dữ liệu cũ, nhãn withdrawn nhiễu, chưa kiểm chứng ngoài.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Cảm ơn thầy cô và các bạn đã lắng nghe. Nhóm sẵn sàng trả lời câu hỏi — mọi con số trên slide đều truy được về file CSV và mã nguồn trong repo.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64008"/>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468880"/>
            <a:ext cx="10515600" cy="2011680"/>
          </a:xfrm>
          <a:prstGeom prst="rect">
            <a:avLst/>
          </a:prstGeom>
          <a:noFill/>
        </p:spPr>
        <p:txBody>
          <a:bodyPr wrap="square" lIns="0" rIns="0" tIns="0" bIns="0">
            <a:spAutoFit/>
          </a:bodyPr>
          <a:lstStyle/>
          <a:p>
            <a:r>
              <a:rPr sz="3300" b="1" i="0">
                <a:solidFill>
                  <a:srgbClr val="FFFFFF"/>
                </a:solidFill>
                <a:latin typeface="Calibri"/>
              </a:rPr>
              <a:t>Time-Aware Explainable ML — phát hiện sớm sinh viên nguy cơ (OULAD)</a:t>
            </a:r>
          </a:p>
          <a:p>
            <a:pPr>
              <a:spcBef>
                <a:spcPts val="1000"/>
              </a:spcBef>
            </a:pPr>
            <a:r>
              <a:rPr sz="1600" b="0" i="1">
                <a:solidFill>
                  <a:srgbClr val="CFDCEC"/>
                </a:solidFill>
                <a:latin typeface="Calibri"/>
              </a:rPr>
              <a:t>Bảo vệ cuối kỳ: từ dữ liệu chống rò rỉ đến dự đoán sớm, giải thích được &amp; công bằng</a:t>
            </a:r>
          </a:p>
        </p:txBody>
      </p:sp>
      <p:sp>
        <p:nvSpPr>
          <p:cNvPr id="5" name="TextBox 4"/>
          <p:cNvSpPr txBox="1"/>
          <p:nvPr/>
        </p:nvSpPr>
        <p:spPr>
          <a:xfrm>
            <a:off x="822960" y="1371600"/>
            <a:ext cx="10058400" cy="640080"/>
          </a:xfrm>
          <a:prstGeom prst="rect">
            <a:avLst/>
          </a:prstGeom>
          <a:noFill/>
        </p:spPr>
        <p:txBody>
          <a:bodyPr wrap="square" lIns="0" rIns="0" tIns="0" bIns="0">
            <a:spAutoFit/>
          </a:bodyPr>
          <a:lstStyle/>
          <a:p>
            <a:r>
              <a:rPr sz="1500" b="1" i="0">
                <a:solidFill>
                  <a:srgbClr val="E8722B"/>
                </a:solidFill>
                <a:latin typeface="Calibri"/>
              </a:rPr>
              <a:t>BẢO VỆ CUỐI KỲ</a:t>
            </a:r>
          </a:p>
        </p:txBody>
      </p:sp>
      <p:sp>
        <p:nvSpPr>
          <p:cNvPr id="6" name="TextBox 5"/>
          <p:cNvSpPr txBox="1"/>
          <p:nvPr/>
        </p:nvSpPr>
        <p:spPr>
          <a:xfrm>
            <a:off x="822960" y="4846320"/>
            <a:ext cx="10515600" cy="1554480"/>
          </a:xfrm>
          <a:prstGeom prst="rect">
            <a:avLst/>
          </a:prstGeom>
          <a:noFill/>
        </p:spPr>
        <p:txBody>
          <a:bodyPr wrap="square" lIns="0" rIns="0" tIns="0" bIns="0">
            <a:spAutoFit/>
          </a:bodyPr>
          <a:lstStyle/>
          <a:p>
            <a:pPr>
              <a:spcAft>
                <a:spcPts val="200"/>
              </a:spcAft>
            </a:pPr>
            <a:r>
              <a:rPr sz="1300" b="0" i="0">
                <a:solidFill>
                  <a:srgbClr val="D7E0EC"/>
                </a:solidFill>
                <a:latin typeface="Calibri"/>
              </a:rPr>
              <a:t>DSP391m · Đồ án Khoa học Dữ liệu · Nhóm 1 · Đại học FPT</a:t>
            </a:r>
          </a:p>
          <a:p>
            <a:pPr>
              <a:spcAft>
                <a:spcPts val="200"/>
              </a:spcAft>
            </a:pPr>
            <a:r>
              <a:rPr sz="1300" b="0" i="0">
                <a:solidFill>
                  <a:srgbClr val="D7E0EC"/>
                </a:solidFill>
                <a:latin typeface="Calibri"/>
              </a:rPr>
              <a:t>GVHD: Nguyễn Thị Hoàng Yến</a:t>
            </a:r>
          </a:p>
          <a:p>
            <a:pPr>
              <a:spcBef>
                <a:spcPts val="600"/>
              </a:spcBef>
            </a:pPr>
            <a:r>
              <a:rPr sz="1250" b="1" i="0">
                <a:solidFill>
                  <a:srgbClr val="FFFFFF"/>
                </a:solidFill>
                <a:latin typeface="Calibri"/>
              </a:rPr>
              <a:t>Nhóm 1: Phúc · Đức · Khoa · Bình · An · Sơn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55664"/>
            <a:ext cx="8686800" cy="310896"/>
          </a:xfrm>
          <a:prstGeom prst="rect">
            <a:avLst/>
          </a:prstGeom>
          <a:noFill/>
        </p:spPr>
        <p:txBody>
          <a:bodyPr wrap="square" lIns="0" rIns="0" tIns="0" bIns="0">
            <a:spAutoFit/>
          </a:bodyPr>
          <a:lstStyle/>
          <a:p>
            <a:r>
              <a:rPr sz="900" b="0" i="0">
                <a:solidFill>
                  <a:srgbClr val="5B6370"/>
                </a:solidFill>
                <a:latin typeface="Calibri"/>
              </a:rPr>
              <a:t>DSP391m · Nhóm 1 · Bảo vệ cuối kỳ</a:t>
            </a:r>
            <a:r>
              <a:rPr sz="900" b="1" i="0">
                <a:solidFill>
                  <a:srgbClr val="E8722B"/>
                </a:solidFill>
                <a:latin typeface="Calibri"/>
              </a:rPr>
              <a:t>   ·   Khoa</a:t>
            </a:r>
          </a:p>
        </p:txBody>
      </p:sp>
      <p:sp>
        <p:nvSpPr>
          <p:cNvPr id="5" name="TextBox 4"/>
          <p:cNvSpPr txBox="1"/>
          <p:nvPr/>
        </p:nvSpPr>
        <p:spPr>
          <a:xfrm>
            <a:off x="11155680" y="6455664"/>
            <a:ext cx="822960" cy="310896"/>
          </a:xfrm>
          <a:prstGeom prst="rect">
            <a:avLst/>
          </a:prstGeom>
          <a:noFill/>
        </p:spPr>
        <p:txBody>
          <a:bodyPr wrap="square" lIns="0" rIns="0" tIns="0" bIns="0">
            <a:spAutoFit/>
          </a:bodyPr>
          <a:lstStyle/>
          <a:p>
            <a:pPr algn="r"/>
            <a:r>
              <a:rPr sz="1000" b="1" i="0">
                <a:solidFill>
                  <a:srgbClr val="0F2A4F"/>
                </a:solidFill>
                <a:latin typeface="Calibri"/>
              </a:rPr>
              <a:t>2</a:t>
            </a:r>
          </a:p>
        </p:txBody>
      </p:sp>
      <p:sp>
        <p:nvSpPr>
          <p:cNvPr id="6" name="TextBox 5"/>
          <p:cNvSpPr txBox="1"/>
          <p:nvPr/>
        </p:nvSpPr>
        <p:spPr>
          <a:xfrm>
            <a:off x="502920" y="292608"/>
            <a:ext cx="10972800" cy="365760"/>
          </a:xfrm>
          <a:prstGeom prst="rect">
            <a:avLst/>
          </a:prstGeom>
          <a:noFill/>
        </p:spPr>
        <p:txBody>
          <a:bodyPr wrap="square" lIns="0" rIns="0" tIns="0" bIns="0">
            <a:spAutoFit/>
          </a:bodyPr>
          <a:lstStyle/>
          <a:p>
            <a:r>
              <a:rPr sz="1200" b="1" i="0">
                <a:solidFill>
                  <a:srgbClr val="E8722B"/>
                </a:solidFill>
                <a:latin typeface="Calibri"/>
              </a:rPr>
              <a:t>BÀI TOÁN</a:t>
            </a:r>
          </a:p>
        </p:txBody>
      </p:sp>
      <p:sp>
        <p:nvSpPr>
          <p:cNvPr id="7" name="TextBox 6"/>
          <p:cNvSpPr txBox="1"/>
          <p:nvPr/>
        </p:nvSpPr>
        <p:spPr>
          <a:xfrm>
            <a:off x="502920" y="603504"/>
            <a:ext cx="11155680" cy="868680"/>
          </a:xfrm>
          <a:prstGeom prst="rect">
            <a:avLst/>
          </a:prstGeom>
          <a:noFill/>
        </p:spPr>
        <p:txBody>
          <a:bodyPr wrap="square" lIns="0" rIns="0" tIns="0" bIns="0">
            <a:spAutoFit/>
          </a:bodyPr>
          <a:lstStyle/>
          <a:p>
            <a:r>
              <a:rPr sz="2500" b="1" i="0">
                <a:solidFill>
                  <a:srgbClr val="0F2A4F"/>
                </a:solidFill>
                <a:latin typeface="Calibri"/>
              </a:rPr>
              <a:t>Phát hiện sớm sinh viên nguy cơ &amp; 3 câu hỏi nghiên cứu</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11155680" cy="4572000"/>
          </a:xfrm>
          <a:prstGeom prst="rect">
            <a:avLst/>
          </a:prstGeom>
          <a:noFill/>
        </p:spPr>
        <p:txBody>
          <a:bodyPr wrap="square" lIns="0" rIns="0" t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Dự đoán nhị phân at-risk (Fail/Withdrawn) vs OK (Pass/Distinction) theo từng mốc tiến độ khóa học.</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Cảnh báo khi khóa học ĐÃ kết thúc là vô dụng — giá trị nằm ở dự đoán sớm, khi còn can thiệp được.</a:t>
            </a:r>
          </a:p>
          <a:p>
            <a:pPr>
              <a:lnSpc>
                <a:spcPct val="104000"/>
              </a:lnSpc>
              <a:spcAft>
                <a:spcPts val="700"/>
              </a:spcAft>
            </a:pPr>
            <a:r>
              <a:rPr sz="1200" b="1" i="0">
                <a:solidFill>
                  <a:srgbClr val="0F2A4F"/>
                </a:solidFill>
                <a:latin typeface="Calibri"/>
              </a:rPr>
              <a:t>▪ </a:t>
            </a:r>
            <a:r>
              <a:rPr sz="1450" b="0" i="0">
                <a:solidFill>
                  <a:srgbClr val="262B33"/>
                </a:solidFill>
                <a:latin typeface="Calibri"/>
              </a:rPr>
              <a:t>RQ1 — Sớm đến mức nào thì dự đoán còn tin cậy? (time-aware, 6 mốc 10–100%)</a:t>
            </a:r>
          </a:p>
          <a:p>
            <a:pPr>
              <a:lnSpc>
                <a:spcPct val="104000"/>
              </a:lnSpc>
              <a:spcAft>
                <a:spcPts val="700"/>
              </a:spcAft>
            </a:pPr>
            <a:r>
              <a:rPr sz="1200" b="1" i="0">
                <a:solidFill>
                  <a:srgbClr val="0F2A4F"/>
                </a:solidFill>
                <a:latin typeface="Calibri"/>
              </a:rPr>
              <a:t>▪ </a:t>
            </a:r>
            <a:r>
              <a:rPr sz="1450" b="0" i="0">
                <a:solidFill>
                  <a:srgbClr val="262B33"/>
                </a:solidFill>
                <a:latin typeface="Calibri"/>
              </a:rPr>
              <a:t>RQ2 — Giải thích của mô hình có ổn định không? (SHAP/LIME, seed, chiến lược)</a:t>
            </a:r>
          </a:p>
          <a:p>
            <a:pPr>
              <a:lnSpc>
                <a:spcPct val="104000"/>
              </a:lnSpc>
              <a:spcAft>
                <a:spcPts val="700"/>
              </a:spcAft>
            </a:pPr>
            <a:r>
              <a:rPr sz="1200" b="1" i="0">
                <a:solidFill>
                  <a:srgbClr val="0F2A4F"/>
                </a:solidFill>
                <a:latin typeface="Calibri"/>
              </a:rPr>
              <a:t>▪ </a:t>
            </a:r>
            <a:r>
              <a:rPr sz="1450" b="0" i="0">
                <a:solidFill>
                  <a:srgbClr val="262B33"/>
                </a:solidFill>
                <a:latin typeface="Calibri"/>
              </a:rPr>
              <a:t>RQ3 — Xử lý mất cân bằng có đổi hiệu năng và có đổi lời giải thích không?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55664"/>
            <a:ext cx="8686800" cy="310896"/>
          </a:xfrm>
          <a:prstGeom prst="rect">
            <a:avLst/>
          </a:prstGeom>
          <a:noFill/>
        </p:spPr>
        <p:txBody>
          <a:bodyPr wrap="square" lIns="0" rIns="0" tIns="0" bIns="0">
            <a:spAutoFit/>
          </a:bodyPr>
          <a:lstStyle/>
          <a:p>
            <a:r>
              <a:rPr sz="900" b="0" i="0">
                <a:solidFill>
                  <a:srgbClr val="5B6370"/>
                </a:solidFill>
                <a:latin typeface="Calibri"/>
              </a:rPr>
              <a:t>DSP391m · Nhóm 1 · Bảo vệ cuối kỳ</a:t>
            </a:r>
            <a:r>
              <a:rPr sz="900" b="1" i="0">
                <a:solidFill>
                  <a:srgbClr val="E8722B"/>
                </a:solidFill>
                <a:latin typeface="Calibri"/>
              </a:rPr>
              <a:t>   ·   Phúc</a:t>
            </a:r>
          </a:p>
        </p:txBody>
      </p:sp>
      <p:sp>
        <p:nvSpPr>
          <p:cNvPr id="5" name="TextBox 4"/>
          <p:cNvSpPr txBox="1"/>
          <p:nvPr/>
        </p:nvSpPr>
        <p:spPr>
          <a:xfrm>
            <a:off x="11155680" y="6455664"/>
            <a:ext cx="822960" cy="310896"/>
          </a:xfrm>
          <a:prstGeom prst="rect">
            <a:avLst/>
          </a:prstGeom>
          <a:noFill/>
        </p:spPr>
        <p:txBody>
          <a:bodyPr wrap="square" lIns="0" rIns="0" tIns="0" bIns="0">
            <a:spAutoFit/>
          </a:bodyPr>
          <a:lstStyle/>
          <a:p>
            <a:pPr algn="r"/>
            <a:r>
              <a:rPr sz="1000" b="1" i="0">
                <a:solidFill>
                  <a:srgbClr val="0F2A4F"/>
                </a:solidFill>
                <a:latin typeface="Calibri"/>
              </a:rPr>
              <a:t>3</a:t>
            </a:r>
          </a:p>
        </p:txBody>
      </p:sp>
      <p:sp>
        <p:nvSpPr>
          <p:cNvPr id="6" name="TextBox 5"/>
          <p:cNvSpPr txBox="1"/>
          <p:nvPr/>
        </p:nvSpPr>
        <p:spPr>
          <a:xfrm>
            <a:off x="502920" y="292608"/>
            <a:ext cx="10972800" cy="365760"/>
          </a:xfrm>
          <a:prstGeom prst="rect">
            <a:avLst/>
          </a:prstGeom>
          <a:noFill/>
        </p:spPr>
        <p:txBody>
          <a:bodyPr wrap="square" lIns="0" rIns="0" tIns="0" bIns="0">
            <a:spAutoFit/>
          </a:bodyPr>
          <a:lstStyle/>
          <a:p>
            <a:r>
              <a:rPr sz="1200" b="1" i="0">
                <a:solidFill>
                  <a:srgbClr val="E8722B"/>
                </a:solidFill>
                <a:latin typeface="Calibri"/>
              </a:rPr>
              <a:t>DỮ LIỆU</a:t>
            </a:r>
          </a:p>
        </p:txBody>
      </p:sp>
      <p:sp>
        <p:nvSpPr>
          <p:cNvPr id="7" name="TextBox 6"/>
          <p:cNvSpPr txBox="1"/>
          <p:nvPr/>
        </p:nvSpPr>
        <p:spPr>
          <a:xfrm>
            <a:off x="502920" y="603504"/>
            <a:ext cx="11155680" cy="868680"/>
          </a:xfrm>
          <a:prstGeom prst="rect">
            <a:avLst/>
          </a:prstGeom>
          <a:noFill/>
        </p:spPr>
        <p:txBody>
          <a:bodyPr wrap="square" lIns="0" rIns="0" tIns="0" bIns="0">
            <a:spAutoFit/>
          </a:bodyPr>
          <a:lstStyle/>
          <a:p>
            <a:r>
              <a:rPr sz="2500" b="1" i="0">
                <a:solidFill>
                  <a:srgbClr val="0F2A4F"/>
                </a:solidFill>
                <a:latin typeface="Calibri"/>
              </a:rPr>
              <a:t>OULAD — Open University Learning Analytics Dataset</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6263640" cy="4572000"/>
          </a:xfrm>
          <a:prstGeom prst="rect">
            <a:avLst/>
          </a:prstGeom>
          <a:noFill/>
        </p:spPr>
        <p:txBody>
          <a:bodyPr wrap="square" lIns="0" rIns="0" tIns="0" bIns="0" anchor="t">
            <a:spAutoFit/>
          </a:bodyPr>
          <a:lstStyle/>
          <a:p>
            <a:pPr>
              <a:lnSpc>
                <a:spcPct val="104000"/>
              </a:lnSpc>
              <a:spcAft>
                <a:spcPts val="700"/>
              </a:spcAft>
            </a:pPr>
            <a:r>
              <a:rPr sz="1200" b="1" i="0">
                <a:solidFill>
                  <a:srgbClr val="0F2A4F"/>
                </a:solidFill>
                <a:latin typeface="Calibri"/>
              </a:rPr>
              <a:t>▪ </a:t>
            </a:r>
            <a:r>
              <a:rPr sz="1450" b="0" i="0">
                <a:solidFill>
                  <a:srgbClr val="262B33"/>
                </a:solidFill>
                <a:latin typeface="Calibri"/>
              </a:rPr>
              <a:t>32.593 lượt ghi danh (enrolment) · 28.785 sinh viên · 22 khóa-kỳ (presentation).</a:t>
            </a:r>
          </a:p>
          <a:p>
            <a:pPr>
              <a:lnSpc>
                <a:spcPct val="104000"/>
              </a:lnSpc>
              <a:spcAft>
                <a:spcPts val="700"/>
              </a:spcAft>
            </a:pPr>
            <a:r>
              <a:rPr sz="1200" b="1" i="0">
                <a:solidFill>
                  <a:srgbClr val="0F2A4F"/>
                </a:solidFill>
                <a:latin typeface="Calibri"/>
              </a:rPr>
              <a:t>▪ </a:t>
            </a:r>
            <a:r>
              <a:rPr sz="1450" b="0" i="0">
                <a:solidFill>
                  <a:srgbClr val="262B33"/>
                </a:solidFill>
                <a:latin typeface="Calibri"/>
              </a:rPr>
              <a:t>7 bảng quan hệ; log VLE ~10,6 triệu lượt click là nguồn tín hiệu hành vi chính.</a:t>
            </a:r>
          </a:p>
          <a:p>
            <a:pPr>
              <a:lnSpc>
                <a:spcPct val="104000"/>
              </a:lnSpc>
              <a:spcAft>
                <a:spcPts val="700"/>
              </a:spcAft>
            </a:pPr>
            <a:r>
              <a:rPr sz="1200" b="1" i="0">
                <a:solidFill>
                  <a:srgbClr val="0F2A4F"/>
                </a:solidFill>
                <a:latin typeface="Calibri"/>
              </a:rPr>
              <a:t>▪ </a:t>
            </a:r>
            <a:r>
              <a:rPr sz="1450" b="0" i="0">
                <a:solidFill>
                  <a:srgbClr val="262B33"/>
                </a:solidFill>
                <a:latin typeface="Calibri"/>
              </a:rPr>
              <a:t>Nhãn: Fail + Withdrawn → at-risk; Pass + Distinction → OK (bài toán nhị phân).</a:t>
            </a:r>
          </a:p>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Pipeline 1 dòng: 7 bảng → master 32.593×33 → cắt 6 mốc t∈{10,20,40,60,80,100}% → tiền xử lý fit-on-train → 5 model.</a:t>
            </a:r>
          </a:p>
          <a:p>
            <a:pPr>
              <a:lnSpc>
                <a:spcPct val="104000"/>
              </a:lnSpc>
              <a:spcBef>
                <a:spcPts val="400"/>
              </a:spcBef>
              <a:spcAft>
                <a:spcPts val="700"/>
              </a:spcAft>
            </a:pPr>
            <a:r>
              <a:rPr sz="1200" b="0" i="1">
                <a:solidFill>
                  <a:srgbClr val="5B6370"/>
                </a:solidFill>
                <a:latin typeface="Calibri"/>
              </a:rPr>
              <a:t>Các con số trên là fact cấu trúc của bộ dữ liệu công khai (Kuzilek et al., 2017).</a:t>
            </a:r>
          </a:p>
        </p:txBody>
      </p:sp>
      <p:pic>
        <p:nvPicPr>
          <p:cNvPr id="10" name="Picture 9" descr="target_distribution.png"/>
          <p:cNvPicPr>
            <a:picLocks noChangeAspect="1"/>
          </p:cNvPicPr>
          <p:nvPr/>
        </p:nvPicPr>
        <p:blipFill>
          <a:blip r:embed="rId2"/>
          <a:stretch>
            <a:fillRect/>
          </a:stretch>
        </p:blipFill>
        <p:spPr>
          <a:xfrm>
            <a:off x="7040880" y="1783080"/>
            <a:ext cx="4709160" cy="1954852"/>
          </a:xfrm>
          <a:prstGeom prst="rect">
            <a:avLst/>
          </a:prstGeom>
        </p:spPr>
      </p:pic>
      <p:sp>
        <p:nvSpPr>
          <p:cNvPr id="11" name="TextBox 10"/>
          <p:cNvSpPr txBox="1"/>
          <p:nvPr/>
        </p:nvSpPr>
        <p:spPr>
          <a:xfrm>
            <a:off x="7040880" y="3783652"/>
            <a:ext cx="4709160" cy="365760"/>
          </a:xfrm>
          <a:prstGeom prst="rect">
            <a:avLst/>
          </a:prstGeom>
          <a:noFill/>
        </p:spPr>
        <p:txBody>
          <a:bodyPr wrap="square" lIns="0" rIns="0" tIns="0" bIns="0">
            <a:spAutoFit/>
          </a:bodyPr>
          <a:lstStyle/>
          <a:p>
            <a:pPr algn="ctr"/>
            <a:r>
              <a:rPr sz="950" b="0" i="1">
                <a:solidFill>
                  <a:srgbClr val="5B6370"/>
                </a:solidFill>
                <a:latin typeface="Calibri"/>
              </a:rPr>
              <a:t>Phân bố nhãn at-risk vs OK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55664"/>
            <a:ext cx="8686800" cy="310896"/>
          </a:xfrm>
          <a:prstGeom prst="rect">
            <a:avLst/>
          </a:prstGeom>
          <a:noFill/>
        </p:spPr>
        <p:txBody>
          <a:bodyPr wrap="square" lIns="0" rIns="0" tIns="0" bIns="0">
            <a:spAutoFit/>
          </a:bodyPr>
          <a:lstStyle/>
          <a:p>
            <a:r>
              <a:rPr sz="900" b="0" i="0">
                <a:solidFill>
                  <a:srgbClr val="5B6370"/>
                </a:solidFill>
                <a:latin typeface="Calibri"/>
              </a:rPr>
              <a:t>DSP391m · Nhóm 1 · Bảo vệ cuối kỳ</a:t>
            </a:r>
            <a:r>
              <a:rPr sz="900" b="1" i="0">
                <a:solidFill>
                  <a:srgbClr val="E8722B"/>
                </a:solidFill>
                <a:latin typeface="Calibri"/>
              </a:rPr>
              <a:t>   ·   Phúc</a:t>
            </a:r>
          </a:p>
        </p:txBody>
      </p:sp>
      <p:sp>
        <p:nvSpPr>
          <p:cNvPr id="5" name="TextBox 4"/>
          <p:cNvSpPr txBox="1"/>
          <p:nvPr/>
        </p:nvSpPr>
        <p:spPr>
          <a:xfrm>
            <a:off x="11155680" y="6455664"/>
            <a:ext cx="822960" cy="310896"/>
          </a:xfrm>
          <a:prstGeom prst="rect">
            <a:avLst/>
          </a:prstGeom>
          <a:noFill/>
        </p:spPr>
        <p:txBody>
          <a:bodyPr wrap="square" lIns="0" rIns="0" tIns="0" bIns="0">
            <a:spAutoFit/>
          </a:bodyPr>
          <a:lstStyle/>
          <a:p>
            <a:pPr algn="r"/>
            <a:r>
              <a:rPr sz="1000" b="1" i="0">
                <a:solidFill>
                  <a:srgbClr val="0F2A4F"/>
                </a:solidFill>
                <a:latin typeface="Calibri"/>
              </a:rPr>
              <a:t>4</a:t>
            </a:r>
          </a:p>
        </p:txBody>
      </p:sp>
      <p:sp>
        <p:nvSpPr>
          <p:cNvPr id="6" name="TextBox 5"/>
          <p:cNvSpPr txBox="1"/>
          <p:nvPr/>
        </p:nvSpPr>
        <p:spPr>
          <a:xfrm>
            <a:off x="502920" y="292608"/>
            <a:ext cx="10972800" cy="365760"/>
          </a:xfrm>
          <a:prstGeom prst="rect">
            <a:avLst/>
          </a:prstGeom>
          <a:noFill/>
        </p:spPr>
        <p:txBody>
          <a:bodyPr wrap="square" lIns="0" rIns="0" tIns="0" bIns="0">
            <a:spAutoFit/>
          </a:bodyPr>
          <a:lstStyle/>
          <a:p>
            <a:r>
              <a:rPr sz="1200" b="1" i="0">
                <a:solidFill>
                  <a:srgbClr val="E8722B"/>
                </a:solidFill>
                <a:latin typeface="Calibri"/>
              </a:rPr>
              <a:t>PHƯƠNG PHÁP · CHỐNG RÒ RỈ</a:t>
            </a:r>
          </a:p>
        </p:txBody>
      </p:sp>
      <p:sp>
        <p:nvSpPr>
          <p:cNvPr id="7" name="TextBox 6"/>
          <p:cNvSpPr txBox="1"/>
          <p:nvPr/>
        </p:nvSpPr>
        <p:spPr>
          <a:xfrm>
            <a:off x="502920" y="603504"/>
            <a:ext cx="11155680" cy="868680"/>
          </a:xfrm>
          <a:prstGeom prst="rect">
            <a:avLst/>
          </a:prstGeom>
          <a:noFill/>
        </p:spPr>
        <p:txBody>
          <a:bodyPr wrap="square" lIns="0" rIns="0" tIns="0" bIns="0">
            <a:spAutoFit/>
          </a:bodyPr>
          <a:lstStyle/>
          <a:p>
            <a:r>
              <a:rPr sz="2500" b="1" i="0">
                <a:solidFill>
                  <a:srgbClr val="0F2A4F"/>
                </a:solidFill>
                <a:latin typeface="Calibri"/>
              </a:rPr>
              <a:t>4 quy tắc chống leakage + tập test đóng băng</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6263640" cy="4572000"/>
          </a:xfrm>
          <a:prstGeom prst="rect">
            <a:avLst/>
          </a:prstGeom>
          <a:noFill/>
        </p:spPr>
        <p:txBody>
          <a:bodyPr wrap="square" lIns="0" rIns="0" t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4 quy tắc chống rò rỉ: (1) cắt dữ liệu theo thời gian TRƯỚC khi tính đặc trưng; (2) mọi bộ biến đổi fit-on-train; (3) chia nhóm theo id_student — không sinh viên nào nằm cả 2 phía; (4) tập test đóng băng, chỉ chạm 1 lần cuối.</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Chỉ cần 1 lỗi rò rỉ là toàn bộ kết quả 'đẹp' trở nên vô nghĩa khi triển khai.</a:t>
            </a:r>
          </a:p>
          <a:p>
            <a:pPr>
              <a:lnSpc>
                <a:spcPct val="104000"/>
              </a:lnSpc>
              <a:spcBef>
                <a:spcPts val="600"/>
              </a:spcBef>
              <a:spcAft>
                <a:spcPts val="700"/>
              </a:spcAft>
            </a:pPr>
            <a:r>
              <a:rPr sz="1350" b="1" i="0">
                <a:solidFill>
                  <a:srgbClr val="E8722B"/>
                </a:solidFill>
                <a:latin typeface="Calibri"/>
              </a:rPr>
              <a:t>▶ Số liệu chốt:  </a:t>
            </a:r>
            <a:r>
              <a:rPr sz="1350" b="1" i="0">
                <a:solidFill>
                  <a:srgbClr val="0F2A4F"/>
                </a:solidFill>
                <a:latin typeface="Calibri"/>
              </a:rPr>
              <a:t>Frozen split: train 26.104 / test 6.489 (5.756 SV) · lệch tỷ lệ at-risk 0,0096 · trùng sinh viên = 0.</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Bộ kiểm thử tự động (pytest) xác nhận các quy tắc trên trước mỗi lần chạy.</a:t>
            </a:r>
          </a:p>
        </p:txBody>
      </p:sp>
      <p:pic>
        <p:nvPicPr>
          <p:cNvPr id="10" name="Picture 9" descr="preprocessing_sequence.png"/>
          <p:cNvPicPr>
            <a:picLocks noChangeAspect="1"/>
          </p:cNvPicPr>
          <p:nvPr/>
        </p:nvPicPr>
        <p:blipFill>
          <a:blip r:embed="rId2"/>
          <a:stretch>
            <a:fillRect/>
          </a:stretch>
        </p:blipFill>
        <p:spPr>
          <a:xfrm>
            <a:off x="7040880" y="1783080"/>
            <a:ext cx="4709160" cy="3967503"/>
          </a:xfrm>
          <a:prstGeom prst="rect">
            <a:avLst/>
          </a:prstGeom>
        </p:spPr>
      </p:pic>
      <p:sp>
        <p:nvSpPr>
          <p:cNvPr id="11" name="TextBox 10"/>
          <p:cNvSpPr txBox="1"/>
          <p:nvPr/>
        </p:nvSpPr>
        <p:spPr>
          <a:xfrm>
            <a:off x="7040880" y="5796303"/>
            <a:ext cx="4709160" cy="365760"/>
          </a:xfrm>
          <a:prstGeom prst="rect">
            <a:avLst/>
          </a:prstGeom>
          <a:noFill/>
        </p:spPr>
        <p:txBody>
          <a:bodyPr wrap="square" lIns="0" rIns="0" tIns="0" bIns="0">
            <a:spAutoFit/>
          </a:bodyPr>
          <a:lstStyle/>
          <a:p>
            <a:pPr algn="ctr"/>
            <a:r>
              <a:rPr sz="950" b="0" i="1">
                <a:solidFill>
                  <a:srgbClr val="5B6370"/>
                </a:solidFill>
                <a:latin typeface="Calibri"/>
              </a:rPr>
              <a:t>Trình tự pipeline tiền xử lý (fit-on-train)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55664"/>
            <a:ext cx="8686800" cy="310896"/>
          </a:xfrm>
          <a:prstGeom prst="rect">
            <a:avLst/>
          </a:prstGeom>
          <a:noFill/>
        </p:spPr>
        <p:txBody>
          <a:bodyPr wrap="square" lIns="0" rIns="0" tIns="0" bIns="0">
            <a:spAutoFit/>
          </a:bodyPr>
          <a:lstStyle/>
          <a:p>
            <a:r>
              <a:rPr sz="900" b="0" i="0">
                <a:solidFill>
                  <a:srgbClr val="5B6370"/>
                </a:solidFill>
                <a:latin typeface="Calibri"/>
              </a:rPr>
              <a:t>DSP391m · Nhóm 1 · Bảo vệ cuối kỳ</a:t>
            </a:r>
            <a:r>
              <a:rPr sz="900" b="1" i="0">
                <a:solidFill>
                  <a:srgbClr val="E8722B"/>
                </a:solidFill>
                <a:latin typeface="Calibri"/>
              </a:rPr>
              <a:t>   ·   Đức</a:t>
            </a:r>
          </a:p>
        </p:txBody>
      </p:sp>
      <p:sp>
        <p:nvSpPr>
          <p:cNvPr id="5" name="TextBox 4"/>
          <p:cNvSpPr txBox="1"/>
          <p:nvPr/>
        </p:nvSpPr>
        <p:spPr>
          <a:xfrm>
            <a:off x="11155680" y="6455664"/>
            <a:ext cx="822960" cy="310896"/>
          </a:xfrm>
          <a:prstGeom prst="rect">
            <a:avLst/>
          </a:prstGeom>
          <a:noFill/>
        </p:spPr>
        <p:txBody>
          <a:bodyPr wrap="square" lIns="0" rIns="0" tIns="0" bIns="0">
            <a:spAutoFit/>
          </a:bodyPr>
          <a:lstStyle/>
          <a:p>
            <a:pPr algn="r"/>
            <a:r>
              <a:rPr sz="1000" b="1" i="0">
                <a:solidFill>
                  <a:srgbClr val="0F2A4F"/>
                </a:solidFill>
                <a:latin typeface="Calibri"/>
              </a:rPr>
              <a:t>5</a:t>
            </a:r>
          </a:p>
        </p:txBody>
      </p:sp>
      <p:sp>
        <p:nvSpPr>
          <p:cNvPr id="6" name="TextBox 5"/>
          <p:cNvSpPr txBox="1"/>
          <p:nvPr/>
        </p:nvSpPr>
        <p:spPr>
          <a:xfrm>
            <a:off x="502920" y="292608"/>
            <a:ext cx="10972800" cy="365760"/>
          </a:xfrm>
          <a:prstGeom prst="rect">
            <a:avLst/>
          </a:prstGeom>
          <a:noFill/>
        </p:spPr>
        <p:txBody>
          <a:bodyPr wrap="square" lIns="0" rIns="0" tIns="0" bIns="0">
            <a:spAutoFit/>
          </a:bodyPr>
          <a:lstStyle/>
          <a:p>
            <a:r>
              <a:rPr sz="1200" b="1" i="0">
                <a:solidFill>
                  <a:srgbClr val="E8722B"/>
                </a:solidFill>
                <a:latin typeface="Calibri"/>
              </a:rPr>
              <a:t>PHƯƠNG PHÁP · MÔ HÌNH</a:t>
            </a:r>
          </a:p>
        </p:txBody>
      </p:sp>
      <p:sp>
        <p:nvSpPr>
          <p:cNvPr id="7" name="TextBox 6"/>
          <p:cNvSpPr txBox="1"/>
          <p:nvPr/>
        </p:nvSpPr>
        <p:spPr>
          <a:xfrm>
            <a:off x="502920" y="603504"/>
            <a:ext cx="11155680" cy="868680"/>
          </a:xfrm>
          <a:prstGeom prst="rect">
            <a:avLst/>
          </a:prstGeom>
          <a:noFill/>
        </p:spPr>
        <p:txBody>
          <a:bodyPr wrap="square" lIns="0" rIns="0" tIns="0" bIns="0">
            <a:spAutoFit/>
          </a:bodyPr>
          <a:lstStyle/>
          <a:p>
            <a:r>
              <a:rPr sz="2500" b="1" i="0">
                <a:solidFill>
                  <a:srgbClr val="0F2A4F"/>
                </a:solidFill>
                <a:latin typeface="Calibri"/>
              </a:rPr>
              <a:t>5 thuật toán ứng viên &amp; giao thức đánh giá</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11155680" cy="4572000"/>
          </a:xfrm>
          <a:prstGeom prst="rect">
            <a:avLst/>
          </a:prstGeom>
          <a:noFill/>
        </p:spPr>
        <p:txBody>
          <a:bodyPr wrap="square" lIns="0" rIns="0" t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5 model: Logistic Regression · Random Forest · XGBoost · LightGBM · ANN (MLP).</a:t>
            </a:r>
          </a:p>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Giao thức: CV 5-fold × 5 seed trên train (gom nhóm theo sinh viên) → kiểm định Friedman → đánh giá 1 lần trên test.</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Bỏ sót SV nguy cơ là sai lầm đắt nhất → recall &amp; PR-AUC lớp at-risk là chỉ số chính.</a:t>
            </a:r>
          </a:p>
          <a:p>
            <a:pPr>
              <a:lnSpc>
                <a:spcPct val="104000"/>
              </a:lnSpc>
              <a:spcAft>
                <a:spcPts val="700"/>
              </a:spcAft>
            </a:pPr>
            <a:r>
              <a:rPr sz="1200" b="1" i="0">
                <a:solidFill>
                  <a:srgbClr val="0F2A4F"/>
                </a:solidFill>
                <a:latin typeface="Calibri"/>
              </a:rPr>
              <a:t>▪ </a:t>
            </a:r>
            <a:r>
              <a:rPr sz="1450" b="0" i="0">
                <a:solidFill>
                  <a:srgbClr val="262B33"/>
                </a:solidFill>
                <a:latin typeface="Calibri"/>
              </a:rPr>
              <a:t>Ngưỡng quyết định chọn trên VALIDATION, không tối ưu trên test (slide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55664"/>
            <a:ext cx="8686800" cy="310896"/>
          </a:xfrm>
          <a:prstGeom prst="rect">
            <a:avLst/>
          </a:prstGeom>
          <a:noFill/>
        </p:spPr>
        <p:txBody>
          <a:bodyPr wrap="square" lIns="0" rIns="0" tIns="0" bIns="0">
            <a:spAutoFit/>
          </a:bodyPr>
          <a:lstStyle/>
          <a:p>
            <a:r>
              <a:rPr sz="900" b="0" i="0">
                <a:solidFill>
                  <a:srgbClr val="5B6370"/>
                </a:solidFill>
                <a:latin typeface="Calibri"/>
              </a:rPr>
              <a:t>DSP391m · Nhóm 1 · Bảo vệ cuối kỳ</a:t>
            </a:r>
            <a:r>
              <a:rPr sz="900" b="1" i="0">
                <a:solidFill>
                  <a:srgbClr val="E8722B"/>
                </a:solidFill>
                <a:latin typeface="Calibri"/>
              </a:rPr>
              <a:t>   ·   Đức</a:t>
            </a:r>
          </a:p>
        </p:txBody>
      </p:sp>
      <p:sp>
        <p:nvSpPr>
          <p:cNvPr id="5" name="TextBox 4"/>
          <p:cNvSpPr txBox="1"/>
          <p:nvPr/>
        </p:nvSpPr>
        <p:spPr>
          <a:xfrm>
            <a:off x="11155680" y="6455664"/>
            <a:ext cx="822960" cy="310896"/>
          </a:xfrm>
          <a:prstGeom prst="rect">
            <a:avLst/>
          </a:prstGeom>
          <a:noFill/>
        </p:spPr>
        <p:txBody>
          <a:bodyPr wrap="square" lIns="0" rIns="0" tIns="0" bIns="0">
            <a:spAutoFit/>
          </a:bodyPr>
          <a:lstStyle/>
          <a:p>
            <a:pPr algn="r"/>
            <a:r>
              <a:rPr sz="1000" b="1" i="0">
                <a:solidFill>
                  <a:srgbClr val="0F2A4F"/>
                </a:solidFill>
                <a:latin typeface="Calibri"/>
              </a:rPr>
              <a:t>6</a:t>
            </a:r>
          </a:p>
        </p:txBody>
      </p:sp>
      <p:sp>
        <p:nvSpPr>
          <p:cNvPr id="6" name="TextBox 5"/>
          <p:cNvSpPr txBox="1"/>
          <p:nvPr/>
        </p:nvSpPr>
        <p:spPr>
          <a:xfrm>
            <a:off x="502920" y="292608"/>
            <a:ext cx="10972800" cy="365760"/>
          </a:xfrm>
          <a:prstGeom prst="rect">
            <a:avLst/>
          </a:prstGeom>
          <a:noFill/>
        </p:spPr>
        <p:txBody>
          <a:bodyPr wrap="square" lIns="0" rIns="0" tIns="0" bIns="0">
            <a:spAutoFit/>
          </a:bodyPr>
          <a:lstStyle/>
          <a:p>
            <a:r>
              <a:rPr sz="1200" b="1" i="0">
                <a:solidFill>
                  <a:srgbClr val="E8722B"/>
                </a:solidFill>
                <a:latin typeface="Calibri"/>
              </a:rPr>
              <a:t>KẾT QUẢ · BENCHMARK</a:t>
            </a:r>
          </a:p>
        </p:txBody>
      </p:sp>
      <p:sp>
        <p:nvSpPr>
          <p:cNvPr id="7" name="TextBox 6"/>
          <p:cNvSpPr txBox="1"/>
          <p:nvPr/>
        </p:nvSpPr>
        <p:spPr>
          <a:xfrm>
            <a:off x="502920" y="603504"/>
            <a:ext cx="11155680" cy="868680"/>
          </a:xfrm>
          <a:prstGeom prst="rect">
            <a:avLst/>
          </a:prstGeom>
          <a:noFill/>
        </p:spPr>
        <p:txBody>
          <a:bodyPr wrap="square" lIns="0" rIns="0" tIns="0" bIns="0">
            <a:spAutoFit/>
          </a:bodyPr>
          <a:lstStyle/>
          <a:p>
            <a:r>
              <a:rPr sz="2500" b="1" i="0">
                <a:solidFill>
                  <a:srgbClr val="0F2A4F"/>
                </a:solidFill>
                <a:latin typeface="Calibri"/>
              </a:rPr>
              <a:t>5 model tại t=100% (tập test, baseline no-resample)</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11155680" cy="4572000"/>
          </a:xfrm>
          <a:prstGeom prst="rect">
            <a:avLst/>
          </a:prstGeom>
          <a:noFill/>
        </p:spPr>
        <p:txBody>
          <a:bodyPr wrap="square" lIns="0" rIns="0" t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So 5 model tại mốc t=100% trên tập test (baseline, chưa resample).</a:t>
            </a:r>
          </a:p>
          <a:p>
            <a:pPr>
              <a:lnSpc>
                <a:spcPct val="104000"/>
              </a:lnSpc>
              <a:spcBef>
                <a:spcPts val="600"/>
              </a:spcBef>
              <a:spcAft>
                <a:spcPts val="700"/>
              </a:spcAft>
            </a:pPr>
            <a:r>
              <a:rPr sz="1350" b="1" i="0">
                <a:solidFill>
                  <a:srgbClr val="E8722B"/>
                </a:solidFill>
                <a:latin typeface="Calibri"/>
              </a:rPr>
              <a:t>▶ Số liệu chốt:  </a:t>
            </a:r>
            <a:r>
              <a:rPr sz="1350" b="1" i="0">
                <a:solidFill>
                  <a:srgbClr val="0F2A4F"/>
                </a:solidFill>
                <a:latin typeface="Calibri"/>
              </a:rPr>
              <a:t>XGBoost dẫn đầu recall 0,931 · F1 0,951 · PR-AUC 0,990.</a:t>
            </a:r>
          </a:p>
          <a:p>
            <a:pPr>
              <a:lnSpc>
                <a:spcPct val="104000"/>
              </a:lnSpc>
              <a:spcBef>
                <a:spcPts val="400"/>
              </a:spcBef>
              <a:spcAft>
                <a:spcPts val="700"/>
              </a:spcAft>
            </a:pPr>
            <a:r>
              <a:rPr sz="1200" b="0" i="1">
                <a:solidFill>
                  <a:srgbClr val="5B6370"/>
                </a:solidFill>
                <a:latin typeface="Calibri"/>
              </a:rPr>
              <a:t>Khoảng cách giữa các model nhỏ → chọn thêm theo tính giải thích được.</a:t>
            </a:r>
          </a:p>
        </p:txBody>
      </p:sp>
      <p:graphicFrame>
        <p:nvGraphicFramePr>
          <p:cNvPr id="10" name="Table 9"/>
          <p:cNvGraphicFramePr>
            <a:graphicFrameLocks noGrp="1"/>
          </p:cNvGraphicFramePr>
          <p:nvPr/>
        </p:nvGraphicFramePr>
        <p:xfrm>
          <a:off x="548640" y="3063240"/>
          <a:ext cx="10058400" cy="1975104"/>
        </p:xfrm>
        <a:graphic>
          <a:graphicData uri="http://schemas.openxmlformats.org/drawingml/2006/table">
            <a:tbl>
              <a:tblPr firstRow="1" bandRow="1">
                <a:tableStyleId>{5C22544A-7EE6-4342-B048-85BDC9FD1C3A}</a:tableStyleId>
              </a:tblPr>
              <a:tblGrid>
                <a:gridCol w="3108960"/>
                <a:gridCol w="1737360"/>
                <a:gridCol w="1737360"/>
                <a:gridCol w="1737360"/>
                <a:gridCol w="1737360"/>
              </a:tblGrid>
              <a:tr h="329184">
                <a:tc>
                  <a:txBody>
                    <a:bodyPr/>
                    <a:lstStyle/>
                    <a:p>
                      <a:r>
                        <a:rPr sz="1300" b="1" i="0">
                          <a:solidFill>
                            <a:srgbClr val="FFFFFF"/>
                          </a:solidFill>
                          <a:latin typeface="Calibri"/>
                        </a:rPr>
                        <a:t>Model</a:t>
                      </a:r>
                    </a:p>
                  </a:txBody>
                  <a:tcPr anchor="ctr" marT="25400" marB="25400">
                    <a:solidFill>
                      <a:srgbClr val="0F2A4F"/>
                    </a:solidFill>
                  </a:tcPr>
                </a:tc>
                <a:tc>
                  <a:txBody>
                    <a:bodyPr/>
                    <a:lstStyle/>
                    <a:p>
                      <a:r>
                        <a:rPr sz="1300" b="1" i="0">
                          <a:solidFill>
                            <a:srgbClr val="FFFFFF"/>
                          </a:solidFill>
                          <a:latin typeface="Calibri"/>
                        </a:rPr>
                        <a:t>Recall</a:t>
                      </a:r>
                    </a:p>
                  </a:txBody>
                  <a:tcPr anchor="ctr" marT="25400" marB="25400">
                    <a:solidFill>
                      <a:srgbClr val="0F2A4F"/>
                    </a:solidFill>
                  </a:tcPr>
                </a:tc>
                <a:tc>
                  <a:txBody>
                    <a:bodyPr/>
                    <a:lstStyle/>
                    <a:p>
                      <a:r>
                        <a:rPr sz="1300" b="1" i="0">
                          <a:solidFill>
                            <a:srgbClr val="FFFFFF"/>
                          </a:solidFill>
                          <a:latin typeface="Calibri"/>
                        </a:rPr>
                        <a:t>F1</a:t>
                      </a:r>
                    </a:p>
                  </a:txBody>
                  <a:tcPr anchor="ctr" marT="25400" marB="25400">
                    <a:solidFill>
                      <a:srgbClr val="0F2A4F"/>
                    </a:solidFill>
                  </a:tcPr>
                </a:tc>
                <a:tc>
                  <a:txBody>
                    <a:bodyPr/>
                    <a:lstStyle/>
                    <a:p>
                      <a:r>
                        <a:rPr sz="1300" b="1" i="0">
                          <a:solidFill>
                            <a:srgbClr val="FFFFFF"/>
                          </a:solidFill>
                          <a:latin typeface="Calibri"/>
                        </a:rPr>
                        <a:t>PR-AUC</a:t>
                      </a:r>
                    </a:p>
                  </a:txBody>
                  <a:tcPr anchor="ctr" marT="25400" marB="25400">
                    <a:solidFill>
                      <a:srgbClr val="0F2A4F"/>
                    </a:solidFill>
                  </a:tcPr>
                </a:tc>
                <a:tc>
                  <a:txBody>
                    <a:bodyPr/>
                    <a:lstStyle/>
                    <a:p>
                      <a:r>
                        <a:rPr sz="1300" b="1" i="0">
                          <a:solidFill>
                            <a:srgbClr val="FFFFFF"/>
                          </a:solidFill>
                          <a:latin typeface="Calibri"/>
                        </a:rPr>
                        <a:t>ROC-AUC</a:t>
                      </a:r>
                    </a:p>
                  </a:txBody>
                  <a:tcPr anchor="ctr" marT="25400" marB="25400">
                    <a:solidFill>
                      <a:srgbClr val="0F2A4F"/>
                    </a:solidFill>
                  </a:tcPr>
                </a:tc>
              </a:tr>
              <a:tr h="329184">
                <a:tc>
                  <a:txBody>
                    <a:bodyPr/>
                    <a:lstStyle/>
                    <a:p>
                      <a:r>
                        <a:rPr sz="1300" b="1" i="0">
                          <a:solidFill>
                            <a:srgbClr val="0F2A4F"/>
                          </a:solidFill>
                          <a:latin typeface="Calibri"/>
                        </a:rPr>
                        <a:t>XGBoost</a:t>
                      </a:r>
                    </a:p>
                  </a:txBody>
                  <a:tcPr anchor="ctr" marT="12700" marB="12700">
                    <a:solidFill>
                      <a:srgbClr val="FFFFFF"/>
                    </a:solidFill>
                  </a:tcPr>
                </a:tc>
                <a:tc>
                  <a:txBody>
                    <a:bodyPr/>
                    <a:lstStyle/>
                    <a:p>
                      <a:r>
                        <a:rPr sz="1300" b="0" i="0">
                          <a:solidFill>
                            <a:srgbClr val="262B33"/>
                          </a:solidFill>
                          <a:latin typeface="Calibri"/>
                        </a:rPr>
                        <a:t>0,931</a:t>
                      </a:r>
                    </a:p>
                  </a:txBody>
                  <a:tcPr anchor="ctr" marT="12700" marB="12700">
                    <a:solidFill>
                      <a:srgbClr val="FFFFFF"/>
                    </a:solidFill>
                  </a:tcPr>
                </a:tc>
                <a:tc>
                  <a:txBody>
                    <a:bodyPr/>
                    <a:lstStyle/>
                    <a:p>
                      <a:r>
                        <a:rPr sz="1300" b="0" i="0">
                          <a:solidFill>
                            <a:srgbClr val="262B33"/>
                          </a:solidFill>
                          <a:latin typeface="Calibri"/>
                        </a:rPr>
                        <a:t>0,951</a:t>
                      </a:r>
                    </a:p>
                  </a:txBody>
                  <a:tcPr anchor="ctr" marT="12700" marB="12700">
                    <a:solidFill>
                      <a:srgbClr val="FFFFFF"/>
                    </a:solidFill>
                  </a:tcPr>
                </a:tc>
                <a:tc>
                  <a:txBody>
                    <a:bodyPr/>
                    <a:lstStyle/>
                    <a:p>
                      <a:r>
                        <a:rPr sz="1300" b="0" i="0">
                          <a:solidFill>
                            <a:srgbClr val="262B33"/>
                          </a:solidFill>
                          <a:latin typeface="Calibri"/>
                        </a:rPr>
                        <a:t>0,990</a:t>
                      </a:r>
                    </a:p>
                  </a:txBody>
                  <a:tcPr anchor="ctr" marT="12700" marB="12700">
                    <a:solidFill>
                      <a:srgbClr val="FFFFFF"/>
                    </a:solidFill>
                  </a:tcPr>
                </a:tc>
                <a:tc>
                  <a:txBody>
                    <a:bodyPr/>
                    <a:lstStyle/>
                    <a:p>
                      <a:r>
                        <a:rPr sz="1300" b="0" i="0">
                          <a:solidFill>
                            <a:srgbClr val="262B33"/>
                          </a:solidFill>
                          <a:latin typeface="Calibri"/>
                        </a:rPr>
                        <a:t>0,987</a:t>
                      </a:r>
                    </a:p>
                  </a:txBody>
                  <a:tcPr anchor="ctr" marT="12700" marB="12700">
                    <a:solidFill>
                      <a:srgbClr val="FFFFFF"/>
                    </a:solidFill>
                  </a:tcPr>
                </a:tc>
              </a:tr>
              <a:tr h="329184">
                <a:tc>
                  <a:txBody>
                    <a:bodyPr/>
                    <a:lstStyle/>
                    <a:p>
                      <a:r>
                        <a:rPr sz="1300" b="1" i="0">
                          <a:solidFill>
                            <a:srgbClr val="0F2A4F"/>
                          </a:solidFill>
                          <a:latin typeface="Calibri"/>
                        </a:rPr>
                        <a:t>LightGBM</a:t>
                      </a:r>
                    </a:p>
                  </a:txBody>
                  <a:tcPr anchor="ctr" marT="12700" marB="12700">
                    <a:solidFill>
                      <a:srgbClr val="F2F4F7"/>
                    </a:solidFill>
                  </a:tcPr>
                </a:tc>
                <a:tc>
                  <a:txBody>
                    <a:bodyPr/>
                    <a:lstStyle/>
                    <a:p>
                      <a:r>
                        <a:rPr sz="1300" b="0" i="0">
                          <a:solidFill>
                            <a:srgbClr val="262B33"/>
                          </a:solidFill>
                          <a:latin typeface="Calibri"/>
                        </a:rPr>
                        <a:t>0,930</a:t>
                      </a:r>
                    </a:p>
                  </a:txBody>
                  <a:tcPr anchor="ctr" marT="12700" marB="12700">
                    <a:solidFill>
                      <a:srgbClr val="F2F4F7"/>
                    </a:solidFill>
                  </a:tcPr>
                </a:tc>
                <a:tc>
                  <a:txBody>
                    <a:bodyPr/>
                    <a:lstStyle/>
                    <a:p>
                      <a:r>
                        <a:rPr sz="1300" b="0" i="0">
                          <a:solidFill>
                            <a:srgbClr val="262B33"/>
                          </a:solidFill>
                          <a:latin typeface="Calibri"/>
                        </a:rPr>
                        <a:t>0,952</a:t>
                      </a:r>
                    </a:p>
                  </a:txBody>
                  <a:tcPr anchor="ctr" marT="12700" marB="12700">
                    <a:solidFill>
                      <a:srgbClr val="F2F4F7"/>
                    </a:solidFill>
                  </a:tcPr>
                </a:tc>
                <a:tc>
                  <a:txBody>
                    <a:bodyPr/>
                    <a:lstStyle/>
                    <a:p>
                      <a:r>
                        <a:rPr sz="1300" b="0" i="0">
                          <a:solidFill>
                            <a:srgbClr val="262B33"/>
                          </a:solidFill>
                          <a:latin typeface="Calibri"/>
                        </a:rPr>
                        <a:t>0,991</a:t>
                      </a:r>
                    </a:p>
                  </a:txBody>
                  <a:tcPr anchor="ctr" marT="12700" marB="12700">
                    <a:solidFill>
                      <a:srgbClr val="F2F4F7"/>
                    </a:solidFill>
                  </a:tcPr>
                </a:tc>
                <a:tc>
                  <a:txBody>
                    <a:bodyPr/>
                    <a:lstStyle/>
                    <a:p>
                      <a:r>
                        <a:rPr sz="1300" b="0" i="0">
                          <a:solidFill>
                            <a:srgbClr val="262B33"/>
                          </a:solidFill>
                          <a:latin typeface="Calibri"/>
                        </a:rPr>
                        <a:t>0,989</a:t>
                      </a:r>
                    </a:p>
                  </a:txBody>
                  <a:tcPr anchor="ctr" marT="12700" marB="12700">
                    <a:solidFill>
                      <a:srgbClr val="F2F4F7"/>
                    </a:solidFill>
                  </a:tcPr>
                </a:tc>
              </a:tr>
              <a:tr h="329184">
                <a:tc>
                  <a:txBody>
                    <a:bodyPr/>
                    <a:lstStyle/>
                    <a:p>
                      <a:r>
                        <a:rPr sz="1300" b="1" i="0">
                          <a:solidFill>
                            <a:srgbClr val="0F2A4F"/>
                          </a:solidFill>
                          <a:latin typeface="Calibri"/>
                        </a:rPr>
                        <a:t>Random Forest</a:t>
                      </a:r>
                    </a:p>
                  </a:txBody>
                  <a:tcPr anchor="ctr" marT="12700" marB="12700">
                    <a:solidFill>
                      <a:srgbClr val="FFFFFF"/>
                    </a:solidFill>
                  </a:tcPr>
                </a:tc>
                <a:tc>
                  <a:txBody>
                    <a:bodyPr/>
                    <a:lstStyle/>
                    <a:p>
                      <a:r>
                        <a:rPr sz="1300" b="0" i="0">
                          <a:solidFill>
                            <a:srgbClr val="262B33"/>
                          </a:solidFill>
                          <a:latin typeface="Calibri"/>
                        </a:rPr>
                        <a:t>0,922</a:t>
                      </a:r>
                    </a:p>
                  </a:txBody>
                  <a:tcPr anchor="ctr" marT="12700" marB="12700">
                    <a:solidFill>
                      <a:srgbClr val="FFFFFF"/>
                    </a:solidFill>
                  </a:tcPr>
                </a:tc>
                <a:tc>
                  <a:txBody>
                    <a:bodyPr/>
                    <a:lstStyle/>
                    <a:p>
                      <a:r>
                        <a:rPr sz="1300" b="0" i="0">
                          <a:solidFill>
                            <a:srgbClr val="262B33"/>
                          </a:solidFill>
                          <a:latin typeface="Calibri"/>
                        </a:rPr>
                        <a:t>0,949</a:t>
                      </a:r>
                    </a:p>
                  </a:txBody>
                  <a:tcPr anchor="ctr" marT="12700" marB="12700">
                    <a:solidFill>
                      <a:srgbClr val="FFFFFF"/>
                    </a:solidFill>
                  </a:tcPr>
                </a:tc>
                <a:tc>
                  <a:txBody>
                    <a:bodyPr/>
                    <a:lstStyle/>
                    <a:p>
                      <a:r>
                        <a:rPr sz="1300" b="0" i="0">
                          <a:solidFill>
                            <a:srgbClr val="262B33"/>
                          </a:solidFill>
                          <a:latin typeface="Calibri"/>
                        </a:rPr>
                        <a:t>0,989</a:t>
                      </a:r>
                    </a:p>
                  </a:txBody>
                  <a:tcPr anchor="ctr" marT="12700" marB="12700">
                    <a:solidFill>
                      <a:srgbClr val="FFFFFF"/>
                    </a:solidFill>
                  </a:tcPr>
                </a:tc>
                <a:tc>
                  <a:txBody>
                    <a:bodyPr/>
                    <a:lstStyle/>
                    <a:p>
                      <a:r>
                        <a:rPr sz="1300" b="0" i="0">
                          <a:solidFill>
                            <a:srgbClr val="262B33"/>
                          </a:solidFill>
                          <a:latin typeface="Calibri"/>
                        </a:rPr>
                        <a:t>0,987</a:t>
                      </a:r>
                    </a:p>
                  </a:txBody>
                  <a:tcPr anchor="ctr" marT="12700" marB="12700">
                    <a:solidFill>
                      <a:srgbClr val="FFFFFF"/>
                    </a:solidFill>
                  </a:tcPr>
                </a:tc>
              </a:tr>
              <a:tr h="329184">
                <a:tc>
                  <a:txBody>
                    <a:bodyPr/>
                    <a:lstStyle/>
                    <a:p>
                      <a:r>
                        <a:rPr sz="1300" b="1" i="0">
                          <a:solidFill>
                            <a:srgbClr val="0F2A4F"/>
                          </a:solidFill>
                          <a:latin typeface="Calibri"/>
                        </a:rPr>
                        <a:t>ANN (MLP)</a:t>
                      </a:r>
                    </a:p>
                  </a:txBody>
                  <a:tcPr anchor="ctr" marT="12700" marB="12700">
                    <a:solidFill>
                      <a:srgbClr val="F2F4F7"/>
                    </a:solidFill>
                  </a:tcPr>
                </a:tc>
                <a:tc>
                  <a:txBody>
                    <a:bodyPr/>
                    <a:lstStyle/>
                    <a:p>
                      <a:r>
                        <a:rPr sz="1300" b="0" i="0">
                          <a:solidFill>
                            <a:srgbClr val="262B33"/>
                          </a:solidFill>
                          <a:latin typeface="Calibri"/>
                        </a:rPr>
                        <a:t>0,920</a:t>
                      </a:r>
                    </a:p>
                  </a:txBody>
                  <a:tcPr anchor="ctr" marT="12700" marB="12700">
                    <a:solidFill>
                      <a:srgbClr val="F2F4F7"/>
                    </a:solidFill>
                  </a:tcPr>
                </a:tc>
                <a:tc>
                  <a:txBody>
                    <a:bodyPr/>
                    <a:lstStyle/>
                    <a:p>
                      <a:r>
                        <a:rPr sz="1300" b="0" i="0">
                          <a:solidFill>
                            <a:srgbClr val="262B33"/>
                          </a:solidFill>
                          <a:latin typeface="Calibri"/>
                        </a:rPr>
                        <a:t>0,946</a:t>
                      </a:r>
                    </a:p>
                  </a:txBody>
                  <a:tcPr anchor="ctr" marT="12700" marB="12700">
                    <a:solidFill>
                      <a:srgbClr val="F2F4F7"/>
                    </a:solidFill>
                  </a:tcPr>
                </a:tc>
                <a:tc>
                  <a:txBody>
                    <a:bodyPr/>
                    <a:lstStyle/>
                    <a:p>
                      <a:r>
                        <a:rPr sz="1300" b="0" i="0">
                          <a:solidFill>
                            <a:srgbClr val="262B33"/>
                          </a:solidFill>
                          <a:latin typeface="Calibri"/>
                        </a:rPr>
                        <a:t>0,990</a:t>
                      </a:r>
                    </a:p>
                  </a:txBody>
                  <a:tcPr anchor="ctr" marT="12700" marB="12700">
                    <a:solidFill>
                      <a:srgbClr val="F2F4F7"/>
                    </a:solidFill>
                  </a:tcPr>
                </a:tc>
                <a:tc>
                  <a:txBody>
                    <a:bodyPr/>
                    <a:lstStyle/>
                    <a:p>
                      <a:r>
                        <a:rPr sz="1300" b="0" i="0">
                          <a:solidFill>
                            <a:srgbClr val="262B33"/>
                          </a:solidFill>
                          <a:latin typeface="Calibri"/>
                        </a:rPr>
                        <a:t>0,987</a:t>
                      </a:r>
                    </a:p>
                  </a:txBody>
                  <a:tcPr anchor="ctr" marT="12700" marB="12700">
                    <a:solidFill>
                      <a:srgbClr val="F2F4F7"/>
                    </a:solidFill>
                  </a:tcPr>
                </a:tc>
              </a:tr>
              <a:tr h="329184">
                <a:tc>
                  <a:txBody>
                    <a:bodyPr/>
                    <a:lstStyle/>
                    <a:p>
                      <a:r>
                        <a:rPr sz="1300" b="1" i="0">
                          <a:solidFill>
                            <a:srgbClr val="0F2A4F"/>
                          </a:solidFill>
                          <a:latin typeface="Calibri"/>
                        </a:rPr>
                        <a:t>Logistic Reg.</a:t>
                      </a:r>
                    </a:p>
                  </a:txBody>
                  <a:tcPr anchor="ctr" marT="12700" marB="12700">
                    <a:solidFill>
                      <a:srgbClr val="FFFFFF"/>
                    </a:solidFill>
                  </a:tcPr>
                </a:tc>
                <a:tc>
                  <a:txBody>
                    <a:bodyPr/>
                    <a:lstStyle/>
                    <a:p>
                      <a:r>
                        <a:rPr sz="1300" b="0" i="0">
                          <a:solidFill>
                            <a:srgbClr val="262B33"/>
                          </a:solidFill>
                          <a:latin typeface="Calibri"/>
                        </a:rPr>
                        <a:t>0,918</a:t>
                      </a:r>
                    </a:p>
                  </a:txBody>
                  <a:tcPr anchor="ctr" marT="12700" marB="12700">
                    <a:solidFill>
                      <a:srgbClr val="FFFFFF"/>
                    </a:solidFill>
                  </a:tcPr>
                </a:tc>
                <a:tc>
                  <a:txBody>
                    <a:bodyPr/>
                    <a:lstStyle/>
                    <a:p>
                      <a:r>
                        <a:rPr sz="1300" b="0" i="0">
                          <a:solidFill>
                            <a:srgbClr val="262B33"/>
                          </a:solidFill>
                          <a:latin typeface="Calibri"/>
                        </a:rPr>
                        <a:t>0,946</a:t>
                      </a:r>
                    </a:p>
                  </a:txBody>
                  <a:tcPr anchor="ctr" marT="12700" marB="12700">
                    <a:solidFill>
                      <a:srgbClr val="FFFFFF"/>
                    </a:solidFill>
                  </a:tcPr>
                </a:tc>
                <a:tc>
                  <a:txBody>
                    <a:bodyPr/>
                    <a:lstStyle/>
                    <a:p>
                      <a:r>
                        <a:rPr sz="1300" b="0" i="0">
                          <a:solidFill>
                            <a:srgbClr val="262B33"/>
                          </a:solidFill>
                          <a:latin typeface="Calibri"/>
                        </a:rPr>
                        <a:t>0,989</a:t>
                      </a:r>
                    </a:p>
                  </a:txBody>
                  <a:tcPr anchor="ctr" marT="12700" marB="12700">
                    <a:solidFill>
                      <a:srgbClr val="FFFFFF"/>
                    </a:solidFill>
                  </a:tcPr>
                </a:tc>
                <a:tc>
                  <a:txBody>
                    <a:bodyPr/>
                    <a:lstStyle/>
                    <a:p>
                      <a:r>
                        <a:rPr sz="1300" b="0" i="0">
                          <a:solidFill>
                            <a:srgbClr val="262B33"/>
                          </a:solidFill>
                          <a:latin typeface="Calibri"/>
                        </a:rPr>
                        <a:t>0,986</a:t>
                      </a:r>
                    </a:p>
                  </a:txBody>
                  <a:tcPr anchor="ctr" marT="12700" marB="12700">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55664"/>
            <a:ext cx="8686800" cy="310896"/>
          </a:xfrm>
          <a:prstGeom prst="rect">
            <a:avLst/>
          </a:prstGeom>
          <a:noFill/>
        </p:spPr>
        <p:txBody>
          <a:bodyPr wrap="square" lIns="0" rIns="0" tIns="0" bIns="0">
            <a:spAutoFit/>
          </a:bodyPr>
          <a:lstStyle/>
          <a:p>
            <a:r>
              <a:rPr sz="900" b="0" i="0">
                <a:solidFill>
                  <a:srgbClr val="5B6370"/>
                </a:solidFill>
                <a:latin typeface="Calibri"/>
              </a:rPr>
              <a:t>DSP391m · Nhóm 1 · Bảo vệ cuối kỳ</a:t>
            </a:r>
            <a:r>
              <a:rPr sz="900" b="1" i="0">
                <a:solidFill>
                  <a:srgbClr val="E8722B"/>
                </a:solidFill>
                <a:latin typeface="Calibri"/>
              </a:rPr>
              <a:t>   ·   Đức</a:t>
            </a:r>
          </a:p>
        </p:txBody>
      </p:sp>
      <p:sp>
        <p:nvSpPr>
          <p:cNvPr id="5" name="TextBox 4"/>
          <p:cNvSpPr txBox="1"/>
          <p:nvPr/>
        </p:nvSpPr>
        <p:spPr>
          <a:xfrm>
            <a:off x="11155680" y="6455664"/>
            <a:ext cx="822960" cy="310896"/>
          </a:xfrm>
          <a:prstGeom prst="rect">
            <a:avLst/>
          </a:prstGeom>
          <a:noFill/>
        </p:spPr>
        <p:txBody>
          <a:bodyPr wrap="square" lIns="0" rIns="0" tIns="0" bIns="0">
            <a:spAutoFit/>
          </a:bodyPr>
          <a:lstStyle/>
          <a:p>
            <a:pPr algn="r"/>
            <a:r>
              <a:rPr sz="1000" b="1" i="0">
                <a:solidFill>
                  <a:srgbClr val="0F2A4F"/>
                </a:solidFill>
                <a:latin typeface="Calibri"/>
              </a:rPr>
              <a:t>7</a:t>
            </a:r>
          </a:p>
        </p:txBody>
      </p:sp>
      <p:sp>
        <p:nvSpPr>
          <p:cNvPr id="6" name="TextBox 5"/>
          <p:cNvSpPr txBox="1"/>
          <p:nvPr/>
        </p:nvSpPr>
        <p:spPr>
          <a:xfrm>
            <a:off x="502920" y="292608"/>
            <a:ext cx="10972800" cy="365760"/>
          </a:xfrm>
          <a:prstGeom prst="rect">
            <a:avLst/>
          </a:prstGeom>
          <a:noFill/>
        </p:spPr>
        <p:txBody>
          <a:bodyPr wrap="square" lIns="0" rIns="0" tIns="0" bIns="0">
            <a:spAutoFit/>
          </a:bodyPr>
          <a:lstStyle/>
          <a:p>
            <a:r>
              <a:rPr sz="1200" b="1" i="0">
                <a:solidFill>
                  <a:srgbClr val="E8722B"/>
                </a:solidFill>
                <a:latin typeface="Calibri"/>
              </a:rPr>
              <a:t>KẾT QUẢ · ĐỘ TIN CẬY</a:t>
            </a:r>
          </a:p>
        </p:txBody>
      </p:sp>
      <p:sp>
        <p:nvSpPr>
          <p:cNvPr id="7" name="TextBox 6"/>
          <p:cNvSpPr txBox="1"/>
          <p:nvPr/>
        </p:nvSpPr>
        <p:spPr>
          <a:xfrm>
            <a:off x="502920" y="603504"/>
            <a:ext cx="11155680" cy="868680"/>
          </a:xfrm>
          <a:prstGeom prst="rect">
            <a:avLst/>
          </a:prstGeom>
          <a:noFill/>
        </p:spPr>
        <p:txBody>
          <a:bodyPr wrap="square" lIns="0" rIns="0" tIns="0" bIns="0">
            <a:spAutoFit/>
          </a:bodyPr>
          <a:lstStyle/>
          <a:p>
            <a:r>
              <a:rPr sz="2500" b="1" i="0">
                <a:solidFill>
                  <a:srgbClr val="0F2A4F"/>
                </a:solidFill>
                <a:latin typeface="Calibri"/>
              </a:rPr>
              <a:t>CV 5-fold × 5 seed + kiểm định Friedman</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11155680" cy="4572000"/>
          </a:xfrm>
          <a:prstGeom prst="rect">
            <a:avLst/>
          </a:prstGeom>
          <a:noFill/>
        </p:spPr>
        <p:txBody>
          <a:bodyPr wrap="square" lIns="0" rIns="0" t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CV 5-fold × 5 seed (25 khối) trên train tại t=100% → kiểm định Friedman theo rank.</a:t>
            </a:r>
          </a:p>
          <a:p>
            <a:pPr>
              <a:lnSpc>
                <a:spcPct val="104000"/>
              </a:lnSpc>
              <a:spcBef>
                <a:spcPts val="600"/>
              </a:spcBef>
              <a:spcAft>
                <a:spcPts val="700"/>
              </a:spcAft>
            </a:pPr>
            <a:r>
              <a:rPr sz="1350" b="1" i="0">
                <a:solidFill>
                  <a:srgbClr val="E8722B"/>
                </a:solidFill>
                <a:latin typeface="Calibri"/>
              </a:rPr>
              <a:t>▶ Số liệu chốt:  </a:t>
            </a:r>
            <a:r>
              <a:rPr sz="1350" b="1" i="0">
                <a:solidFill>
                  <a:srgbClr val="0F2A4F"/>
                </a:solidFill>
                <a:latin typeface="Calibri"/>
              </a:rPr>
              <a:t>Friedman — recall: p &lt; 0,001, tốt nhất XGBoost (rank TB 1,48) · PR-AUC: p &lt; 0,001, tốt nhất LightGBM.</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Khác biệt giữa 5 model có ý nghĩa thống kê nhưng biên độ tuyệt đối nhỏ.</a:t>
            </a:r>
          </a:p>
        </p:txBody>
      </p:sp>
      <p:graphicFrame>
        <p:nvGraphicFramePr>
          <p:cNvPr id="10" name="Table 9"/>
          <p:cNvGraphicFramePr>
            <a:graphicFrameLocks noGrp="1"/>
          </p:cNvGraphicFramePr>
          <p:nvPr/>
        </p:nvGraphicFramePr>
        <p:xfrm>
          <a:off x="548640" y="3200400"/>
          <a:ext cx="10607040" cy="1975104"/>
        </p:xfrm>
        <a:graphic>
          <a:graphicData uri="http://schemas.openxmlformats.org/drawingml/2006/table">
            <a:tbl>
              <a:tblPr firstRow="1" bandRow="1">
                <a:tableStyleId>{5C22544A-7EE6-4342-B048-85BDC9FD1C3A}</a:tableStyleId>
              </a:tblPr>
              <a:tblGrid>
                <a:gridCol w="2651760"/>
                <a:gridCol w="2651760"/>
                <a:gridCol w="2651760"/>
                <a:gridCol w="2651760"/>
              </a:tblGrid>
              <a:tr h="329184">
                <a:tc>
                  <a:txBody>
                    <a:bodyPr/>
                    <a:lstStyle/>
                    <a:p>
                      <a:r>
                        <a:rPr sz="1200" b="1" i="0">
                          <a:solidFill>
                            <a:srgbClr val="FFFFFF"/>
                          </a:solidFill>
                          <a:latin typeface="Calibri"/>
                        </a:rPr>
                        <a:t>Model</a:t>
                      </a:r>
                    </a:p>
                  </a:txBody>
                  <a:tcPr anchor="ctr" marT="25400" marB="25400">
                    <a:solidFill>
                      <a:srgbClr val="0F2A4F"/>
                    </a:solidFill>
                  </a:tcPr>
                </a:tc>
                <a:tc>
                  <a:txBody>
                    <a:bodyPr/>
                    <a:lstStyle/>
                    <a:p>
                      <a:r>
                        <a:rPr sz="1200" b="1" i="0">
                          <a:solidFill>
                            <a:srgbClr val="FFFFFF"/>
                          </a:solidFill>
                          <a:latin typeface="Calibri"/>
                        </a:rPr>
                        <a:t>Recall (μ ± σ)</a:t>
                      </a:r>
                    </a:p>
                  </a:txBody>
                  <a:tcPr anchor="ctr" marT="25400" marB="25400">
                    <a:solidFill>
                      <a:srgbClr val="0F2A4F"/>
                    </a:solidFill>
                  </a:tcPr>
                </a:tc>
                <a:tc>
                  <a:txBody>
                    <a:bodyPr/>
                    <a:lstStyle/>
                    <a:p>
                      <a:r>
                        <a:rPr sz="1200" b="1" i="0">
                          <a:solidFill>
                            <a:srgbClr val="FFFFFF"/>
                          </a:solidFill>
                          <a:latin typeface="Calibri"/>
                        </a:rPr>
                        <a:t>F1 (μ ± σ)</a:t>
                      </a:r>
                    </a:p>
                  </a:txBody>
                  <a:tcPr anchor="ctr" marT="25400" marB="25400">
                    <a:solidFill>
                      <a:srgbClr val="0F2A4F"/>
                    </a:solidFill>
                  </a:tcPr>
                </a:tc>
                <a:tc>
                  <a:txBody>
                    <a:bodyPr/>
                    <a:lstStyle/>
                    <a:p>
                      <a:r>
                        <a:rPr sz="1200" b="1" i="0">
                          <a:solidFill>
                            <a:srgbClr val="FFFFFF"/>
                          </a:solidFill>
                          <a:latin typeface="Calibri"/>
                        </a:rPr>
                        <a:t>PR-AUC (μ ± σ)</a:t>
                      </a:r>
                    </a:p>
                  </a:txBody>
                  <a:tcPr anchor="ctr" marT="25400" marB="25400">
                    <a:solidFill>
                      <a:srgbClr val="0F2A4F"/>
                    </a:solidFill>
                  </a:tcPr>
                </a:tc>
              </a:tr>
              <a:tr h="329184">
                <a:tc>
                  <a:txBody>
                    <a:bodyPr/>
                    <a:lstStyle/>
                    <a:p>
                      <a:r>
                        <a:rPr sz="1200" b="1" i="0">
                          <a:solidFill>
                            <a:srgbClr val="0F2A4F"/>
                          </a:solidFill>
                          <a:latin typeface="Calibri"/>
                        </a:rPr>
                        <a:t>XGBoost</a:t>
                      </a:r>
                    </a:p>
                  </a:txBody>
                  <a:tcPr anchor="ctr" marT="12700" marB="12700">
                    <a:solidFill>
                      <a:srgbClr val="FFFFFF"/>
                    </a:solidFill>
                  </a:tcPr>
                </a:tc>
                <a:tc>
                  <a:txBody>
                    <a:bodyPr/>
                    <a:lstStyle/>
                    <a:p>
                      <a:r>
                        <a:rPr sz="1200" b="0" i="0">
                          <a:solidFill>
                            <a:srgbClr val="262B33"/>
                          </a:solidFill>
                          <a:latin typeface="Calibri"/>
                        </a:rPr>
                        <a:t>0,9309 ± 0,0047</a:t>
                      </a:r>
                    </a:p>
                  </a:txBody>
                  <a:tcPr anchor="ctr" marT="12700" marB="12700">
                    <a:solidFill>
                      <a:srgbClr val="FFFFFF"/>
                    </a:solidFill>
                  </a:tcPr>
                </a:tc>
                <a:tc>
                  <a:txBody>
                    <a:bodyPr/>
                    <a:lstStyle/>
                    <a:p>
                      <a:r>
                        <a:rPr sz="1200" b="0" i="0">
                          <a:solidFill>
                            <a:srgbClr val="262B33"/>
                          </a:solidFill>
                          <a:latin typeface="Calibri"/>
                        </a:rPr>
                        <a:t>0,9507 ± 0,0032</a:t>
                      </a:r>
                    </a:p>
                  </a:txBody>
                  <a:tcPr anchor="ctr" marT="12700" marB="12700">
                    <a:solidFill>
                      <a:srgbClr val="FFFFFF"/>
                    </a:solidFill>
                  </a:tcPr>
                </a:tc>
                <a:tc>
                  <a:txBody>
                    <a:bodyPr/>
                    <a:lstStyle/>
                    <a:p>
                      <a:r>
                        <a:rPr sz="1200" b="0" i="0">
                          <a:solidFill>
                            <a:srgbClr val="262B33"/>
                          </a:solidFill>
                          <a:latin typeface="Calibri"/>
                        </a:rPr>
                        <a:t>0,9901 ± 0,0008</a:t>
                      </a:r>
                    </a:p>
                  </a:txBody>
                  <a:tcPr anchor="ctr" marT="12700" marB="12700">
                    <a:solidFill>
                      <a:srgbClr val="FFFFFF"/>
                    </a:solidFill>
                  </a:tcPr>
                </a:tc>
              </a:tr>
              <a:tr h="329184">
                <a:tc>
                  <a:txBody>
                    <a:bodyPr/>
                    <a:lstStyle/>
                    <a:p>
                      <a:r>
                        <a:rPr sz="1200" b="1" i="0">
                          <a:solidFill>
                            <a:srgbClr val="0F2A4F"/>
                          </a:solidFill>
                          <a:latin typeface="Calibri"/>
                        </a:rPr>
                        <a:t>LightGBM</a:t>
                      </a:r>
                    </a:p>
                  </a:txBody>
                  <a:tcPr anchor="ctr" marT="12700" marB="12700">
                    <a:solidFill>
                      <a:srgbClr val="F2F4F7"/>
                    </a:solidFill>
                  </a:tcPr>
                </a:tc>
                <a:tc>
                  <a:txBody>
                    <a:bodyPr/>
                    <a:lstStyle/>
                    <a:p>
                      <a:r>
                        <a:rPr sz="1200" b="0" i="0">
                          <a:solidFill>
                            <a:srgbClr val="262B33"/>
                          </a:solidFill>
                          <a:latin typeface="Calibri"/>
                        </a:rPr>
                        <a:t>0,9295 ± 0,0060</a:t>
                      </a:r>
                    </a:p>
                  </a:txBody>
                  <a:tcPr anchor="ctr" marT="12700" marB="12700">
                    <a:solidFill>
                      <a:srgbClr val="F2F4F7"/>
                    </a:solidFill>
                  </a:tcPr>
                </a:tc>
                <a:tc>
                  <a:txBody>
                    <a:bodyPr/>
                    <a:lstStyle/>
                    <a:p>
                      <a:r>
                        <a:rPr sz="1200" b="0" i="0">
                          <a:solidFill>
                            <a:srgbClr val="262B33"/>
                          </a:solidFill>
                          <a:latin typeface="Calibri"/>
                        </a:rPr>
                        <a:t>0,9516 ± 0,0036</a:t>
                      </a:r>
                    </a:p>
                  </a:txBody>
                  <a:tcPr anchor="ctr" marT="12700" marB="12700">
                    <a:solidFill>
                      <a:srgbClr val="F2F4F7"/>
                    </a:solidFill>
                  </a:tcPr>
                </a:tc>
                <a:tc>
                  <a:txBody>
                    <a:bodyPr/>
                    <a:lstStyle/>
                    <a:p>
                      <a:r>
                        <a:rPr sz="1200" b="0" i="0">
                          <a:solidFill>
                            <a:srgbClr val="262B33"/>
                          </a:solidFill>
                          <a:latin typeface="Calibri"/>
                        </a:rPr>
                        <a:t>0,9907 ± 0,0008</a:t>
                      </a:r>
                    </a:p>
                  </a:txBody>
                  <a:tcPr anchor="ctr" marT="12700" marB="12700">
                    <a:solidFill>
                      <a:srgbClr val="F2F4F7"/>
                    </a:solidFill>
                  </a:tcPr>
                </a:tc>
              </a:tr>
              <a:tr h="329184">
                <a:tc>
                  <a:txBody>
                    <a:bodyPr/>
                    <a:lstStyle/>
                    <a:p>
                      <a:r>
                        <a:rPr sz="1200" b="1" i="0">
                          <a:solidFill>
                            <a:srgbClr val="0F2A4F"/>
                          </a:solidFill>
                          <a:latin typeface="Calibri"/>
                        </a:rPr>
                        <a:t>ANN (MLP)</a:t>
                      </a:r>
                    </a:p>
                  </a:txBody>
                  <a:tcPr anchor="ctr" marT="12700" marB="12700">
                    <a:solidFill>
                      <a:srgbClr val="FFFFFF"/>
                    </a:solidFill>
                  </a:tcPr>
                </a:tc>
                <a:tc>
                  <a:txBody>
                    <a:bodyPr/>
                    <a:lstStyle/>
                    <a:p>
                      <a:r>
                        <a:rPr sz="1200" b="0" i="0">
                          <a:solidFill>
                            <a:srgbClr val="262B33"/>
                          </a:solidFill>
                          <a:latin typeface="Calibri"/>
                        </a:rPr>
                        <a:t>0,9245 ± 0,0081</a:t>
                      </a:r>
                    </a:p>
                  </a:txBody>
                  <a:tcPr anchor="ctr" marT="12700" marB="12700">
                    <a:solidFill>
                      <a:srgbClr val="FFFFFF"/>
                    </a:solidFill>
                  </a:tcPr>
                </a:tc>
                <a:tc>
                  <a:txBody>
                    <a:bodyPr/>
                    <a:lstStyle/>
                    <a:p>
                      <a:r>
                        <a:rPr sz="1200" b="0" i="0">
                          <a:solidFill>
                            <a:srgbClr val="262B33"/>
                          </a:solidFill>
                          <a:latin typeface="Calibri"/>
                        </a:rPr>
                        <a:t>0,9463 ± 0,0038</a:t>
                      </a:r>
                    </a:p>
                  </a:txBody>
                  <a:tcPr anchor="ctr" marT="12700" marB="12700">
                    <a:solidFill>
                      <a:srgbClr val="FFFFFF"/>
                    </a:solidFill>
                  </a:tcPr>
                </a:tc>
                <a:tc>
                  <a:txBody>
                    <a:bodyPr/>
                    <a:lstStyle/>
                    <a:p>
                      <a:r>
                        <a:rPr sz="1200" b="0" i="0">
                          <a:solidFill>
                            <a:srgbClr val="262B33"/>
                          </a:solidFill>
                          <a:latin typeface="Calibri"/>
                        </a:rPr>
                        <a:t>0,9891 ± 0,0009</a:t>
                      </a:r>
                    </a:p>
                  </a:txBody>
                  <a:tcPr anchor="ctr" marT="12700" marB="12700">
                    <a:solidFill>
                      <a:srgbClr val="FFFFFF"/>
                    </a:solidFill>
                  </a:tcPr>
                </a:tc>
              </a:tr>
              <a:tr h="329184">
                <a:tc>
                  <a:txBody>
                    <a:bodyPr/>
                    <a:lstStyle/>
                    <a:p>
                      <a:r>
                        <a:rPr sz="1200" b="1" i="0">
                          <a:solidFill>
                            <a:srgbClr val="0F2A4F"/>
                          </a:solidFill>
                          <a:latin typeface="Calibri"/>
                        </a:rPr>
                        <a:t>Random Forest</a:t>
                      </a:r>
                    </a:p>
                  </a:txBody>
                  <a:tcPr anchor="ctr" marT="12700" marB="12700">
                    <a:solidFill>
                      <a:srgbClr val="F2F4F7"/>
                    </a:solidFill>
                  </a:tcPr>
                </a:tc>
                <a:tc>
                  <a:txBody>
                    <a:bodyPr/>
                    <a:lstStyle/>
                    <a:p>
                      <a:r>
                        <a:rPr sz="1200" b="0" i="0">
                          <a:solidFill>
                            <a:srgbClr val="262B33"/>
                          </a:solidFill>
                          <a:latin typeface="Calibri"/>
                        </a:rPr>
                        <a:t>0,9202 ± 0,0051</a:t>
                      </a:r>
                    </a:p>
                  </a:txBody>
                  <a:tcPr anchor="ctr" marT="12700" marB="12700">
                    <a:solidFill>
                      <a:srgbClr val="F2F4F7"/>
                    </a:solidFill>
                  </a:tcPr>
                </a:tc>
                <a:tc>
                  <a:txBody>
                    <a:bodyPr/>
                    <a:lstStyle/>
                    <a:p>
                      <a:r>
                        <a:rPr sz="1200" b="0" i="0">
                          <a:solidFill>
                            <a:srgbClr val="262B33"/>
                          </a:solidFill>
                          <a:latin typeface="Calibri"/>
                        </a:rPr>
                        <a:t>0,9489 ± 0,0030</a:t>
                      </a:r>
                    </a:p>
                  </a:txBody>
                  <a:tcPr anchor="ctr" marT="12700" marB="12700">
                    <a:solidFill>
                      <a:srgbClr val="F2F4F7"/>
                    </a:solidFill>
                  </a:tcPr>
                </a:tc>
                <a:tc>
                  <a:txBody>
                    <a:bodyPr/>
                    <a:lstStyle/>
                    <a:p>
                      <a:r>
                        <a:rPr sz="1200" b="0" i="0">
                          <a:solidFill>
                            <a:srgbClr val="262B33"/>
                          </a:solidFill>
                          <a:latin typeface="Calibri"/>
                        </a:rPr>
                        <a:t>0,9889 ± 0,0009</a:t>
                      </a:r>
                    </a:p>
                  </a:txBody>
                  <a:tcPr anchor="ctr" marT="12700" marB="12700">
                    <a:solidFill>
                      <a:srgbClr val="F2F4F7"/>
                    </a:solidFill>
                  </a:tcPr>
                </a:tc>
              </a:tr>
              <a:tr h="329184">
                <a:tc>
                  <a:txBody>
                    <a:bodyPr/>
                    <a:lstStyle/>
                    <a:p>
                      <a:r>
                        <a:rPr sz="1200" b="1" i="0">
                          <a:solidFill>
                            <a:srgbClr val="0F2A4F"/>
                          </a:solidFill>
                          <a:latin typeface="Calibri"/>
                        </a:rPr>
                        <a:t>Logistic Reg.</a:t>
                      </a:r>
                    </a:p>
                  </a:txBody>
                  <a:tcPr anchor="ctr" marT="12700" marB="12700">
                    <a:solidFill>
                      <a:srgbClr val="FFFFFF"/>
                    </a:solidFill>
                  </a:tcPr>
                </a:tc>
                <a:tc>
                  <a:txBody>
                    <a:bodyPr/>
                    <a:lstStyle/>
                    <a:p>
                      <a:r>
                        <a:rPr sz="1200" b="0" i="0">
                          <a:solidFill>
                            <a:srgbClr val="262B33"/>
                          </a:solidFill>
                          <a:latin typeface="Calibri"/>
                        </a:rPr>
                        <a:t>0,9180 ± 0,0054</a:t>
                      </a:r>
                    </a:p>
                  </a:txBody>
                  <a:tcPr anchor="ctr" marT="12700" marB="12700">
                    <a:solidFill>
                      <a:srgbClr val="FFFFFF"/>
                    </a:solidFill>
                  </a:tcPr>
                </a:tc>
                <a:tc>
                  <a:txBody>
                    <a:bodyPr/>
                    <a:lstStyle/>
                    <a:p>
                      <a:r>
                        <a:rPr sz="1200" b="0" i="0">
                          <a:solidFill>
                            <a:srgbClr val="262B33"/>
                          </a:solidFill>
                          <a:latin typeface="Calibri"/>
                        </a:rPr>
                        <a:t>0,9452 ± 0,0033</a:t>
                      </a:r>
                    </a:p>
                  </a:txBody>
                  <a:tcPr anchor="ctr" marT="12700" marB="12700">
                    <a:solidFill>
                      <a:srgbClr val="FFFFFF"/>
                    </a:solidFill>
                  </a:tcPr>
                </a:tc>
                <a:tc>
                  <a:txBody>
                    <a:bodyPr/>
                    <a:lstStyle/>
                    <a:p>
                      <a:r>
                        <a:rPr sz="1200" b="0" i="0">
                          <a:solidFill>
                            <a:srgbClr val="262B33"/>
                          </a:solidFill>
                          <a:latin typeface="Calibri"/>
                        </a:rPr>
                        <a:t>0,9887 ± 0,0010</a:t>
                      </a:r>
                    </a:p>
                  </a:txBody>
                  <a:tcPr anchor="ctr" marT="12700" marB="12700">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55664"/>
            <a:ext cx="8686800" cy="310896"/>
          </a:xfrm>
          <a:prstGeom prst="rect">
            <a:avLst/>
          </a:prstGeom>
          <a:noFill/>
        </p:spPr>
        <p:txBody>
          <a:bodyPr wrap="square" lIns="0" rIns="0" tIns="0" bIns="0">
            <a:spAutoFit/>
          </a:bodyPr>
          <a:lstStyle/>
          <a:p>
            <a:r>
              <a:rPr sz="900" b="0" i="0">
                <a:solidFill>
                  <a:srgbClr val="5B6370"/>
                </a:solidFill>
                <a:latin typeface="Calibri"/>
              </a:rPr>
              <a:t>DSP391m · Nhóm 1 · Bảo vệ cuối kỳ</a:t>
            </a:r>
            <a:r>
              <a:rPr sz="900" b="1" i="0">
                <a:solidFill>
                  <a:srgbClr val="E8722B"/>
                </a:solidFill>
                <a:latin typeface="Calibri"/>
              </a:rPr>
              <a:t>   ·   Khoa</a:t>
            </a:r>
          </a:p>
        </p:txBody>
      </p:sp>
      <p:sp>
        <p:nvSpPr>
          <p:cNvPr id="5" name="TextBox 4"/>
          <p:cNvSpPr txBox="1"/>
          <p:nvPr/>
        </p:nvSpPr>
        <p:spPr>
          <a:xfrm>
            <a:off x="11155680" y="6455664"/>
            <a:ext cx="822960" cy="310896"/>
          </a:xfrm>
          <a:prstGeom prst="rect">
            <a:avLst/>
          </a:prstGeom>
          <a:noFill/>
        </p:spPr>
        <p:txBody>
          <a:bodyPr wrap="square" lIns="0" rIns="0" tIns="0" bIns="0">
            <a:spAutoFit/>
          </a:bodyPr>
          <a:lstStyle/>
          <a:p>
            <a:pPr algn="r"/>
            <a:r>
              <a:rPr sz="1000" b="1" i="0">
                <a:solidFill>
                  <a:srgbClr val="0F2A4F"/>
                </a:solidFill>
                <a:latin typeface="Calibri"/>
              </a:rPr>
              <a:t>8</a:t>
            </a:r>
          </a:p>
        </p:txBody>
      </p:sp>
      <p:sp>
        <p:nvSpPr>
          <p:cNvPr id="6" name="TextBox 5"/>
          <p:cNvSpPr txBox="1"/>
          <p:nvPr/>
        </p:nvSpPr>
        <p:spPr>
          <a:xfrm>
            <a:off x="502920" y="292608"/>
            <a:ext cx="10972800" cy="365760"/>
          </a:xfrm>
          <a:prstGeom prst="rect">
            <a:avLst/>
          </a:prstGeom>
          <a:noFill/>
        </p:spPr>
        <p:txBody>
          <a:bodyPr wrap="square" lIns="0" rIns="0" tIns="0" bIns="0">
            <a:spAutoFit/>
          </a:bodyPr>
          <a:lstStyle/>
          <a:p>
            <a:r>
              <a:rPr sz="1200" b="1" i="0">
                <a:solidFill>
                  <a:srgbClr val="E8722B"/>
                </a:solidFill>
                <a:latin typeface="Calibri"/>
              </a:rPr>
              <a:t>RQ1 · TIME-AWARE</a:t>
            </a:r>
          </a:p>
        </p:txBody>
      </p:sp>
      <p:sp>
        <p:nvSpPr>
          <p:cNvPr id="7" name="TextBox 6"/>
          <p:cNvSpPr txBox="1"/>
          <p:nvPr/>
        </p:nvSpPr>
        <p:spPr>
          <a:xfrm>
            <a:off x="502920" y="603504"/>
            <a:ext cx="11155680" cy="868680"/>
          </a:xfrm>
          <a:prstGeom prst="rect">
            <a:avLst/>
          </a:prstGeom>
          <a:noFill/>
        </p:spPr>
        <p:txBody>
          <a:bodyPr wrap="square" lIns="0" rIns="0" tIns="0" bIns="0">
            <a:spAutoFit/>
          </a:bodyPr>
          <a:lstStyle/>
          <a:p>
            <a:r>
              <a:rPr sz="2500" b="1" i="0">
                <a:solidFill>
                  <a:srgbClr val="0F2A4F"/>
                </a:solidFill>
                <a:latin typeface="Calibri"/>
              </a:rPr>
              <a:t>Hiệu năng theo 6 mốc tiến độ khóa học</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6263640" cy="4572000"/>
          </a:xfrm>
          <a:prstGeom prst="rect">
            <a:avLst/>
          </a:prstGeom>
          <a:noFill/>
        </p:spPr>
        <p:txBody>
          <a:bodyPr wrap="square" lIns="0" rIns="0" t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Chạy lại toàn bộ giao thức tại 6 mốc tiến độ 10→100%; chọn model tốt nhất mỗi mốc.</a:t>
            </a:r>
          </a:p>
          <a:p>
            <a:pPr>
              <a:lnSpc>
                <a:spcPct val="104000"/>
              </a:lnSpc>
              <a:spcBef>
                <a:spcPts val="600"/>
              </a:spcBef>
              <a:spcAft>
                <a:spcPts val="700"/>
              </a:spcAft>
            </a:pPr>
            <a:r>
              <a:rPr sz="1350" b="1" i="0">
                <a:solidFill>
                  <a:srgbClr val="E8722B"/>
                </a:solidFill>
                <a:latin typeface="Calibri"/>
              </a:rPr>
              <a:t>▶ Số liệu chốt:  </a:t>
            </a:r>
            <a:r>
              <a:rPr sz="1350" b="1" i="0">
                <a:solidFill>
                  <a:srgbClr val="0F2A4F"/>
                </a:solidFill>
                <a:latin typeface="Calibri"/>
              </a:rPr>
              <a:t>Từ t=40% dự đoán đạt ngưỡng tin cậy (recall 0,811, XGBoost).</a:t>
            </a:r>
          </a:p>
        </p:txBody>
      </p:sp>
      <p:pic>
        <p:nvPicPr>
          <p:cNvPr id="10" name="Picture 9" descr="time_aware_recall.png"/>
          <p:cNvPicPr>
            <a:picLocks noChangeAspect="1"/>
          </p:cNvPicPr>
          <p:nvPr/>
        </p:nvPicPr>
        <p:blipFill>
          <a:blip r:embed="rId2"/>
          <a:stretch>
            <a:fillRect/>
          </a:stretch>
        </p:blipFill>
        <p:spPr>
          <a:xfrm>
            <a:off x="7040880" y="1783080"/>
            <a:ext cx="4709160" cy="3184885"/>
          </a:xfrm>
          <a:prstGeom prst="rect">
            <a:avLst/>
          </a:prstGeom>
        </p:spPr>
      </p:pic>
      <p:sp>
        <p:nvSpPr>
          <p:cNvPr id="11" name="TextBox 10"/>
          <p:cNvSpPr txBox="1"/>
          <p:nvPr/>
        </p:nvSpPr>
        <p:spPr>
          <a:xfrm>
            <a:off x="7040880" y="5013685"/>
            <a:ext cx="4709160" cy="365760"/>
          </a:xfrm>
          <a:prstGeom prst="rect">
            <a:avLst/>
          </a:prstGeom>
          <a:noFill/>
        </p:spPr>
        <p:txBody>
          <a:bodyPr wrap="square" lIns="0" rIns="0" tIns="0" bIns="0">
            <a:spAutoFit/>
          </a:bodyPr>
          <a:lstStyle/>
          <a:p>
            <a:pPr algn="ctr"/>
            <a:r>
              <a:rPr sz="950" b="0" i="1">
                <a:solidFill>
                  <a:srgbClr val="5B6370"/>
                </a:solidFill>
                <a:latin typeface="Calibri"/>
              </a:rPr>
              <a:t>Recall lớp at-risk theo mốc tiến độ</a:t>
            </a:r>
          </a:p>
        </p:txBody>
      </p:sp>
      <p:graphicFrame>
        <p:nvGraphicFramePr>
          <p:cNvPr id="12" name="Table 11"/>
          <p:cNvGraphicFramePr>
            <a:graphicFrameLocks noGrp="1"/>
          </p:cNvGraphicFramePr>
          <p:nvPr/>
        </p:nvGraphicFramePr>
        <p:xfrm>
          <a:off x="548640" y="3063240"/>
          <a:ext cx="6035040" cy="2304288"/>
        </p:xfrm>
        <a:graphic>
          <a:graphicData uri="http://schemas.openxmlformats.org/drawingml/2006/table">
            <a:tbl>
              <a:tblPr firstRow="1" bandRow="1">
                <a:tableStyleId>{5C22544A-7EE6-4342-B048-85BDC9FD1C3A}</a:tableStyleId>
              </a:tblPr>
              <a:tblGrid>
                <a:gridCol w="1097280"/>
                <a:gridCol w="1828800"/>
                <a:gridCol w="1097280"/>
                <a:gridCol w="1097280"/>
                <a:gridCol w="914400"/>
              </a:tblGrid>
              <a:tr h="329184">
                <a:tc>
                  <a:txBody>
                    <a:bodyPr/>
                    <a:lstStyle/>
                    <a:p>
                      <a:r>
                        <a:rPr sz="1100" b="1" i="0">
                          <a:solidFill>
                            <a:srgbClr val="FFFFFF"/>
                          </a:solidFill>
                          <a:latin typeface="Calibri"/>
                        </a:rPr>
                        <a:t>Mốc t (%)</a:t>
                      </a:r>
                    </a:p>
                  </a:txBody>
                  <a:tcPr anchor="ctr" marT="25400" marB="25400">
                    <a:solidFill>
                      <a:srgbClr val="0F2A4F"/>
                    </a:solidFill>
                  </a:tcPr>
                </a:tc>
                <a:tc>
                  <a:txBody>
                    <a:bodyPr/>
                    <a:lstStyle/>
                    <a:p>
                      <a:r>
                        <a:rPr sz="1100" b="1" i="0">
                          <a:solidFill>
                            <a:srgbClr val="FFFFFF"/>
                          </a:solidFill>
                          <a:latin typeface="Calibri"/>
                        </a:rPr>
                        <a:t>Model tốt nhất</a:t>
                      </a:r>
                    </a:p>
                  </a:txBody>
                  <a:tcPr anchor="ctr" marT="25400" marB="25400">
                    <a:solidFill>
                      <a:srgbClr val="0F2A4F"/>
                    </a:solidFill>
                  </a:tcPr>
                </a:tc>
                <a:tc>
                  <a:txBody>
                    <a:bodyPr/>
                    <a:lstStyle/>
                    <a:p>
                      <a:r>
                        <a:rPr sz="1100" b="1" i="0">
                          <a:solidFill>
                            <a:srgbClr val="FFFFFF"/>
                          </a:solidFill>
                          <a:latin typeface="Calibri"/>
                        </a:rPr>
                        <a:t>Recall</a:t>
                      </a:r>
                    </a:p>
                  </a:txBody>
                  <a:tcPr anchor="ctr" marT="25400" marB="25400">
                    <a:solidFill>
                      <a:srgbClr val="0F2A4F"/>
                    </a:solidFill>
                  </a:tcPr>
                </a:tc>
                <a:tc>
                  <a:txBody>
                    <a:bodyPr/>
                    <a:lstStyle/>
                    <a:p>
                      <a:r>
                        <a:rPr sz="1100" b="1" i="0">
                          <a:solidFill>
                            <a:srgbClr val="FFFFFF"/>
                          </a:solidFill>
                          <a:latin typeface="Calibri"/>
                        </a:rPr>
                        <a:t>PR-AUC</a:t>
                      </a:r>
                    </a:p>
                  </a:txBody>
                  <a:tcPr anchor="ctr" marT="25400" marB="25400">
                    <a:solidFill>
                      <a:srgbClr val="0F2A4F"/>
                    </a:solidFill>
                  </a:tcPr>
                </a:tc>
                <a:tc>
                  <a:txBody>
                    <a:bodyPr/>
                    <a:lstStyle/>
                    <a:p>
                      <a:r>
                        <a:rPr sz="1100" b="1" i="0">
                          <a:solidFill>
                            <a:srgbClr val="FFFFFF"/>
                          </a:solidFill>
                          <a:latin typeface="Calibri"/>
                        </a:rPr>
                        <a:t>Tin cậy?</a:t>
                      </a:r>
                    </a:p>
                  </a:txBody>
                  <a:tcPr anchor="ctr" marT="25400" marB="25400">
                    <a:solidFill>
                      <a:srgbClr val="0F2A4F"/>
                    </a:solidFill>
                  </a:tcPr>
                </a:tc>
              </a:tr>
              <a:tr h="329184">
                <a:tc>
                  <a:txBody>
                    <a:bodyPr/>
                    <a:lstStyle/>
                    <a:p>
                      <a:r>
                        <a:rPr sz="1100" b="1" i="0">
                          <a:solidFill>
                            <a:srgbClr val="0F2A4F"/>
                          </a:solidFill>
                          <a:latin typeface="Calibri"/>
                        </a:rPr>
                        <a:t>10</a:t>
                      </a:r>
                    </a:p>
                  </a:txBody>
                  <a:tcPr anchor="ctr" marT="12700" marB="12700">
                    <a:solidFill>
                      <a:srgbClr val="FFFFFF"/>
                    </a:solidFill>
                  </a:tcPr>
                </a:tc>
                <a:tc>
                  <a:txBody>
                    <a:bodyPr/>
                    <a:lstStyle/>
                    <a:p>
                      <a:r>
                        <a:rPr sz="1100" b="0" i="0">
                          <a:solidFill>
                            <a:srgbClr val="262B33"/>
                          </a:solidFill>
                          <a:latin typeface="Calibri"/>
                        </a:rPr>
                        <a:t>XGBoost</a:t>
                      </a:r>
                    </a:p>
                  </a:txBody>
                  <a:tcPr anchor="ctr" marT="12700" marB="12700">
                    <a:solidFill>
                      <a:srgbClr val="FFFFFF"/>
                    </a:solidFill>
                  </a:tcPr>
                </a:tc>
                <a:tc>
                  <a:txBody>
                    <a:bodyPr/>
                    <a:lstStyle/>
                    <a:p>
                      <a:r>
                        <a:rPr sz="1100" b="0" i="0">
                          <a:solidFill>
                            <a:srgbClr val="262B33"/>
                          </a:solidFill>
                          <a:latin typeface="Calibri"/>
                        </a:rPr>
                        <a:t>0,719</a:t>
                      </a:r>
                    </a:p>
                  </a:txBody>
                  <a:tcPr anchor="ctr" marT="12700" marB="12700">
                    <a:solidFill>
                      <a:srgbClr val="FFFFFF"/>
                    </a:solidFill>
                  </a:tcPr>
                </a:tc>
                <a:tc>
                  <a:txBody>
                    <a:bodyPr/>
                    <a:lstStyle/>
                    <a:p>
                      <a:r>
                        <a:rPr sz="1100" b="0" i="0">
                          <a:solidFill>
                            <a:srgbClr val="262B33"/>
                          </a:solidFill>
                          <a:latin typeface="Calibri"/>
                        </a:rPr>
                        <a:t>0,864</a:t>
                      </a:r>
                    </a:p>
                  </a:txBody>
                  <a:tcPr anchor="ctr" marT="12700" marB="12700">
                    <a:solidFill>
                      <a:srgbClr val="FFFFFF"/>
                    </a:solidFill>
                  </a:tcPr>
                </a:tc>
                <a:tc>
                  <a:txBody>
                    <a:bodyPr/>
                    <a:lstStyle/>
                    <a:p>
                      <a:r>
                        <a:rPr sz="1100" b="0" i="0">
                          <a:solidFill>
                            <a:srgbClr val="262B33"/>
                          </a:solidFill>
                          <a:latin typeface="Calibri"/>
                        </a:rPr>
                        <a:t>✗</a:t>
                      </a:r>
                    </a:p>
                  </a:txBody>
                  <a:tcPr anchor="ctr" marT="12700" marB="12700">
                    <a:solidFill>
                      <a:srgbClr val="FFFFFF"/>
                    </a:solidFill>
                  </a:tcPr>
                </a:tc>
              </a:tr>
              <a:tr h="329184">
                <a:tc>
                  <a:txBody>
                    <a:bodyPr/>
                    <a:lstStyle/>
                    <a:p>
                      <a:r>
                        <a:rPr sz="1100" b="1" i="0">
                          <a:solidFill>
                            <a:srgbClr val="0F2A4F"/>
                          </a:solidFill>
                          <a:latin typeface="Calibri"/>
                        </a:rPr>
                        <a:t>20</a:t>
                      </a:r>
                    </a:p>
                  </a:txBody>
                  <a:tcPr anchor="ctr" marT="12700" marB="12700">
                    <a:solidFill>
                      <a:srgbClr val="F2F4F7"/>
                    </a:solidFill>
                  </a:tcPr>
                </a:tc>
                <a:tc>
                  <a:txBody>
                    <a:bodyPr/>
                    <a:lstStyle/>
                    <a:p>
                      <a:r>
                        <a:rPr sz="1100" b="0" i="0">
                          <a:solidFill>
                            <a:srgbClr val="262B33"/>
                          </a:solidFill>
                          <a:latin typeface="Calibri"/>
                        </a:rPr>
                        <a:t>LightGBM</a:t>
                      </a:r>
                    </a:p>
                  </a:txBody>
                  <a:tcPr anchor="ctr" marT="12700" marB="12700">
                    <a:solidFill>
                      <a:srgbClr val="F2F4F7"/>
                    </a:solidFill>
                  </a:tcPr>
                </a:tc>
                <a:tc>
                  <a:txBody>
                    <a:bodyPr/>
                    <a:lstStyle/>
                    <a:p>
                      <a:r>
                        <a:rPr sz="1100" b="0" i="0">
                          <a:solidFill>
                            <a:srgbClr val="262B33"/>
                          </a:solidFill>
                          <a:latin typeface="Calibri"/>
                        </a:rPr>
                        <a:t>0,765</a:t>
                      </a:r>
                    </a:p>
                  </a:txBody>
                  <a:tcPr anchor="ctr" marT="12700" marB="12700">
                    <a:solidFill>
                      <a:srgbClr val="F2F4F7"/>
                    </a:solidFill>
                  </a:tcPr>
                </a:tc>
                <a:tc>
                  <a:txBody>
                    <a:bodyPr/>
                    <a:lstStyle/>
                    <a:p>
                      <a:r>
                        <a:rPr sz="1100" b="0" i="0">
                          <a:solidFill>
                            <a:srgbClr val="262B33"/>
                          </a:solidFill>
                          <a:latin typeface="Calibri"/>
                        </a:rPr>
                        <a:t>0,907</a:t>
                      </a:r>
                    </a:p>
                  </a:txBody>
                  <a:tcPr anchor="ctr" marT="12700" marB="12700">
                    <a:solidFill>
                      <a:srgbClr val="F2F4F7"/>
                    </a:solidFill>
                  </a:tcPr>
                </a:tc>
                <a:tc>
                  <a:txBody>
                    <a:bodyPr/>
                    <a:lstStyle/>
                    <a:p>
                      <a:r>
                        <a:rPr sz="1100" b="0" i="0">
                          <a:solidFill>
                            <a:srgbClr val="262B33"/>
                          </a:solidFill>
                          <a:latin typeface="Calibri"/>
                        </a:rPr>
                        <a:t>✗</a:t>
                      </a:r>
                    </a:p>
                  </a:txBody>
                  <a:tcPr anchor="ctr" marT="12700" marB="12700">
                    <a:solidFill>
                      <a:srgbClr val="F2F4F7"/>
                    </a:solidFill>
                  </a:tcPr>
                </a:tc>
              </a:tr>
              <a:tr h="329184">
                <a:tc>
                  <a:txBody>
                    <a:bodyPr/>
                    <a:lstStyle/>
                    <a:p>
                      <a:r>
                        <a:rPr sz="1100" b="1" i="0">
                          <a:solidFill>
                            <a:srgbClr val="0F2A4F"/>
                          </a:solidFill>
                          <a:latin typeface="Calibri"/>
                        </a:rPr>
                        <a:t>40</a:t>
                      </a:r>
                    </a:p>
                  </a:txBody>
                  <a:tcPr anchor="ctr" marT="12700" marB="12700">
                    <a:solidFill>
                      <a:srgbClr val="FFFFFF"/>
                    </a:solidFill>
                  </a:tcPr>
                </a:tc>
                <a:tc>
                  <a:txBody>
                    <a:bodyPr/>
                    <a:lstStyle/>
                    <a:p>
                      <a:r>
                        <a:rPr sz="1100" b="0" i="0">
                          <a:solidFill>
                            <a:srgbClr val="262B33"/>
                          </a:solidFill>
                          <a:latin typeface="Calibri"/>
                        </a:rPr>
                        <a:t>XGBoost</a:t>
                      </a:r>
                    </a:p>
                  </a:txBody>
                  <a:tcPr anchor="ctr" marT="12700" marB="12700">
                    <a:solidFill>
                      <a:srgbClr val="FFFFFF"/>
                    </a:solidFill>
                  </a:tcPr>
                </a:tc>
                <a:tc>
                  <a:txBody>
                    <a:bodyPr/>
                    <a:lstStyle/>
                    <a:p>
                      <a:r>
                        <a:rPr sz="1100" b="0" i="0">
                          <a:solidFill>
                            <a:srgbClr val="262B33"/>
                          </a:solidFill>
                          <a:latin typeface="Calibri"/>
                        </a:rPr>
                        <a:t>0,811</a:t>
                      </a:r>
                    </a:p>
                  </a:txBody>
                  <a:tcPr anchor="ctr" marT="12700" marB="12700">
                    <a:solidFill>
                      <a:srgbClr val="FFFFFF"/>
                    </a:solidFill>
                  </a:tcPr>
                </a:tc>
                <a:tc>
                  <a:txBody>
                    <a:bodyPr/>
                    <a:lstStyle/>
                    <a:p>
                      <a:r>
                        <a:rPr sz="1100" b="0" i="0">
                          <a:solidFill>
                            <a:srgbClr val="262B33"/>
                          </a:solidFill>
                          <a:latin typeface="Calibri"/>
                        </a:rPr>
                        <a:t>0,943</a:t>
                      </a:r>
                    </a:p>
                  </a:txBody>
                  <a:tcPr anchor="ctr" marT="12700" marB="12700">
                    <a:solidFill>
                      <a:srgbClr val="FFFFFF"/>
                    </a:solidFill>
                  </a:tcPr>
                </a:tc>
                <a:tc>
                  <a:txBody>
                    <a:bodyPr/>
                    <a:lstStyle/>
                    <a:p>
                      <a:r>
                        <a:rPr sz="1100" b="0" i="0">
                          <a:solidFill>
                            <a:srgbClr val="262B33"/>
                          </a:solidFill>
                          <a:latin typeface="Calibri"/>
                        </a:rPr>
                        <a:t>✓</a:t>
                      </a:r>
                    </a:p>
                  </a:txBody>
                  <a:tcPr anchor="ctr" marT="12700" marB="12700">
                    <a:solidFill>
                      <a:srgbClr val="FFFFFF"/>
                    </a:solidFill>
                  </a:tcPr>
                </a:tc>
              </a:tr>
              <a:tr h="329184">
                <a:tc>
                  <a:txBody>
                    <a:bodyPr/>
                    <a:lstStyle/>
                    <a:p>
                      <a:r>
                        <a:rPr sz="1100" b="1" i="0">
                          <a:solidFill>
                            <a:srgbClr val="0F2A4F"/>
                          </a:solidFill>
                          <a:latin typeface="Calibri"/>
                        </a:rPr>
                        <a:t>60</a:t>
                      </a:r>
                    </a:p>
                  </a:txBody>
                  <a:tcPr anchor="ctr" marT="12700" marB="12700">
                    <a:solidFill>
                      <a:srgbClr val="F2F4F7"/>
                    </a:solidFill>
                  </a:tcPr>
                </a:tc>
                <a:tc>
                  <a:txBody>
                    <a:bodyPr/>
                    <a:lstStyle/>
                    <a:p>
                      <a:r>
                        <a:rPr sz="1100" b="0" i="0">
                          <a:solidFill>
                            <a:srgbClr val="262B33"/>
                          </a:solidFill>
                          <a:latin typeface="Calibri"/>
                        </a:rPr>
                        <a:t>XGBoost</a:t>
                      </a:r>
                    </a:p>
                  </a:txBody>
                  <a:tcPr anchor="ctr" marT="12700" marB="12700">
                    <a:solidFill>
                      <a:srgbClr val="F2F4F7"/>
                    </a:solidFill>
                  </a:tcPr>
                </a:tc>
                <a:tc>
                  <a:txBody>
                    <a:bodyPr/>
                    <a:lstStyle/>
                    <a:p>
                      <a:r>
                        <a:rPr sz="1100" b="0" i="0">
                          <a:solidFill>
                            <a:srgbClr val="262B33"/>
                          </a:solidFill>
                          <a:latin typeface="Calibri"/>
                        </a:rPr>
                        <a:t>0,870</a:t>
                      </a:r>
                    </a:p>
                  </a:txBody>
                  <a:tcPr anchor="ctr" marT="12700" marB="12700">
                    <a:solidFill>
                      <a:srgbClr val="F2F4F7"/>
                    </a:solidFill>
                  </a:tcPr>
                </a:tc>
                <a:tc>
                  <a:txBody>
                    <a:bodyPr/>
                    <a:lstStyle/>
                    <a:p>
                      <a:r>
                        <a:rPr sz="1100" b="0" i="0">
                          <a:solidFill>
                            <a:srgbClr val="262B33"/>
                          </a:solidFill>
                          <a:latin typeface="Calibri"/>
                        </a:rPr>
                        <a:t>0,968</a:t>
                      </a:r>
                    </a:p>
                  </a:txBody>
                  <a:tcPr anchor="ctr" marT="12700" marB="12700">
                    <a:solidFill>
                      <a:srgbClr val="F2F4F7"/>
                    </a:solidFill>
                  </a:tcPr>
                </a:tc>
                <a:tc>
                  <a:txBody>
                    <a:bodyPr/>
                    <a:lstStyle/>
                    <a:p>
                      <a:r>
                        <a:rPr sz="1100" b="0" i="0">
                          <a:solidFill>
                            <a:srgbClr val="262B33"/>
                          </a:solidFill>
                          <a:latin typeface="Calibri"/>
                        </a:rPr>
                        <a:t>✓</a:t>
                      </a:r>
                    </a:p>
                  </a:txBody>
                  <a:tcPr anchor="ctr" marT="12700" marB="12700">
                    <a:solidFill>
                      <a:srgbClr val="F2F4F7"/>
                    </a:solidFill>
                  </a:tcPr>
                </a:tc>
              </a:tr>
              <a:tr h="329184">
                <a:tc>
                  <a:txBody>
                    <a:bodyPr/>
                    <a:lstStyle/>
                    <a:p>
                      <a:r>
                        <a:rPr sz="1100" b="1" i="0">
                          <a:solidFill>
                            <a:srgbClr val="0F2A4F"/>
                          </a:solidFill>
                          <a:latin typeface="Calibri"/>
                        </a:rPr>
                        <a:t>80</a:t>
                      </a:r>
                    </a:p>
                  </a:txBody>
                  <a:tcPr anchor="ctr" marT="12700" marB="12700">
                    <a:solidFill>
                      <a:srgbClr val="FFFFFF"/>
                    </a:solidFill>
                  </a:tcPr>
                </a:tc>
                <a:tc>
                  <a:txBody>
                    <a:bodyPr/>
                    <a:lstStyle/>
                    <a:p>
                      <a:r>
                        <a:rPr sz="1100" b="0" i="0">
                          <a:solidFill>
                            <a:srgbClr val="262B33"/>
                          </a:solidFill>
                          <a:latin typeface="Calibri"/>
                        </a:rPr>
                        <a:t>LightGBM</a:t>
                      </a:r>
                    </a:p>
                  </a:txBody>
                  <a:tcPr anchor="ctr" marT="12700" marB="12700">
                    <a:solidFill>
                      <a:srgbClr val="FFFFFF"/>
                    </a:solidFill>
                  </a:tcPr>
                </a:tc>
                <a:tc>
                  <a:txBody>
                    <a:bodyPr/>
                    <a:lstStyle/>
                    <a:p>
                      <a:r>
                        <a:rPr sz="1100" b="0" i="0">
                          <a:solidFill>
                            <a:srgbClr val="262B33"/>
                          </a:solidFill>
                          <a:latin typeface="Calibri"/>
                        </a:rPr>
                        <a:t>0,899</a:t>
                      </a:r>
                    </a:p>
                  </a:txBody>
                  <a:tcPr anchor="ctr" marT="12700" marB="12700">
                    <a:solidFill>
                      <a:srgbClr val="FFFFFF"/>
                    </a:solidFill>
                  </a:tcPr>
                </a:tc>
                <a:tc>
                  <a:txBody>
                    <a:bodyPr/>
                    <a:lstStyle/>
                    <a:p>
                      <a:r>
                        <a:rPr sz="1100" b="0" i="0">
                          <a:solidFill>
                            <a:srgbClr val="262B33"/>
                          </a:solidFill>
                          <a:latin typeface="Calibri"/>
                        </a:rPr>
                        <a:t>0,983</a:t>
                      </a:r>
                    </a:p>
                  </a:txBody>
                  <a:tcPr anchor="ctr" marT="12700" marB="12700">
                    <a:solidFill>
                      <a:srgbClr val="FFFFFF"/>
                    </a:solidFill>
                  </a:tcPr>
                </a:tc>
                <a:tc>
                  <a:txBody>
                    <a:bodyPr/>
                    <a:lstStyle/>
                    <a:p>
                      <a:r>
                        <a:rPr sz="1100" b="0" i="0">
                          <a:solidFill>
                            <a:srgbClr val="262B33"/>
                          </a:solidFill>
                          <a:latin typeface="Calibri"/>
                        </a:rPr>
                        <a:t>✓</a:t>
                      </a:r>
                    </a:p>
                  </a:txBody>
                  <a:tcPr anchor="ctr" marT="12700" marB="12700">
                    <a:solidFill>
                      <a:srgbClr val="FFFFFF"/>
                    </a:solidFill>
                  </a:tcPr>
                </a:tc>
              </a:tr>
              <a:tr h="329184">
                <a:tc>
                  <a:txBody>
                    <a:bodyPr/>
                    <a:lstStyle/>
                    <a:p>
                      <a:r>
                        <a:rPr sz="1100" b="1" i="0">
                          <a:solidFill>
                            <a:srgbClr val="0F2A4F"/>
                          </a:solidFill>
                          <a:latin typeface="Calibri"/>
                        </a:rPr>
                        <a:t>100</a:t>
                      </a:r>
                    </a:p>
                  </a:txBody>
                  <a:tcPr anchor="ctr" marT="12700" marB="12700">
                    <a:solidFill>
                      <a:srgbClr val="F2F4F7"/>
                    </a:solidFill>
                  </a:tcPr>
                </a:tc>
                <a:tc>
                  <a:txBody>
                    <a:bodyPr/>
                    <a:lstStyle/>
                    <a:p>
                      <a:r>
                        <a:rPr sz="1100" b="0" i="0">
                          <a:solidFill>
                            <a:srgbClr val="262B33"/>
                          </a:solidFill>
                          <a:latin typeface="Calibri"/>
                        </a:rPr>
                        <a:t>XGBoost</a:t>
                      </a:r>
                    </a:p>
                  </a:txBody>
                  <a:tcPr anchor="ctr" marT="12700" marB="12700">
                    <a:solidFill>
                      <a:srgbClr val="F2F4F7"/>
                    </a:solidFill>
                  </a:tcPr>
                </a:tc>
                <a:tc>
                  <a:txBody>
                    <a:bodyPr/>
                    <a:lstStyle/>
                    <a:p>
                      <a:r>
                        <a:rPr sz="1100" b="0" i="0">
                          <a:solidFill>
                            <a:srgbClr val="262B33"/>
                          </a:solidFill>
                          <a:latin typeface="Calibri"/>
                        </a:rPr>
                        <a:t>0,930</a:t>
                      </a:r>
                    </a:p>
                  </a:txBody>
                  <a:tcPr anchor="ctr" marT="12700" marB="12700">
                    <a:solidFill>
                      <a:srgbClr val="F2F4F7"/>
                    </a:solidFill>
                  </a:tcPr>
                </a:tc>
                <a:tc>
                  <a:txBody>
                    <a:bodyPr/>
                    <a:lstStyle/>
                    <a:p>
                      <a:r>
                        <a:rPr sz="1100" b="0" i="0">
                          <a:solidFill>
                            <a:srgbClr val="262B33"/>
                          </a:solidFill>
                          <a:latin typeface="Calibri"/>
                        </a:rPr>
                        <a:t>0,990</a:t>
                      </a:r>
                    </a:p>
                  </a:txBody>
                  <a:tcPr anchor="ctr" marT="12700" marB="12700">
                    <a:solidFill>
                      <a:srgbClr val="F2F4F7"/>
                    </a:solidFill>
                  </a:tcPr>
                </a:tc>
                <a:tc>
                  <a:txBody>
                    <a:bodyPr/>
                    <a:lstStyle/>
                    <a:p>
                      <a:r>
                        <a:rPr sz="1100" b="0" i="0">
                          <a:solidFill>
                            <a:srgbClr val="262B33"/>
                          </a:solidFill>
                          <a:latin typeface="Calibri"/>
                        </a:rPr>
                        <a:t>✓</a:t>
                      </a:r>
                    </a:p>
                  </a:txBody>
                  <a:tcPr anchor="ctr" marT="12700" marB="12700">
                    <a:solidFill>
                      <a:srgbClr val="F2F4F7"/>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55664"/>
            <a:ext cx="8686800" cy="310896"/>
          </a:xfrm>
          <a:prstGeom prst="rect">
            <a:avLst/>
          </a:prstGeom>
          <a:noFill/>
        </p:spPr>
        <p:txBody>
          <a:bodyPr wrap="square" lIns="0" rIns="0" tIns="0" bIns="0">
            <a:spAutoFit/>
          </a:bodyPr>
          <a:lstStyle/>
          <a:p>
            <a:r>
              <a:rPr sz="900" b="0" i="0">
                <a:solidFill>
                  <a:srgbClr val="5B6370"/>
                </a:solidFill>
                <a:latin typeface="Calibri"/>
              </a:rPr>
              <a:t>DSP391m · Nhóm 1 · Bảo vệ cuối kỳ</a:t>
            </a:r>
            <a:r>
              <a:rPr sz="900" b="1" i="0">
                <a:solidFill>
                  <a:srgbClr val="E8722B"/>
                </a:solidFill>
                <a:latin typeface="Calibri"/>
              </a:rPr>
              <a:t>   ·   Khoa</a:t>
            </a:r>
          </a:p>
        </p:txBody>
      </p:sp>
      <p:sp>
        <p:nvSpPr>
          <p:cNvPr id="5" name="TextBox 4"/>
          <p:cNvSpPr txBox="1"/>
          <p:nvPr/>
        </p:nvSpPr>
        <p:spPr>
          <a:xfrm>
            <a:off x="11155680" y="6455664"/>
            <a:ext cx="822960" cy="310896"/>
          </a:xfrm>
          <a:prstGeom prst="rect">
            <a:avLst/>
          </a:prstGeom>
          <a:noFill/>
        </p:spPr>
        <p:txBody>
          <a:bodyPr wrap="square" lIns="0" rIns="0" tIns="0" bIns="0">
            <a:spAutoFit/>
          </a:bodyPr>
          <a:lstStyle/>
          <a:p>
            <a:pPr algn="r"/>
            <a:r>
              <a:rPr sz="1000" b="1" i="0">
                <a:solidFill>
                  <a:srgbClr val="0F2A4F"/>
                </a:solidFill>
                <a:latin typeface="Calibri"/>
              </a:rPr>
              <a:t>9</a:t>
            </a:r>
          </a:p>
        </p:txBody>
      </p:sp>
      <p:sp>
        <p:nvSpPr>
          <p:cNvPr id="6" name="TextBox 5"/>
          <p:cNvSpPr txBox="1"/>
          <p:nvPr/>
        </p:nvSpPr>
        <p:spPr>
          <a:xfrm>
            <a:off x="502920" y="292608"/>
            <a:ext cx="10972800" cy="365760"/>
          </a:xfrm>
          <a:prstGeom prst="rect">
            <a:avLst/>
          </a:prstGeom>
          <a:noFill/>
        </p:spPr>
        <p:txBody>
          <a:bodyPr wrap="square" lIns="0" rIns="0" tIns="0" bIns="0">
            <a:spAutoFit/>
          </a:bodyPr>
          <a:lstStyle/>
          <a:p>
            <a:r>
              <a:rPr sz="1200" b="1" i="0">
                <a:solidFill>
                  <a:srgbClr val="E8722B"/>
                </a:solidFill>
                <a:latin typeface="Calibri"/>
              </a:rPr>
              <a:t>RQ1 · DUAL-COHORT (SLIDE ĐINH)</a:t>
            </a:r>
          </a:p>
        </p:txBody>
      </p:sp>
      <p:sp>
        <p:nvSpPr>
          <p:cNvPr id="7" name="TextBox 6"/>
          <p:cNvSpPr txBox="1"/>
          <p:nvPr/>
        </p:nvSpPr>
        <p:spPr>
          <a:xfrm>
            <a:off x="502920" y="603504"/>
            <a:ext cx="11155680" cy="868680"/>
          </a:xfrm>
          <a:prstGeom prst="rect">
            <a:avLst/>
          </a:prstGeom>
          <a:noFill/>
        </p:spPr>
        <p:txBody>
          <a:bodyPr wrap="square" lIns="0" rIns="0" tIns="0" bIns="0">
            <a:spAutoFit/>
          </a:bodyPr>
          <a:lstStyle/>
          <a:p>
            <a:r>
              <a:rPr sz="2500" b="1" i="0">
                <a:solidFill>
                  <a:srgbClr val="0F2A4F"/>
                </a:solidFill>
                <a:latin typeface="Calibri"/>
              </a:rPr>
              <a:t>Recall toàn-cohort vs cohort còn-đang-học</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6263640" cy="4572000"/>
          </a:xfrm>
          <a:prstGeom prst="rect">
            <a:avLst/>
          </a:prstGeom>
          <a:noFill/>
        </p:spPr>
        <p:txBody>
          <a:bodyPr wrap="square" lIns="0" rIns="0" tIns="0" bIns="0" anchor="t">
            <a:spAutoFit/>
          </a:bodyPr>
          <a:lstStyle/>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Recall toàn-cohort tính cả SV đã rút trước mốc t; cohort active (còn học tại t) mới phản ánh giá trị can thiệp thật.</a:t>
            </a:r>
          </a:p>
          <a:p>
            <a:pPr>
              <a:lnSpc>
                <a:spcPct val="104000"/>
              </a:lnSpc>
              <a:spcBef>
                <a:spcPts val="600"/>
              </a:spcBef>
              <a:spcAft>
                <a:spcPts val="700"/>
              </a:spcAft>
            </a:pPr>
            <a:r>
              <a:rPr sz="1350" b="1" i="0">
                <a:solidFill>
                  <a:srgbClr val="E8722B"/>
                </a:solidFill>
                <a:latin typeface="Calibri"/>
              </a:rPr>
              <a:t>▶ Số liệu chốt:  </a:t>
            </a:r>
            <a:r>
              <a:rPr sz="1350" b="1" i="0">
                <a:solidFill>
                  <a:srgbClr val="0F2A4F"/>
                </a:solidFill>
                <a:latin typeface="Calibri"/>
              </a:rPr>
              <a:t>full đạt recall ≥ 0,80 từ t=40% — nhưng active chỉ đạt ở t=100% (XGBoost).</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Kết luận RQ1 phải nêu CẢ HAI cohort — đây là điểm trung thực của đồ án.</a:t>
            </a:r>
          </a:p>
        </p:txBody>
      </p:sp>
      <p:pic>
        <p:nvPicPr>
          <p:cNvPr id="10" name="Picture 9" descr="sensitivity_active_recall_xgb.png"/>
          <p:cNvPicPr>
            <a:picLocks noChangeAspect="1"/>
          </p:cNvPicPr>
          <p:nvPr/>
        </p:nvPicPr>
        <p:blipFill>
          <a:blip r:embed="rId2"/>
          <a:stretch>
            <a:fillRect/>
          </a:stretch>
        </p:blipFill>
        <p:spPr>
          <a:xfrm>
            <a:off x="7040880" y="1783080"/>
            <a:ext cx="4709160" cy="3098442"/>
          </a:xfrm>
          <a:prstGeom prst="rect">
            <a:avLst/>
          </a:prstGeom>
        </p:spPr>
      </p:pic>
      <p:sp>
        <p:nvSpPr>
          <p:cNvPr id="11" name="TextBox 10"/>
          <p:cNvSpPr txBox="1"/>
          <p:nvPr/>
        </p:nvSpPr>
        <p:spPr>
          <a:xfrm>
            <a:off x="7040880" y="4927242"/>
            <a:ext cx="4709160" cy="365760"/>
          </a:xfrm>
          <a:prstGeom prst="rect">
            <a:avLst/>
          </a:prstGeom>
          <a:noFill/>
        </p:spPr>
        <p:txBody>
          <a:bodyPr wrap="square" lIns="0" rIns="0" tIns="0" bIns="0">
            <a:spAutoFit/>
          </a:bodyPr>
          <a:lstStyle/>
          <a:p>
            <a:pPr algn="ctr"/>
            <a:r>
              <a:rPr sz="950" b="0" i="1">
                <a:solidFill>
                  <a:srgbClr val="5B6370"/>
                </a:solidFill>
                <a:latin typeface="Calibri"/>
              </a:rPr>
              <a:t>Full vs active cohort — recall theo mốc (XGBoost)</a:t>
            </a:r>
          </a:p>
        </p:txBody>
      </p:sp>
      <p:graphicFrame>
        <p:nvGraphicFramePr>
          <p:cNvPr id="12" name="Table 11"/>
          <p:cNvGraphicFramePr>
            <a:graphicFrameLocks noGrp="1"/>
          </p:cNvGraphicFramePr>
          <p:nvPr/>
        </p:nvGraphicFramePr>
        <p:xfrm>
          <a:off x="548640" y="3794760"/>
          <a:ext cx="6126480" cy="2304288"/>
        </p:xfrm>
        <a:graphic>
          <a:graphicData uri="http://schemas.openxmlformats.org/drawingml/2006/table">
            <a:tbl>
              <a:tblPr firstRow="1" bandRow="1">
                <a:tableStyleId>{5C22544A-7EE6-4342-B048-85BDC9FD1C3A}</a:tableStyleId>
              </a:tblPr>
              <a:tblGrid>
                <a:gridCol w="822960"/>
                <a:gridCol w="1737360"/>
                <a:gridCol w="1737360"/>
                <a:gridCol w="1828800"/>
              </a:tblGrid>
              <a:tr h="329184">
                <a:tc>
                  <a:txBody>
                    <a:bodyPr/>
                    <a:lstStyle/>
                    <a:p>
                      <a:r>
                        <a:rPr sz="1100" b="1" i="0">
                          <a:solidFill>
                            <a:srgbClr val="FFFFFF"/>
                          </a:solidFill>
                          <a:latin typeface="Calibri"/>
                        </a:rPr>
                        <a:t>t (%)</a:t>
                      </a:r>
                    </a:p>
                  </a:txBody>
                  <a:tcPr anchor="ctr" marT="25400" marB="25400">
                    <a:solidFill>
                      <a:srgbClr val="0F2A4F"/>
                    </a:solidFill>
                  </a:tcPr>
                </a:tc>
                <a:tc>
                  <a:txBody>
                    <a:bodyPr/>
                    <a:lstStyle/>
                    <a:p>
                      <a:r>
                        <a:rPr sz="1100" b="1" i="0">
                          <a:solidFill>
                            <a:srgbClr val="FFFFFF"/>
                          </a:solidFill>
                          <a:latin typeface="Calibri"/>
                        </a:rPr>
                        <a:t>Recall full</a:t>
                      </a:r>
                    </a:p>
                  </a:txBody>
                  <a:tcPr anchor="ctr" marT="25400" marB="25400">
                    <a:solidFill>
                      <a:srgbClr val="0F2A4F"/>
                    </a:solidFill>
                  </a:tcPr>
                </a:tc>
                <a:tc>
                  <a:txBody>
                    <a:bodyPr/>
                    <a:lstStyle/>
                    <a:p>
                      <a:r>
                        <a:rPr sz="1100" b="1" i="0">
                          <a:solidFill>
                            <a:srgbClr val="FFFFFF"/>
                          </a:solidFill>
                          <a:latin typeface="Calibri"/>
                        </a:rPr>
                        <a:t>Recall active</a:t>
                      </a:r>
                    </a:p>
                  </a:txBody>
                  <a:tcPr anchor="ctr" marT="25400" marB="25400">
                    <a:solidFill>
                      <a:srgbClr val="0F2A4F"/>
                    </a:solidFill>
                  </a:tcPr>
                </a:tc>
                <a:tc>
                  <a:txBody>
                    <a:bodyPr/>
                    <a:lstStyle/>
                    <a:p>
                      <a:r>
                        <a:rPr sz="1100" b="1" i="0">
                          <a:solidFill>
                            <a:srgbClr val="FFFFFF"/>
                          </a:solidFill>
                          <a:latin typeface="Calibri"/>
                        </a:rPr>
                        <a:t>SV đã rút trước t</a:t>
                      </a:r>
                    </a:p>
                  </a:txBody>
                  <a:tcPr anchor="ctr" marT="25400" marB="25400">
                    <a:solidFill>
                      <a:srgbClr val="0F2A4F"/>
                    </a:solidFill>
                  </a:tcPr>
                </a:tc>
              </a:tr>
              <a:tr h="329184">
                <a:tc>
                  <a:txBody>
                    <a:bodyPr/>
                    <a:lstStyle/>
                    <a:p>
                      <a:r>
                        <a:rPr sz="1100" b="1" i="0">
                          <a:solidFill>
                            <a:srgbClr val="0F2A4F"/>
                          </a:solidFill>
                          <a:latin typeface="Calibri"/>
                        </a:rPr>
                        <a:t>10</a:t>
                      </a:r>
                    </a:p>
                  </a:txBody>
                  <a:tcPr anchor="ctr" marT="12700" marB="12700">
                    <a:solidFill>
                      <a:srgbClr val="FFFFFF"/>
                    </a:solidFill>
                  </a:tcPr>
                </a:tc>
                <a:tc>
                  <a:txBody>
                    <a:bodyPr/>
                    <a:lstStyle/>
                    <a:p>
                      <a:r>
                        <a:rPr sz="1100" b="0" i="0">
                          <a:solidFill>
                            <a:srgbClr val="262B33"/>
                          </a:solidFill>
                          <a:latin typeface="Calibri"/>
                        </a:rPr>
                        <a:t>0,719</a:t>
                      </a:r>
                    </a:p>
                  </a:txBody>
                  <a:tcPr anchor="ctr" marT="12700" marB="12700">
                    <a:solidFill>
                      <a:srgbClr val="FFFFFF"/>
                    </a:solidFill>
                  </a:tcPr>
                </a:tc>
                <a:tc>
                  <a:txBody>
                    <a:bodyPr/>
                    <a:lstStyle/>
                    <a:p>
                      <a:r>
                        <a:rPr sz="1100" b="0" i="0">
                          <a:solidFill>
                            <a:srgbClr val="262B33"/>
                          </a:solidFill>
                          <a:latin typeface="Calibri"/>
                        </a:rPr>
                        <a:t>0,631</a:t>
                      </a:r>
                    </a:p>
                  </a:txBody>
                  <a:tcPr anchor="ctr" marT="12700" marB="12700">
                    <a:solidFill>
                      <a:srgbClr val="FFFFFF"/>
                    </a:solidFill>
                  </a:tcPr>
                </a:tc>
                <a:tc>
                  <a:txBody>
                    <a:bodyPr/>
                    <a:lstStyle/>
                    <a:p>
                      <a:r>
                        <a:rPr sz="1100" b="0" i="0">
                          <a:solidFill>
                            <a:srgbClr val="262B33"/>
                          </a:solidFill>
                          <a:latin typeface="Calibri"/>
                        </a:rPr>
                        <a:t>923</a:t>
                      </a:r>
                    </a:p>
                  </a:txBody>
                  <a:tcPr anchor="ctr" marT="12700" marB="12700">
                    <a:solidFill>
                      <a:srgbClr val="FFFFFF"/>
                    </a:solidFill>
                  </a:tcPr>
                </a:tc>
              </a:tr>
              <a:tr h="329184">
                <a:tc>
                  <a:txBody>
                    <a:bodyPr/>
                    <a:lstStyle/>
                    <a:p>
                      <a:r>
                        <a:rPr sz="1100" b="1" i="0">
                          <a:solidFill>
                            <a:srgbClr val="0F2A4F"/>
                          </a:solidFill>
                          <a:latin typeface="Calibri"/>
                        </a:rPr>
                        <a:t>20</a:t>
                      </a:r>
                    </a:p>
                  </a:txBody>
                  <a:tcPr anchor="ctr" marT="12700" marB="12700">
                    <a:solidFill>
                      <a:srgbClr val="F2F4F7"/>
                    </a:solidFill>
                  </a:tcPr>
                </a:tc>
                <a:tc>
                  <a:txBody>
                    <a:bodyPr/>
                    <a:lstStyle/>
                    <a:p>
                      <a:r>
                        <a:rPr sz="1100" b="0" i="0">
                          <a:solidFill>
                            <a:srgbClr val="262B33"/>
                          </a:solidFill>
                          <a:latin typeface="Calibri"/>
                        </a:rPr>
                        <a:t>0,760</a:t>
                      </a:r>
                    </a:p>
                  </a:txBody>
                  <a:tcPr anchor="ctr" marT="12700" marB="12700">
                    <a:solidFill>
                      <a:srgbClr val="F2F4F7"/>
                    </a:solidFill>
                  </a:tcPr>
                </a:tc>
                <a:tc>
                  <a:txBody>
                    <a:bodyPr/>
                    <a:lstStyle/>
                    <a:p>
                      <a:r>
                        <a:rPr sz="1100" b="0" i="0">
                          <a:solidFill>
                            <a:srgbClr val="262B33"/>
                          </a:solidFill>
                          <a:latin typeface="Calibri"/>
                        </a:rPr>
                        <a:t>0,649</a:t>
                      </a:r>
                    </a:p>
                  </a:txBody>
                  <a:tcPr anchor="ctr" marT="12700" marB="12700">
                    <a:solidFill>
                      <a:srgbClr val="F2F4F7"/>
                    </a:solidFill>
                  </a:tcPr>
                </a:tc>
                <a:tc>
                  <a:txBody>
                    <a:bodyPr/>
                    <a:lstStyle/>
                    <a:p>
                      <a:r>
                        <a:rPr sz="1100" b="0" i="0">
                          <a:solidFill>
                            <a:srgbClr val="262B33"/>
                          </a:solidFill>
                          <a:latin typeface="Calibri"/>
                        </a:rPr>
                        <a:t>1.130</a:t>
                      </a:r>
                    </a:p>
                  </a:txBody>
                  <a:tcPr anchor="ctr" marT="12700" marB="12700">
                    <a:solidFill>
                      <a:srgbClr val="F2F4F7"/>
                    </a:solidFill>
                  </a:tcPr>
                </a:tc>
              </a:tr>
              <a:tr h="329184">
                <a:tc>
                  <a:txBody>
                    <a:bodyPr/>
                    <a:lstStyle/>
                    <a:p>
                      <a:r>
                        <a:rPr sz="1100" b="1" i="0">
                          <a:solidFill>
                            <a:srgbClr val="0F2A4F"/>
                          </a:solidFill>
                          <a:latin typeface="Calibri"/>
                        </a:rPr>
                        <a:t>40</a:t>
                      </a:r>
                    </a:p>
                  </a:txBody>
                  <a:tcPr anchor="ctr" marT="12700" marB="12700">
                    <a:solidFill>
                      <a:srgbClr val="FFFFFF"/>
                    </a:solidFill>
                  </a:tcPr>
                </a:tc>
                <a:tc>
                  <a:txBody>
                    <a:bodyPr/>
                    <a:lstStyle/>
                    <a:p>
                      <a:r>
                        <a:rPr sz="1100" b="0" i="0">
                          <a:solidFill>
                            <a:srgbClr val="262B33"/>
                          </a:solidFill>
                          <a:latin typeface="Calibri"/>
                        </a:rPr>
                        <a:t>0,811</a:t>
                      </a:r>
                    </a:p>
                  </a:txBody>
                  <a:tcPr anchor="ctr" marT="12700" marB="12700">
                    <a:solidFill>
                      <a:srgbClr val="FFFFFF"/>
                    </a:solidFill>
                  </a:tcPr>
                </a:tc>
                <a:tc>
                  <a:txBody>
                    <a:bodyPr/>
                    <a:lstStyle/>
                    <a:p>
                      <a:r>
                        <a:rPr sz="1100" b="0" i="0">
                          <a:solidFill>
                            <a:srgbClr val="262B33"/>
                          </a:solidFill>
                          <a:latin typeface="Calibri"/>
                        </a:rPr>
                        <a:t>0,678</a:t>
                      </a:r>
                    </a:p>
                  </a:txBody>
                  <a:tcPr anchor="ctr" marT="12700" marB="12700">
                    <a:solidFill>
                      <a:srgbClr val="FFFFFF"/>
                    </a:solidFill>
                  </a:tcPr>
                </a:tc>
                <a:tc>
                  <a:txBody>
                    <a:bodyPr/>
                    <a:lstStyle/>
                    <a:p>
                      <a:r>
                        <a:rPr sz="1100" b="0" i="0">
                          <a:solidFill>
                            <a:srgbClr val="262B33"/>
                          </a:solidFill>
                          <a:latin typeface="Calibri"/>
                        </a:rPr>
                        <a:t>1.437</a:t>
                      </a:r>
                    </a:p>
                  </a:txBody>
                  <a:tcPr anchor="ctr" marT="12700" marB="12700">
                    <a:solidFill>
                      <a:srgbClr val="FFFFFF"/>
                    </a:solidFill>
                  </a:tcPr>
                </a:tc>
              </a:tr>
              <a:tr h="329184">
                <a:tc>
                  <a:txBody>
                    <a:bodyPr/>
                    <a:lstStyle/>
                    <a:p>
                      <a:r>
                        <a:rPr sz="1100" b="1" i="0">
                          <a:solidFill>
                            <a:srgbClr val="0F2A4F"/>
                          </a:solidFill>
                          <a:latin typeface="Calibri"/>
                        </a:rPr>
                        <a:t>60</a:t>
                      </a:r>
                    </a:p>
                  </a:txBody>
                  <a:tcPr anchor="ctr" marT="12700" marB="12700">
                    <a:solidFill>
                      <a:srgbClr val="F2F4F7"/>
                    </a:solidFill>
                  </a:tcPr>
                </a:tc>
                <a:tc>
                  <a:txBody>
                    <a:bodyPr/>
                    <a:lstStyle/>
                    <a:p>
                      <a:r>
                        <a:rPr sz="1100" b="0" i="0">
                          <a:solidFill>
                            <a:srgbClr val="262B33"/>
                          </a:solidFill>
                          <a:latin typeface="Calibri"/>
                        </a:rPr>
                        <a:t>0,870</a:t>
                      </a:r>
                    </a:p>
                  </a:txBody>
                  <a:tcPr anchor="ctr" marT="12700" marB="12700">
                    <a:solidFill>
                      <a:srgbClr val="F2F4F7"/>
                    </a:solidFill>
                  </a:tcPr>
                </a:tc>
                <a:tc>
                  <a:txBody>
                    <a:bodyPr/>
                    <a:lstStyle/>
                    <a:p>
                      <a:r>
                        <a:rPr sz="1100" b="0" i="0">
                          <a:solidFill>
                            <a:srgbClr val="262B33"/>
                          </a:solidFill>
                          <a:latin typeface="Calibri"/>
                        </a:rPr>
                        <a:t>0,749</a:t>
                      </a:r>
                    </a:p>
                  </a:txBody>
                  <a:tcPr anchor="ctr" marT="12700" marB="12700">
                    <a:solidFill>
                      <a:srgbClr val="F2F4F7"/>
                    </a:solidFill>
                  </a:tcPr>
                </a:tc>
                <a:tc>
                  <a:txBody>
                    <a:bodyPr/>
                    <a:lstStyle/>
                    <a:p>
                      <a:r>
                        <a:rPr sz="1100" b="0" i="0">
                          <a:solidFill>
                            <a:srgbClr val="262B33"/>
                          </a:solidFill>
                          <a:latin typeface="Calibri"/>
                        </a:rPr>
                        <a:t>1.687</a:t>
                      </a:r>
                    </a:p>
                  </a:txBody>
                  <a:tcPr anchor="ctr" marT="12700" marB="12700">
                    <a:solidFill>
                      <a:srgbClr val="F2F4F7"/>
                    </a:solidFill>
                  </a:tcPr>
                </a:tc>
              </a:tr>
              <a:tr h="329184">
                <a:tc>
                  <a:txBody>
                    <a:bodyPr/>
                    <a:lstStyle/>
                    <a:p>
                      <a:r>
                        <a:rPr sz="1100" b="1" i="0">
                          <a:solidFill>
                            <a:srgbClr val="0F2A4F"/>
                          </a:solidFill>
                          <a:latin typeface="Calibri"/>
                        </a:rPr>
                        <a:t>80</a:t>
                      </a:r>
                    </a:p>
                  </a:txBody>
                  <a:tcPr anchor="ctr" marT="12700" marB="12700">
                    <a:solidFill>
                      <a:srgbClr val="FFFFFF"/>
                    </a:solidFill>
                  </a:tcPr>
                </a:tc>
                <a:tc>
                  <a:txBody>
                    <a:bodyPr/>
                    <a:lstStyle/>
                    <a:p>
                      <a:r>
                        <a:rPr sz="1100" b="0" i="0">
                          <a:solidFill>
                            <a:srgbClr val="262B33"/>
                          </a:solidFill>
                          <a:latin typeface="Calibri"/>
                        </a:rPr>
                        <a:t>0,897</a:t>
                      </a:r>
                    </a:p>
                  </a:txBody>
                  <a:tcPr anchor="ctr" marT="12700" marB="12700">
                    <a:solidFill>
                      <a:srgbClr val="FFFFFF"/>
                    </a:solidFill>
                  </a:tcPr>
                </a:tc>
                <a:tc>
                  <a:txBody>
                    <a:bodyPr/>
                    <a:lstStyle/>
                    <a:p>
                      <a:r>
                        <a:rPr sz="1100" b="0" i="0">
                          <a:solidFill>
                            <a:srgbClr val="262B33"/>
                          </a:solidFill>
                          <a:latin typeface="Calibri"/>
                        </a:rPr>
                        <a:t>0,779</a:t>
                      </a:r>
                    </a:p>
                  </a:txBody>
                  <a:tcPr anchor="ctr" marT="12700" marB="12700">
                    <a:solidFill>
                      <a:srgbClr val="FFFFFF"/>
                    </a:solidFill>
                  </a:tcPr>
                </a:tc>
                <a:tc>
                  <a:txBody>
                    <a:bodyPr/>
                    <a:lstStyle/>
                    <a:p>
                      <a:r>
                        <a:rPr sz="1100" b="0" i="0">
                          <a:solidFill>
                            <a:srgbClr val="262B33"/>
                          </a:solidFill>
                          <a:latin typeface="Calibri"/>
                        </a:rPr>
                        <a:t>1.859</a:t>
                      </a:r>
                    </a:p>
                  </a:txBody>
                  <a:tcPr anchor="ctr" marT="12700" marB="12700">
                    <a:solidFill>
                      <a:srgbClr val="FFFFFF"/>
                    </a:solidFill>
                  </a:tcPr>
                </a:tc>
              </a:tr>
              <a:tr h="329184">
                <a:tc>
                  <a:txBody>
                    <a:bodyPr/>
                    <a:lstStyle/>
                    <a:p>
                      <a:r>
                        <a:rPr sz="1100" b="1" i="0">
                          <a:solidFill>
                            <a:srgbClr val="0F2A4F"/>
                          </a:solidFill>
                          <a:latin typeface="Calibri"/>
                        </a:rPr>
                        <a:t>100</a:t>
                      </a:r>
                    </a:p>
                  </a:txBody>
                  <a:tcPr anchor="ctr" marT="12700" marB="12700">
                    <a:solidFill>
                      <a:srgbClr val="F2F4F7"/>
                    </a:solidFill>
                  </a:tcPr>
                </a:tc>
                <a:tc>
                  <a:txBody>
                    <a:bodyPr/>
                    <a:lstStyle/>
                    <a:p>
                      <a:r>
                        <a:rPr sz="1100" b="0" i="0">
                          <a:solidFill>
                            <a:srgbClr val="262B33"/>
                          </a:solidFill>
                          <a:latin typeface="Calibri"/>
                        </a:rPr>
                        <a:t>0,930</a:t>
                      </a:r>
                    </a:p>
                  </a:txBody>
                  <a:tcPr anchor="ctr" marT="12700" marB="12700">
                    <a:solidFill>
                      <a:srgbClr val="F2F4F7"/>
                    </a:solidFill>
                  </a:tcPr>
                </a:tc>
                <a:tc>
                  <a:txBody>
                    <a:bodyPr/>
                    <a:lstStyle/>
                    <a:p>
                      <a:r>
                        <a:rPr sz="1100" b="0" i="0">
                          <a:solidFill>
                            <a:srgbClr val="262B33"/>
                          </a:solidFill>
                          <a:latin typeface="Calibri"/>
                        </a:rPr>
                        <a:t>0,841</a:t>
                      </a:r>
                    </a:p>
                  </a:txBody>
                  <a:tcPr anchor="ctr" marT="12700" marB="12700">
                    <a:solidFill>
                      <a:srgbClr val="F2F4F7"/>
                    </a:solidFill>
                  </a:tcPr>
                </a:tc>
                <a:tc>
                  <a:txBody>
                    <a:bodyPr/>
                    <a:lstStyle/>
                    <a:p>
                      <a:r>
                        <a:rPr sz="1100" b="0" i="0">
                          <a:solidFill>
                            <a:srgbClr val="262B33"/>
                          </a:solidFill>
                          <a:latin typeface="Calibri"/>
                        </a:rPr>
                        <a:t>1.953</a:t>
                      </a:r>
                    </a:p>
                  </a:txBody>
                  <a:tcPr anchor="ctr" marT="12700" marB="12700">
                    <a:solidFill>
                      <a:srgbClr val="F2F4F7"/>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55664"/>
            <a:ext cx="8686800" cy="310896"/>
          </a:xfrm>
          <a:prstGeom prst="rect">
            <a:avLst/>
          </a:prstGeom>
          <a:noFill/>
        </p:spPr>
        <p:txBody>
          <a:bodyPr wrap="square" lIns="0" rIns="0" tIns="0" bIns="0">
            <a:spAutoFit/>
          </a:bodyPr>
          <a:lstStyle/>
          <a:p>
            <a:r>
              <a:rPr sz="900" b="0" i="0">
                <a:solidFill>
                  <a:srgbClr val="5B6370"/>
                </a:solidFill>
                <a:latin typeface="Calibri"/>
              </a:rPr>
              <a:t>DSP391m · Nhóm 1 · Bảo vệ cuối kỳ</a:t>
            </a:r>
            <a:r>
              <a:rPr sz="900" b="1" i="0">
                <a:solidFill>
                  <a:srgbClr val="E8722B"/>
                </a:solidFill>
                <a:latin typeface="Calibri"/>
              </a:rPr>
              <a:t>   ·   Đức</a:t>
            </a:r>
          </a:p>
        </p:txBody>
      </p:sp>
      <p:sp>
        <p:nvSpPr>
          <p:cNvPr id="5" name="TextBox 4"/>
          <p:cNvSpPr txBox="1"/>
          <p:nvPr/>
        </p:nvSpPr>
        <p:spPr>
          <a:xfrm>
            <a:off x="11155680" y="6455664"/>
            <a:ext cx="822960" cy="310896"/>
          </a:xfrm>
          <a:prstGeom prst="rect">
            <a:avLst/>
          </a:prstGeom>
          <a:noFill/>
        </p:spPr>
        <p:txBody>
          <a:bodyPr wrap="square" lIns="0" rIns="0" tIns="0" bIns="0">
            <a:spAutoFit/>
          </a:bodyPr>
          <a:lstStyle/>
          <a:p>
            <a:pPr algn="r"/>
            <a:r>
              <a:rPr sz="1000" b="1" i="0">
                <a:solidFill>
                  <a:srgbClr val="0F2A4F"/>
                </a:solidFill>
                <a:latin typeface="Calibri"/>
              </a:rPr>
              <a:t>10</a:t>
            </a:r>
          </a:p>
        </p:txBody>
      </p:sp>
      <p:sp>
        <p:nvSpPr>
          <p:cNvPr id="6" name="TextBox 5"/>
          <p:cNvSpPr txBox="1"/>
          <p:nvPr/>
        </p:nvSpPr>
        <p:spPr>
          <a:xfrm>
            <a:off x="502920" y="292608"/>
            <a:ext cx="10972800" cy="365760"/>
          </a:xfrm>
          <a:prstGeom prst="rect">
            <a:avLst/>
          </a:prstGeom>
          <a:noFill/>
        </p:spPr>
        <p:txBody>
          <a:bodyPr wrap="square" lIns="0" rIns="0" tIns="0" bIns="0">
            <a:spAutoFit/>
          </a:bodyPr>
          <a:lstStyle/>
          <a:p>
            <a:r>
              <a:rPr sz="1200" b="1" i="0">
                <a:solidFill>
                  <a:srgbClr val="E8722B"/>
                </a:solidFill>
                <a:latin typeface="Calibri"/>
              </a:rPr>
              <a:t>PHƯƠNG PHÁP · NGƯỠNG</a:t>
            </a:r>
          </a:p>
        </p:txBody>
      </p:sp>
      <p:sp>
        <p:nvSpPr>
          <p:cNvPr id="7" name="TextBox 6"/>
          <p:cNvSpPr txBox="1"/>
          <p:nvPr/>
        </p:nvSpPr>
        <p:spPr>
          <a:xfrm>
            <a:off x="502920" y="603504"/>
            <a:ext cx="11155680" cy="868680"/>
          </a:xfrm>
          <a:prstGeom prst="rect">
            <a:avLst/>
          </a:prstGeom>
          <a:noFill/>
        </p:spPr>
        <p:txBody>
          <a:bodyPr wrap="square" lIns="0" rIns="0" tIns="0" bIns="0">
            <a:spAutoFit/>
          </a:bodyPr>
          <a:lstStyle/>
          <a:p>
            <a:r>
              <a:rPr sz="2500" b="1" i="0">
                <a:solidFill>
                  <a:srgbClr val="0F2A4F"/>
                </a:solidFill>
                <a:latin typeface="Calibri"/>
              </a:rPr>
              <a:t>Ngưỡng quyết định chọn trên validation, không phải trên test</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11155680" cy="4572000"/>
          </a:xfrm>
          <a:prstGeom prst="rect">
            <a:avLst/>
          </a:prstGeom>
          <a:noFill/>
        </p:spPr>
        <p:txBody>
          <a:bodyPr wrap="square" lIns="0" rIns="0" t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Chọn ngưỡng quyết định trên tập VALIDATION theo từng chính sách, rồi mới áp lên test.</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Tối ưu ngưỡng trực tiếp trên test = rò rỉ lựa chọn (selection leakage).</a:t>
            </a:r>
          </a:p>
          <a:p>
            <a:pPr>
              <a:lnSpc>
                <a:spcPct val="104000"/>
              </a:lnSpc>
              <a:spcBef>
                <a:spcPts val="600"/>
              </a:spcBef>
              <a:spcAft>
                <a:spcPts val="700"/>
              </a:spcAft>
            </a:pPr>
            <a:r>
              <a:rPr sz="1350" b="1" i="0">
                <a:solidFill>
                  <a:srgbClr val="E8722B"/>
                </a:solidFill>
                <a:latin typeface="Calibri"/>
              </a:rPr>
              <a:t>▶ Số liệu chốt:  </a:t>
            </a:r>
            <a:r>
              <a:rPr sz="1350" b="1" i="0">
                <a:solidFill>
                  <a:srgbClr val="0F2A4F"/>
                </a:solidFill>
                <a:latin typeface="Calibri"/>
              </a:rPr>
              <a:t>Chính sách 'recall&gt;=0.9' (ngưỡng 0,86 chọn trên val) → test recall 0,900, precision 0,993 — val và test khớp nhau.</a:t>
            </a:r>
          </a:p>
        </p:txBody>
      </p:sp>
      <p:graphicFrame>
        <p:nvGraphicFramePr>
          <p:cNvPr id="10" name="Table 9"/>
          <p:cNvGraphicFramePr>
            <a:graphicFrameLocks noGrp="1"/>
          </p:cNvGraphicFramePr>
          <p:nvPr/>
        </p:nvGraphicFramePr>
        <p:xfrm>
          <a:off x="548640" y="3429000"/>
          <a:ext cx="10607040" cy="1645919"/>
        </p:xfrm>
        <a:graphic>
          <a:graphicData uri="http://schemas.openxmlformats.org/drawingml/2006/table">
            <a:tbl>
              <a:tblPr firstRow="1" bandRow="1">
                <a:tableStyleId>{5C22544A-7EE6-4342-B048-85BDC9FD1C3A}</a:tableStyleId>
              </a:tblPr>
              <a:tblGrid>
                <a:gridCol w="2743200"/>
                <a:gridCol w="1463040"/>
                <a:gridCol w="2103120"/>
                <a:gridCol w="2103120"/>
                <a:gridCol w="2194560"/>
              </a:tblGrid>
              <a:tr h="329183">
                <a:tc>
                  <a:txBody>
                    <a:bodyPr/>
                    <a:lstStyle/>
                    <a:p>
                      <a:r>
                        <a:rPr sz="1200" b="1" i="0">
                          <a:solidFill>
                            <a:srgbClr val="FFFFFF"/>
                          </a:solidFill>
                          <a:latin typeface="Calibri"/>
                        </a:rPr>
                        <a:t>Chính sách</a:t>
                      </a:r>
                    </a:p>
                  </a:txBody>
                  <a:tcPr anchor="ctr" marT="25400" marB="25400">
                    <a:solidFill>
                      <a:srgbClr val="0F2A4F"/>
                    </a:solidFill>
                  </a:tcPr>
                </a:tc>
                <a:tc>
                  <a:txBody>
                    <a:bodyPr/>
                    <a:lstStyle/>
                    <a:p>
                      <a:r>
                        <a:rPr sz="1200" b="1" i="0">
                          <a:solidFill>
                            <a:srgbClr val="FFFFFF"/>
                          </a:solidFill>
                          <a:latin typeface="Calibri"/>
                        </a:rPr>
                        <a:t>Ngưỡng</a:t>
                      </a:r>
                    </a:p>
                  </a:txBody>
                  <a:tcPr anchor="ctr" marT="25400" marB="25400">
                    <a:solidFill>
                      <a:srgbClr val="0F2A4F"/>
                    </a:solidFill>
                  </a:tcPr>
                </a:tc>
                <a:tc>
                  <a:txBody>
                    <a:bodyPr/>
                    <a:lstStyle/>
                    <a:p>
                      <a:r>
                        <a:rPr sz="1200" b="1" i="0">
                          <a:solidFill>
                            <a:srgbClr val="FFFFFF"/>
                          </a:solidFill>
                          <a:latin typeface="Calibri"/>
                        </a:rPr>
                        <a:t>Recall (val)</a:t>
                      </a:r>
                    </a:p>
                  </a:txBody>
                  <a:tcPr anchor="ctr" marT="25400" marB="25400">
                    <a:solidFill>
                      <a:srgbClr val="0F2A4F"/>
                    </a:solidFill>
                  </a:tcPr>
                </a:tc>
                <a:tc>
                  <a:txBody>
                    <a:bodyPr/>
                    <a:lstStyle/>
                    <a:p>
                      <a:r>
                        <a:rPr sz="1200" b="1" i="0">
                          <a:solidFill>
                            <a:srgbClr val="FFFFFF"/>
                          </a:solidFill>
                          <a:latin typeface="Calibri"/>
                        </a:rPr>
                        <a:t>Recall (test)</a:t>
                      </a:r>
                    </a:p>
                  </a:txBody>
                  <a:tcPr anchor="ctr" marT="25400" marB="25400">
                    <a:solidFill>
                      <a:srgbClr val="0F2A4F"/>
                    </a:solidFill>
                  </a:tcPr>
                </a:tc>
                <a:tc>
                  <a:txBody>
                    <a:bodyPr/>
                    <a:lstStyle/>
                    <a:p>
                      <a:r>
                        <a:rPr sz="1200" b="1" i="0">
                          <a:solidFill>
                            <a:srgbClr val="FFFFFF"/>
                          </a:solidFill>
                          <a:latin typeface="Calibri"/>
                        </a:rPr>
                        <a:t>Precision (test)</a:t>
                      </a:r>
                    </a:p>
                  </a:txBody>
                  <a:tcPr anchor="ctr" marT="25400" marB="25400">
                    <a:solidFill>
                      <a:srgbClr val="0F2A4F"/>
                    </a:solidFill>
                  </a:tcPr>
                </a:tc>
              </a:tr>
              <a:tr h="329183">
                <a:tc>
                  <a:txBody>
                    <a:bodyPr/>
                    <a:lstStyle/>
                    <a:p>
                      <a:r>
                        <a:rPr sz="1200" b="1" i="0">
                          <a:solidFill>
                            <a:srgbClr val="0F2A4F"/>
                          </a:solidFill>
                          <a:latin typeface="Calibri"/>
                        </a:rPr>
                        <a:t>default(0.5)</a:t>
                      </a:r>
                    </a:p>
                  </a:txBody>
                  <a:tcPr anchor="ctr" marT="12700" marB="12700">
                    <a:solidFill>
                      <a:srgbClr val="FFFFFF"/>
                    </a:solidFill>
                  </a:tcPr>
                </a:tc>
                <a:tc>
                  <a:txBody>
                    <a:bodyPr/>
                    <a:lstStyle/>
                    <a:p>
                      <a:r>
                        <a:rPr sz="1200" b="0" i="0">
                          <a:solidFill>
                            <a:srgbClr val="262B33"/>
                          </a:solidFill>
                          <a:latin typeface="Calibri"/>
                        </a:rPr>
                        <a:t>0,50</a:t>
                      </a:r>
                    </a:p>
                  </a:txBody>
                  <a:tcPr anchor="ctr" marT="12700" marB="12700">
                    <a:solidFill>
                      <a:srgbClr val="FFFFFF"/>
                    </a:solidFill>
                  </a:tcPr>
                </a:tc>
                <a:tc>
                  <a:txBody>
                    <a:bodyPr/>
                    <a:lstStyle/>
                    <a:p>
                      <a:r>
                        <a:rPr sz="1200" b="0" i="0">
                          <a:solidFill>
                            <a:srgbClr val="262B33"/>
                          </a:solidFill>
                          <a:latin typeface="Calibri"/>
                        </a:rPr>
                        <a:t>0,930</a:t>
                      </a:r>
                    </a:p>
                  </a:txBody>
                  <a:tcPr anchor="ctr" marT="12700" marB="12700">
                    <a:solidFill>
                      <a:srgbClr val="FFFFFF"/>
                    </a:solidFill>
                  </a:tcPr>
                </a:tc>
                <a:tc>
                  <a:txBody>
                    <a:bodyPr/>
                    <a:lstStyle/>
                    <a:p>
                      <a:r>
                        <a:rPr sz="1200" b="0" i="0">
                          <a:solidFill>
                            <a:srgbClr val="262B33"/>
                          </a:solidFill>
                          <a:latin typeface="Calibri"/>
                        </a:rPr>
                        <a:t>0,930</a:t>
                      </a:r>
                    </a:p>
                  </a:txBody>
                  <a:tcPr anchor="ctr" marT="12700" marB="12700">
                    <a:solidFill>
                      <a:srgbClr val="FFFFFF"/>
                    </a:solidFill>
                  </a:tcPr>
                </a:tc>
                <a:tc>
                  <a:txBody>
                    <a:bodyPr/>
                    <a:lstStyle/>
                    <a:p>
                      <a:r>
                        <a:rPr sz="1200" b="0" i="0">
                          <a:solidFill>
                            <a:srgbClr val="262B33"/>
                          </a:solidFill>
                          <a:latin typeface="Calibri"/>
                        </a:rPr>
                        <a:t>0,972</a:t>
                      </a:r>
                    </a:p>
                  </a:txBody>
                  <a:tcPr anchor="ctr" marT="12700" marB="12700">
                    <a:solidFill>
                      <a:srgbClr val="FFFFFF"/>
                    </a:solidFill>
                  </a:tcPr>
                </a:tc>
              </a:tr>
              <a:tr h="329183">
                <a:tc>
                  <a:txBody>
                    <a:bodyPr/>
                    <a:lstStyle/>
                    <a:p>
                      <a:r>
                        <a:rPr sz="1200" b="1" i="0">
                          <a:solidFill>
                            <a:srgbClr val="0F2A4F"/>
                          </a:solidFill>
                          <a:latin typeface="Calibri"/>
                        </a:rPr>
                        <a:t>f1</a:t>
                      </a:r>
                    </a:p>
                  </a:txBody>
                  <a:tcPr anchor="ctr" marT="12700" marB="12700">
                    <a:solidFill>
                      <a:srgbClr val="F2F4F7"/>
                    </a:solidFill>
                  </a:tcPr>
                </a:tc>
                <a:tc>
                  <a:txBody>
                    <a:bodyPr/>
                    <a:lstStyle/>
                    <a:p>
                      <a:r>
                        <a:rPr sz="1200" b="0" i="0">
                          <a:solidFill>
                            <a:srgbClr val="262B33"/>
                          </a:solidFill>
                          <a:latin typeface="Calibri"/>
                        </a:rPr>
                        <a:t>0,56</a:t>
                      </a:r>
                    </a:p>
                  </a:txBody>
                  <a:tcPr anchor="ctr" marT="12700" marB="12700">
                    <a:solidFill>
                      <a:srgbClr val="F2F4F7"/>
                    </a:solidFill>
                  </a:tcPr>
                </a:tc>
                <a:tc>
                  <a:txBody>
                    <a:bodyPr/>
                    <a:lstStyle/>
                    <a:p>
                      <a:r>
                        <a:rPr sz="1200" b="0" i="0">
                          <a:solidFill>
                            <a:srgbClr val="262B33"/>
                          </a:solidFill>
                          <a:latin typeface="Calibri"/>
                        </a:rPr>
                        <a:t>0,926</a:t>
                      </a:r>
                    </a:p>
                  </a:txBody>
                  <a:tcPr anchor="ctr" marT="12700" marB="12700">
                    <a:solidFill>
                      <a:srgbClr val="F2F4F7"/>
                    </a:solidFill>
                  </a:tcPr>
                </a:tc>
                <a:tc>
                  <a:txBody>
                    <a:bodyPr/>
                    <a:lstStyle/>
                    <a:p>
                      <a:r>
                        <a:rPr sz="1200" b="0" i="0">
                          <a:solidFill>
                            <a:srgbClr val="262B33"/>
                          </a:solidFill>
                          <a:latin typeface="Calibri"/>
                        </a:rPr>
                        <a:t>0,926</a:t>
                      </a:r>
                    </a:p>
                  </a:txBody>
                  <a:tcPr anchor="ctr" marT="12700" marB="12700">
                    <a:solidFill>
                      <a:srgbClr val="F2F4F7"/>
                    </a:solidFill>
                  </a:tcPr>
                </a:tc>
                <a:tc>
                  <a:txBody>
                    <a:bodyPr/>
                    <a:lstStyle/>
                    <a:p>
                      <a:r>
                        <a:rPr sz="1200" b="0" i="0">
                          <a:solidFill>
                            <a:srgbClr val="262B33"/>
                          </a:solidFill>
                          <a:latin typeface="Calibri"/>
                        </a:rPr>
                        <a:t>0,975</a:t>
                      </a:r>
                    </a:p>
                  </a:txBody>
                  <a:tcPr anchor="ctr" marT="12700" marB="12700">
                    <a:solidFill>
                      <a:srgbClr val="F2F4F7"/>
                    </a:solidFill>
                  </a:tcPr>
                </a:tc>
              </a:tr>
              <a:tr h="329183">
                <a:tc>
                  <a:txBody>
                    <a:bodyPr/>
                    <a:lstStyle/>
                    <a:p>
                      <a:r>
                        <a:rPr sz="1200" b="1" i="0">
                          <a:solidFill>
                            <a:srgbClr val="0F2A4F"/>
                          </a:solidFill>
                          <a:latin typeface="Calibri"/>
                        </a:rPr>
                        <a:t>youden</a:t>
                      </a:r>
                    </a:p>
                  </a:txBody>
                  <a:tcPr anchor="ctr" marT="12700" marB="12700">
                    <a:solidFill>
                      <a:srgbClr val="FFFFFF"/>
                    </a:solidFill>
                  </a:tcPr>
                </a:tc>
                <a:tc>
                  <a:txBody>
                    <a:bodyPr/>
                    <a:lstStyle/>
                    <a:p>
                      <a:r>
                        <a:rPr sz="1200" b="0" i="0">
                          <a:solidFill>
                            <a:srgbClr val="262B33"/>
                          </a:solidFill>
                          <a:latin typeface="Calibri"/>
                        </a:rPr>
                        <a:t>0,56</a:t>
                      </a:r>
                    </a:p>
                  </a:txBody>
                  <a:tcPr anchor="ctr" marT="12700" marB="12700">
                    <a:solidFill>
                      <a:srgbClr val="FFFFFF"/>
                    </a:solidFill>
                  </a:tcPr>
                </a:tc>
                <a:tc>
                  <a:txBody>
                    <a:bodyPr/>
                    <a:lstStyle/>
                    <a:p>
                      <a:r>
                        <a:rPr sz="1200" b="0" i="0">
                          <a:solidFill>
                            <a:srgbClr val="262B33"/>
                          </a:solidFill>
                          <a:latin typeface="Calibri"/>
                        </a:rPr>
                        <a:t>0,926</a:t>
                      </a:r>
                    </a:p>
                  </a:txBody>
                  <a:tcPr anchor="ctr" marT="12700" marB="12700">
                    <a:solidFill>
                      <a:srgbClr val="FFFFFF"/>
                    </a:solidFill>
                  </a:tcPr>
                </a:tc>
                <a:tc>
                  <a:txBody>
                    <a:bodyPr/>
                    <a:lstStyle/>
                    <a:p>
                      <a:r>
                        <a:rPr sz="1200" b="0" i="0">
                          <a:solidFill>
                            <a:srgbClr val="262B33"/>
                          </a:solidFill>
                          <a:latin typeface="Calibri"/>
                        </a:rPr>
                        <a:t>0,926</a:t>
                      </a:r>
                    </a:p>
                  </a:txBody>
                  <a:tcPr anchor="ctr" marT="12700" marB="12700">
                    <a:solidFill>
                      <a:srgbClr val="FFFFFF"/>
                    </a:solidFill>
                  </a:tcPr>
                </a:tc>
                <a:tc>
                  <a:txBody>
                    <a:bodyPr/>
                    <a:lstStyle/>
                    <a:p>
                      <a:r>
                        <a:rPr sz="1200" b="0" i="0">
                          <a:solidFill>
                            <a:srgbClr val="262B33"/>
                          </a:solidFill>
                          <a:latin typeface="Calibri"/>
                        </a:rPr>
                        <a:t>0,975</a:t>
                      </a:r>
                    </a:p>
                  </a:txBody>
                  <a:tcPr anchor="ctr" marT="12700" marB="12700">
                    <a:solidFill>
                      <a:srgbClr val="FFFFFF"/>
                    </a:solidFill>
                  </a:tcPr>
                </a:tc>
              </a:tr>
              <a:tr h="329187">
                <a:tc>
                  <a:txBody>
                    <a:bodyPr/>
                    <a:lstStyle/>
                    <a:p>
                      <a:r>
                        <a:rPr sz="1200" b="1" i="0">
                          <a:solidFill>
                            <a:srgbClr val="0F2A4F"/>
                          </a:solidFill>
                          <a:latin typeface="Calibri"/>
                        </a:rPr>
                        <a:t>recall&gt;=0.9</a:t>
                      </a:r>
                    </a:p>
                  </a:txBody>
                  <a:tcPr anchor="ctr" marT="12700" marB="12700">
                    <a:solidFill>
                      <a:srgbClr val="F2F4F7"/>
                    </a:solidFill>
                  </a:tcPr>
                </a:tc>
                <a:tc>
                  <a:txBody>
                    <a:bodyPr/>
                    <a:lstStyle/>
                    <a:p>
                      <a:r>
                        <a:rPr sz="1200" b="0" i="0">
                          <a:solidFill>
                            <a:srgbClr val="262B33"/>
                          </a:solidFill>
                          <a:latin typeface="Calibri"/>
                        </a:rPr>
                        <a:t>0,86</a:t>
                      </a:r>
                    </a:p>
                  </a:txBody>
                  <a:tcPr anchor="ctr" marT="12700" marB="12700">
                    <a:solidFill>
                      <a:srgbClr val="F2F4F7"/>
                    </a:solidFill>
                  </a:tcPr>
                </a:tc>
                <a:tc>
                  <a:txBody>
                    <a:bodyPr/>
                    <a:lstStyle/>
                    <a:p>
                      <a:r>
                        <a:rPr sz="1200" b="0" i="0">
                          <a:solidFill>
                            <a:srgbClr val="262B33"/>
                          </a:solidFill>
                          <a:latin typeface="Calibri"/>
                        </a:rPr>
                        <a:t>0,901</a:t>
                      </a:r>
                    </a:p>
                  </a:txBody>
                  <a:tcPr anchor="ctr" marT="12700" marB="12700">
                    <a:solidFill>
                      <a:srgbClr val="F2F4F7"/>
                    </a:solidFill>
                  </a:tcPr>
                </a:tc>
                <a:tc>
                  <a:txBody>
                    <a:bodyPr/>
                    <a:lstStyle/>
                    <a:p>
                      <a:r>
                        <a:rPr sz="1200" b="0" i="0">
                          <a:solidFill>
                            <a:srgbClr val="262B33"/>
                          </a:solidFill>
                          <a:latin typeface="Calibri"/>
                        </a:rPr>
                        <a:t>0,900</a:t>
                      </a:r>
                    </a:p>
                  </a:txBody>
                  <a:tcPr anchor="ctr" marT="12700" marB="12700">
                    <a:solidFill>
                      <a:srgbClr val="F2F4F7"/>
                    </a:solidFill>
                  </a:tcPr>
                </a:tc>
                <a:tc>
                  <a:txBody>
                    <a:bodyPr/>
                    <a:lstStyle/>
                    <a:p>
                      <a:r>
                        <a:rPr sz="1200" b="0" i="0">
                          <a:solidFill>
                            <a:srgbClr val="262B33"/>
                          </a:solidFill>
                          <a:latin typeface="Calibri"/>
                        </a:rPr>
                        <a:t>0,993</a:t>
                      </a:r>
                    </a:p>
                  </a:txBody>
                  <a:tcPr anchor="ctr" marT="12700" marB="12700">
                    <a:solidFill>
                      <a:srgbClr val="F2F4F7"/>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55664"/>
            <a:ext cx="8686800" cy="310896"/>
          </a:xfrm>
          <a:prstGeom prst="rect">
            <a:avLst/>
          </a:prstGeom>
          <a:noFill/>
        </p:spPr>
        <p:txBody>
          <a:bodyPr wrap="square" lIns="0" rIns="0" tIns="0" bIns="0">
            <a:spAutoFit/>
          </a:bodyPr>
          <a:lstStyle/>
          <a:p>
            <a:r>
              <a:rPr sz="900" b="0" i="0">
                <a:solidFill>
                  <a:srgbClr val="5B6370"/>
                </a:solidFill>
                <a:latin typeface="Calibri"/>
              </a:rPr>
              <a:t>DSP391m · Nhóm 1 · Bảo vệ cuối kỳ</a:t>
            </a:r>
            <a:r>
              <a:rPr sz="900" b="1" i="0">
                <a:solidFill>
                  <a:srgbClr val="E8722B"/>
                </a:solidFill>
                <a:latin typeface="Calibri"/>
              </a:rPr>
              <a:t>   ·   Đức</a:t>
            </a:r>
          </a:p>
        </p:txBody>
      </p:sp>
      <p:sp>
        <p:nvSpPr>
          <p:cNvPr id="5" name="TextBox 4"/>
          <p:cNvSpPr txBox="1"/>
          <p:nvPr/>
        </p:nvSpPr>
        <p:spPr>
          <a:xfrm>
            <a:off x="11155680" y="6455664"/>
            <a:ext cx="822960" cy="310896"/>
          </a:xfrm>
          <a:prstGeom prst="rect">
            <a:avLst/>
          </a:prstGeom>
          <a:noFill/>
        </p:spPr>
        <p:txBody>
          <a:bodyPr wrap="square" lIns="0" rIns="0" tIns="0" bIns="0">
            <a:spAutoFit/>
          </a:bodyPr>
          <a:lstStyle/>
          <a:p>
            <a:pPr algn="r"/>
            <a:r>
              <a:rPr sz="1000" b="1" i="0">
                <a:solidFill>
                  <a:srgbClr val="0F2A4F"/>
                </a:solidFill>
                <a:latin typeface="Calibri"/>
              </a:rPr>
              <a:t>11</a:t>
            </a:r>
          </a:p>
        </p:txBody>
      </p:sp>
      <p:sp>
        <p:nvSpPr>
          <p:cNvPr id="6" name="TextBox 5"/>
          <p:cNvSpPr txBox="1"/>
          <p:nvPr/>
        </p:nvSpPr>
        <p:spPr>
          <a:xfrm>
            <a:off x="502920" y="292608"/>
            <a:ext cx="10972800" cy="365760"/>
          </a:xfrm>
          <a:prstGeom prst="rect">
            <a:avLst/>
          </a:prstGeom>
          <a:noFill/>
        </p:spPr>
        <p:txBody>
          <a:bodyPr wrap="square" lIns="0" rIns="0" tIns="0" bIns="0">
            <a:spAutoFit/>
          </a:bodyPr>
          <a:lstStyle/>
          <a:p>
            <a:r>
              <a:rPr sz="1200" b="1" i="0">
                <a:solidFill>
                  <a:srgbClr val="E8722B"/>
                </a:solidFill>
                <a:latin typeface="Calibri"/>
              </a:rPr>
              <a:t>RQ3 · MẤT CÂN BẰNG — HIỆU NĂNG</a:t>
            </a:r>
          </a:p>
        </p:txBody>
      </p:sp>
      <p:sp>
        <p:nvSpPr>
          <p:cNvPr id="7" name="TextBox 6"/>
          <p:cNvSpPr txBox="1"/>
          <p:nvPr/>
        </p:nvSpPr>
        <p:spPr>
          <a:xfrm>
            <a:off x="502920" y="603504"/>
            <a:ext cx="11155680" cy="868680"/>
          </a:xfrm>
          <a:prstGeom prst="rect">
            <a:avLst/>
          </a:prstGeom>
          <a:noFill/>
        </p:spPr>
        <p:txBody>
          <a:bodyPr wrap="square" lIns="0" rIns="0" tIns="0" bIns="0">
            <a:spAutoFit/>
          </a:bodyPr>
          <a:lstStyle/>
          <a:p>
            <a:r>
              <a:rPr sz="2500" b="1" i="0">
                <a:solidFill>
                  <a:srgbClr val="0F2A4F"/>
                </a:solidFill>
                <a:latin typeface="Calibri"/>
              </a:rPr>
              <a:t>4 chiến lược resampling: recall gần như không đổi</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11155680" cy="4572000"/>
          </a:xfrm>
          <a:prstGeom prst="rect">
            <a:avLst/>
          </a:prstGeom>
          <a:noFill/>
        </p:spPr>
        <p:txBody>
          <a:bodyPr wrap="square" lIns="0" rIns="0" t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So 4 chiến lược: no-resample · class-weight · SMOTE · ADASYN trên cả 5 model (t=100%).</a:t>
            </a:r>
          </a:p>
          <a:p>
            <a:pPr>
              <a:lnSpc>
                <a:spcPct val="104000"/>
              </a:lnSpc>
              <a:spcBef>
                <a:spcPts val="600"/>
              </a:spcBef>
              <a:spcAft>
                <a:spcPts val="700"/>
              </a:spcAft>
            </a:pPr>
            <a:r>
              <a:rPr sz="1350" b="1" i="0">
                <a:solidFill>
                  <a:srgbClr val="E8722B"/>
                </a:solidFill>
                <a:latin typeface="Calibri"/>
              </a:rPr>
              <a:t>▶ Số liệu chốt:  </a:t>
            </a:r>
            <a:r>
              <a:rPr sz="1350" b="1" i="0">
                <a:solidFill>
                  <a:srgbClr val="0F2A4F"/>
                </a:solidFill>
                <a:latin typeface="Calibri"/>
              </a:rPr>
              <a:t>Chênh lệch recall lớn nhất giữa các chiến lược chỉ 0,0069 — về HIỆU NĂNG, resampling gần như không đổi kết quả.</a:t>
            </a:r>
          </a:p>
          <a:p>
            <a:pPr>
              <a:lnSpc>
                <a:spcPct val="104000"/>
              </a:lnSpc>
              <a:spcBef>
                <a:spcPts val="400"/>
              </a:spcBef>
              <a:spcAft>
                <a:spcPts val="700"/>
              </a:spcAft>
            </a:pPr>
            <a:r>
              <a:rPr sz="1200" b="0" i="1">
                <a:solidFill>
                  <a:srgbClr val="5B6370"/>
                </a:solidFill>
                <a:latin typeface="Calibri"/>
              </a:rPr>
              <a:t>Lớp at-risk ~52% — gần cân bằng, nên resampling ít tác dụng là hợp lý.</a:t>
            </a:r>
          </a:p>
        </p:txBody>
      </p:sp>
      <p:graphicFrame>
        <p:nvGraphicFramePr>
          <p:cNvPr id="10" name="Table 9"/>
          <p:cNvGraphicFramePr>
            <a:graphicFrameLocks noGrp="1"/>
          </p:cNvGraphicFramePr>
          <p:nvPr/>
        </p:nvGraphicFramePr>
        <p:xfrm>
          <a:off x="548640" y="3383280"/>
          <a:ext cx="10607040" cy="1975104"/>
        </p:xfrm>
        <a:graphic>
          <a:graphicData uri="http://schemas.openxmlformats.org/drawingml/2006/table">
            <a:tbl>
              <a:tblPr firstRow="1" bandRow="1">
                <a:tableStyleId>{5C22544A-7EE6-4342-B048-85BDC9FD1C3A}</a:tableStyleId>
              </a:tblPr>
              <a:tblGrid>
                <a:gridCol w="2377440"/>
                <a:gridCol w="1645920"/>
                <a:gridCol w="1645920"/>
                <a:gridCol w="1645920"/>
                <a:gridCol w="1645920"/>
                <a:gridCol w="1645920"/>
              </a:tblGrid>
              <a:tr h="329184">
                <a:tc>
                  <a:txBody>
                    <a:bodyPr/>
                    <a:lstStyle/>
                    <a:p>
                      <a:r>
                        <a:rPr sz="1200" b="1" i="0">
                          <a:solidFill>
                            <a:srgbClr val="FFFFFF"/>
                          </a:solidFill>
                          <a:latin typeface="Calibri"/>
                        </a:rPr>
                        <a:t>Model</a:t>
                      </a:r>
                    </a:p>
                  </a:txBody>
                  <a:tcPr anchor="ctr" marT="25400" marB="25400">
                    <a:solidFill>
                      <a:srgbClr val="0F2A4F"/>
                    </a:solidFill>
                  </a:tcPr>
                </a:tc>
                <a:tc>
                  <a:txBody>
                    <a:bodyPr/>
                    <a:lstStyle/>
                    <a:p>
                      <a:r>
                        <a:rPr sz="1200" b="1" i="0">
                          <a:solidFill>
                            <a:srgbClr val="FFFFFF"/>
                          </a:solidFill>
                          <a:latin typeface="Calibri"/>
                        </a:rPr>
                        <a:t>None</a:t>
                      </a:r>
                    </a:p>
                  </a:txBody>
                  <a:tcPr anchor="ctr" marT="25400" marB="25400">
                    <a:solidFill>
                      <a:srgbClr val="0F2A4F"/>
                    </a:solidFill>
                  </a:tcPr>
                </a:tc>
                <a:tc>
                  <a:txBody>
                    <a:bodyPr/>
                    <a:lstStyle/>
                    <a:p>
                      <a:r>
                        <a:rPr sz="1200" b="1" i="0">
                          <a:solidFill>
                            <a:srgbClr val="FFFFFF"/>
                          </a:solidFill>
                          <a:latin typeface="Calibri"/>
                        </a:rPr>
                        <a:t>Class-wt</a:t>
                      </a:r>
                    </a:p>
                  </a:txBody>
                  <a:tcPr anchor="ctr" marT="25400" marB="25400">
                    <a:solidFill>
                      <a:srgbClr val="0F2A4F"/>
                    </a:solidFill>
                  </a:tcPr>
                </a:tc>
                <a:tc>
                  <a:txBody>
                    <a:bodyPr/>
                    <a:lstStyle/>
                    <a:p>
                      <a:r>
                        <a:rPr sz="1200" b="1" i="0">
                          <a:solidFill>
                            <a:srgbClr val="FFFFFF"/>
                          </a:solidFill>
                          <a:latin typeface="Calibri"/>
                        </a:rPr>
                        <a:t>SMOTE</a:t>
                      </a:r>
                    </a:p>
                  </a:txBody>
                  <a:tcPr anchor="ctr" marT="25400" marB="25400">
                    <a:solidFill>
                      <a:srgbClr val="0F2A4F"/>
                    </a:solidFill>
                  </a:tcPr>
                </a:tc>
                <a:tc>
                  <a:txBody>
                    <a:bodyPr/>
                    <a:lstStyle/>
                    <a:p>
                      <a:r>
                        <a:rPr sz="1200" b="1" i="0">
                          <a:solidFill>
                            <a:srgbClr val="FFFFFF"/>
                          </a:solidFill>
                          <a:latin typeface="Calibri"/>
                        </a:rPr>
                        <a:t>ADASYN</a:t>
                      </a:r>
                    </a:p>
                  </a:txBody>
                  <a:tcPr anchor="ctr" marT="25400" marB="25400">
                    <a:solidFill>
                      <a:srgbClr val="0F2A4F"/>
                    </a:solidFill>
                  </a:tcPr>
                </a:tc>
                <a:tc>
                  <a:txBody>
                    <a:bodyPr/>
                    <a:lstStyle/>
                    <a:p>
                      <a:r>
                        <a:rPr sz="1200" b="1" i="0">
                          <a:solidFill>
                            <a:srgbClr val="FFFFFF"/>
                          </a:solidFill>
                          <a:latin typeface="Calibri"/>
                        </a:rPr>
                        <a:t>Chênh lệch</a:t>
                      </a:r>
                    </a:p>
                  </a:txBody>
                  <a:tcPr anchor="ctr" marT="25400" marB="25400">
                    <a:solidFill>
                      <a:srgbClr val="0F2A4F"/>
                    </a:solidFill>
                  </a:tcPr>
                </a:tc>
              </a:tr>
              <a:tr h="329184">
                <a:tc>
                  <a:txBody>
                    <a:bodyPr/>
                    <a:lstStyle/>
                    <a:p>
                      <a:r>
                        <a:rPr sz="1200" b="1" i="0">
                          <a:solidFill>
                            <a:srgbClr val="0F2A4F"/>
                          </a:solidFill>
                          <a:latin typeface="Calibri"/>
                        </a:rPr>
                        <a:t>XGBoost</a:t>
                      </a:r>
                    </a:p>
                  </a:txBody>
                  <a:tcPr anchor="ctr" marT="12700" marB="12700">
                    <a:solidFill>
                      <a:srgbClr val="FFFFFF"/>
                    </a:solidFill>
                  </a:tcPr>
                </a:tc>
                <a:tc>
                  <a:txBody>
                    <a:bodyPr/>
                    <a:lstStyle/>
                    <a:p>
                      <a:r>
                        <a:rPr sz="1200" b="0" i="0">
                          <a:solidFill>
                            <a:srgbClr val="262B33"/>
                          </a:solidFill>
                          <a:latin typeface="Calibri"/>
                        </a:rPr>
                        <a:t>0,931</a:t>
                      </a:r>
                    </a:p>
                  </a:txBody>
                  <a:tcPr anchor="ctr" marT="12700" marB="12700">
                    <a:solidFill>
                      <a:srgbClr val="FFFFFF"/>
                    </a:solidFill>
                  </a:tcPr>
                </a:tc>
                <a:tc>
                  <a:txBody>
                    <a:bodyPr/>
                    <a:lstStyle/>
                    <a:p>
                      <a:r>
                        <a:rPr sz="1200" b="0" i="0">
                          <a:solidFill>
                            <a:srgbClr val="262B33"/>
                          </a:solidFill>
                          <a:latin typeface="Calibri"/>
                        </a:rPr>
                        <a:t>0,929</a:t>
                      </a:r>
                    </a:p>
                  </a:txBody>
                  <a:tcPr anchor="ctr" marT="12700" marB="12700">
                    <a:solidFill>
                      <a:srgbClr val="FFFFFF"/>
                    </a:solidFill>
                  </a:tcPr>
                </a:tc>
                <a:tc>
                  <a:txBody>
                    <a:bodyPr/>
                    <a:lstStyle/>
                    <a:p>
                      <a:r>
                        <a:rPr sz="1200" b="0" i="0">
                          <a:solidFill>
                            <a:srgbClr val="262B33"/>
                          </a:solidFill>
                          <a:latin typeface="Calibri"/>
                        </a:rPr>
                        <a:t>0,930</a:t>
                      </a:r>
                    </a:p>
                  </a:txBody>
                  <a:tcPr anchor="ctr" marT="12700" marB="12700">
                    <a:solidFill>
                      <a:srgbClr val="FFFFFF"/>
                    </a:solidFill>
                  </a:tcPr>
                </a:tc>
                <a:tc>
                  <a:txBody>
                    <a:bodyPr/>
                    <a:lstStyle/>
                    <a:p>
                      <a:r>
                        <a:rPr sz="1200" b="0" i="0">
                          <a:solidFill>
                            <a:srgbClr val="262B33"/>
                          </a:solidFill>
                          <a:latin typeface="Calibri"/>
                        </a:rPr>
                        <a:t>0,929</a:t>
                      </a:r>
                    </a:p>
                  </a:txBody>
                  <a:tcPr anchor="ctr" marT="12700" marB="12700">
                    <a:solidFill>
                      <a:srgbClr val="FFFFFF"/>
                    </a:solidFill>
                  </a:tcPr>
                </a:tc>
                <a:tc>
                  <a:txBody>
                    <a:bodyPr/>
                    <a:lstStyle/>
                    <a:p>
                      <a:r>
                        <a:rPr sz="1200" b="0" i="0">
                          <a:solidFill>
                            <a:srgbClr val="262B33"/>
                          </a:solidFill>
                          <a:latin typeface="Calibri"/>
                        </a:rPr>
                        <a:t>0,0015</a:t>
                      </a:r>
                    </a:p>
                  </a:txBody>
                  <a:tcPr anchor="ctr" marT="12700" marB="12700">
                    <a:solidFill>
                      <a:srgbClr val="FFFFFF"/>
                    </a:solidFill>
                  </a:tcPr>
                </a:tc>
              </a:tr>
              <a:tr h="329184">
                <a:tc>
                  <a:txBody>
                    <a:bodyPr/>
                    <a:lstStyle/>
                    <a:p>
                      <a:r>
                        <a:rPr sz="1200" b="1" i="0">
                          <a:solidFill>
                            <a:srgbClr val="0F2A4F"/>
                          </a:solidFill>
                          <a:latin typeface="Calibri"/>
                        </a:rPr>
                        <a:t>LightGBM</a:t>
                      </a:r>
                    </a:p>
                  </a:txBody>
                  <a:tcPr anchor="ctr" marT="12700" marB="12700">
                    <a:solidFill>
                      <a:srgbClr val="F2F4F7"/>
                    </a:solidFill>
                  </a:tcPr>
                </a:tc>
                <a:tc>
                  <a:txBody>
                    <a:bodyPr/>
                    <a:lstStyle/>
                    <a:p>
                      <a:r>
                        <a:rPr sz="1200" b="0" i="0">
                          <a:solidFill>
                            <a:srgbClr val="262B33"/>
                          </a:solidFill>
                          <a:latin typeface="Calibri"/>
                        </a:rPr>
                        <a:t>0,930</a:t>
                      </a:r>
                    </a:p>
                  </a:txBody>
                  <a:tcPr anchor="ctr" marT="12700" marB="12700">
                    <a:solidFill>
                      <a:srgbClr val="F2F4F7"/>
                    </a:solidFill>
                  </a:tcPr>
                </a:tc>
                <a:tc>
                  <a:txBody>
                    <a:bodyPr/>
                    <a:lstStyle/>
                    <a:p>
                      <a:r>
                        <a:rPr sz="1200" b="0" i="0">
                          <a:solidFill>
                            <a:srgbClr val="262B33"/>
                          </a:solidFill>
                          <a:latin typeface="Calibri"/>
                        </a:rPr>
                        <a:t>0,927</a:t>
                      </a:r>
                    </a:p>
                  </a:txBody>
                  <a:tcPr anchor="ctr" marT="12700" marB="12700">
                    <a:solidFill>
                      <a:srgbClr val="F2F4F7"/>
                    </a:solidFill>
                  </a:tcPr>
                </a:tc>
                <a:tc>
                  <a:txBody>
                    <a:bodyPr/>
                    <a:lstStyle/>
                    <a:p>
                      <a:r>
                        <a:rPr sz="1200" b="0" i="0">
                          <a:solidFill>
                            <a:srgbClr val="262B33"/>
                          </a:solidFill>
                          <a:latin typeface="Calibri"/>
                        </a:rPr>
                        <a:t>0,929</a:t>
                      </a:r>
                    </a:p>
                  </a:txBody>
                  <a:tcPr anchor="ctr" marT="12700" marB="12700">
                    <a:solidFill>
                      <a:srgbClr val="F2F4F7"/>
                    </a:solidFill>
                  </a:tcPr>
                </a:tc>
                <a:tc>
                  <a:txBody>
                    <a:bodyPr/>
                    <a:lstStyle/>
                    <a:p>
                      <a:r>
                        <a:rPr sz="1200" b="0" i="0">
                          <a:solidFill>
                            <a:srgbClr val="262B33"/>
                          </a:solidFill>
                          <a:latin typeface="Calibri"/>
                        </a:rPr>
                        <a:t>0,926</a:t>
                      </a:r>
                    </a:p>
                  </a:txBody>
                  <a:tcPr anchor="ctr" marT="12700" marB="12700">
                    <a:solidFill>
                      <a:srgbClr val="F2F4F7"/>
                    </a:solidFill>
                  </a:tcPr>
                </a:tc>
                <a:tc>
                  <a:txBody>
                    <a:bodyPr/>
                    <a:lstStyle/>
                    <a:p>
                      <a:r>
                        <a:rPr sz="1200" b="0" i="0">
                          <a:solidFill>
                            <a:srgbClr val="262B33"/>
                          </a:solidFill>
                          <a:latin typeface="Calibri"/>
                        </a:rPr>
                        <a:t>0,0042</a:t>
                      </a:r>
                    </a:p>
                  </a:txBody>
                  <a:tcPr anchor="ctr" marT="12700" marB="12700">
                    <a:solidFill>
                      <a:srgbClr val="F2F4F7"/>
                    </a:solidFill>
                  </a:tcPr>
                </a:tc>
              </a:tr>
              <a:tr h="329184">
                <a:tc>
                  <a:txBody>
                    <a:bodyPr/>
                    <a:lstStyle/>
                    <a:p>
                      <a:r>
                        <a:rPr sz="1200" b="1" i="0">
                          <a:solidFill>
                            <a:srgbClr val="0F2A4F"/>
                          </a:solidFill>
                          <a:latin typeface="Calibri"/>
                        </a:rPr>
                        <a:t>Random Forest</a:t>
                      </a:r>
                    </a:p>
                  </a:txBody>
                  <a:tcPr anchor="ctr" marT="12700" marB="12700">
                    <a:solidFill>
                      <a:srgbClr val="FFFFFF"/>
                    </a:solidFill>
                  </a:tcPr>
                </a:tc>
                <a:tc>
                  <a:txBody>
                    <a:bodyPr/>
                    <a:lstStyle/>
                    <a:p>
                      <a:r>
                        <a:rPr sz="1200" b="0" i="0">
                          <a:solidFill>
                            <a:srgbClr val="262B33"/>
                          </a:solidFill>
                          <a:latin typeface="Calibri"/>
                        </a:rPr>
                        <a:t>0,922</a:t>
                      </a:r>
                    </a:p>
                  </a:txBody>
                  <a:tcPr anchor="ctr" marT="12700" marB="12700">
                    <a:solidFill>
                      <a:srgbClr val="FFFFFF"/>
                    </a:solidFill>
                  </a:tcPr>
                </a:tc>
                <a:tc>
                  <a:txBody>
                    <a:bodyPr/>
                    <a:lstStyle/>
                    <a:p>
                      <a:r>
                        <a:rPr sz="1200" b="0" i="0">
                          <a:solidFill>
                            <a:srgbClr val="262B33"/>
                          </a:solidFill>
                          <a:latin typeface="Calibri"/>
                        </a:rPr>
                        <a:t>0,917</a:t>
                      </a:r>
                    </a:p>
                  </a:txBody>
                  <a:tcPr anchor="ctr" marT="12700" marB="12700">
                    <a:solidFill>
                      <a:srgbClr val="FFFFFF"/>
                    </a:solidFill>
                  </a:tcPr>
                </a:tc>
                <a:tc>
                  <a:txBody>
                    <a:bodyPr/>
                    <a:lstStyle/>
                    <a:p>
                      <a:r>
                        <a:rPr sz="1200" b="0" i="0">
                          <a:solidFill>
                            <a:srgbClr val="262B33"/>
                          </a:solidFill>
                          <a:latin typeface="Calibri"/>
                        </a:rPr>
                        <a:t>0,916</a:t>
                      </a:r>
                    </a:p>
                  </a:txBody>
                  <a:tcPr anchor="ctr" marT="12700" marB="12700">
                    <a:solidFill>
                      <a:srgbClr val="FFFFFF"/>
                    </a:solidFill>
                  </a:tcPr>
                </a:tc>
                <a:tc>
                  <a:txBody>
                    <a:bodyPr/>
                    <a:lstStyle/>
                    <a:p>
                      <a:r>
                        <a:rPr sz="1200" b="0" i="0">
                          <a:solidFill>
                            <a:srgbClr val="262B33"/>
                          </a:solidFill>
                          <a:latin typeface="Calibri"/>
                        </a:rPr>
                        <a:t>0,915</a:t>
                      </a:r>
                    </a:p>
                  </a:txBody>
                  <a:tcPr anchor="ctr" marT="12700" marB="12700">
                    <a:solidFill>
                      <a:srgbClr val="FFFFFF"/>
                    </a:solidFill>
                  </a:tcPr>
                </a:tc>
                <a:tc>
                  <a:txBody>
                    <a:bodyPr/>
                    <a:lstStyle/>
                    <a:p>
                      <a:r>
                        <a:rPr sz="1200" b="0" i="0">
                          <a:solidFill>
                            <a:srgbClr val="262B33"/>
                          </a:solidFill>
                          <a:latin typeface="Calibri"/>
                        </a:rPr>
                        <a:t>0,0068</a:t>
                      </a:r>
                    </a:p>
                  </a:txBody>
                  <a:tcPr anchor="ctr" marT="12700" marB="12700">
                    <a:solidFill>
                      <a:srgbClr val="FFFFFF"/>
                    </a:solidFill>
                  </a:tcPr>
                </a:tc>
              </a:tr>
              <a:tr h="329184">
                <a:tc>
                  <a:txBody>
                    <a:bodyPr/>
                    <a:lstStyle/>
                    <a:p>
                      <a:r>
                        <a:rPr sz="1200" b="1" i="0">
                          <a:solidFill>
                            <a:srgbClr val="0F2A4F"/>
                          </a:solidFill>
                          <a:latin typeface="Calibri"/>
                        </a:rPr>
                        <a:t>Logistic Reg.</a:t>
                      </a:r>
                    </a:p>
                  </a:txBody>
                  <a:tcPr anchor="ctr" marT="12700" marB="12700">
                    <a:solidFill>
                      <a:srgbClr val="F2F4F7"/>
                    </a:solidFill>
                  </a:tcPr>
                </a:tc>
                <a:tc>
                  <a:txBody>
                    <a:bodyPr/>
                    <a:lstStyle/>
                    <a:p>
                      <a:r>
                        <a:rPr sz="1200" b="0" i="0">
                          <a:solidFill>
                            <a:srgbClr val="262B33"/>
                          </a:solidFill>
                          <a:latin typeface="Calibri"/>
                        </a:rPr>
                        <a:t>0,918</a:t>
                      </a:r>
                    </a:p>
                  </a:txBody>
                  <a:tcPr anchor="ctr" marT="12700" marB="12700">
                    <a:solidFill>
                      <a:srgbClr val="F2F4F7"/>
                    </a:solidFill>
                  </a:tcPr>
                </a:tc>
                <a:tc>
                  <a:txBody>
                    <a:bodyPr/>
                    <a:lstStyle/>
                    <a:p>
                      <a:r>
                        <a:rPr sz="1200" b="0" i="0">
                          <a:solidFill>
                            <a:srgbClr val="262B33"/>
                          </a:solidFill>
                          <a:latin typeface="Calibri"/>
                        </a:rPr>
                        <a:t>0,915</a:t>
                      </a:r>
                    </a:p>
                  </a:txBody>
                  <a:tcPr anchor="ctr" marT="12700" marB="12700">
                    <a:solidFill>
                      <a:srgbClr val="F2F4F7"/>
                    </a:solidFill>
                  </a:tcPr>
                </a:tc>
                <a:tc>
                  <a:txBody>
                    <a:bodyPr/>
                    <a:lstStyle/>
                    <a:p>
                      <a:r>
                        <a:rPr sz="1200" b="0" i="0">
                          <a:solidFill>
                            <a:srgbClr val="262B33"/>
                          </a:solidFill>
                          <a:latin typeface="Calibri"/>
                        </a:rPr>
                        <a:t>0,917</a:t>
                      </a:r>
                    </a:p>
                  </a:txBody>
                  <a:tcPr anchor="ctr" marT="12700" marB="12700">
                    <a:solidFill>
                      <a:srgbClr val="F2F4F7"/>
                    </a:solidFill>
                  </a:tcPr>
                </a:tc>
                <a:tc>
                  <a:txBody>
                    <a:bodyPr/>
                    <a:lstStyle/>
                    <a:p>
                      <a:r>
                        <a:rPr sz="1200" b="0" i="0">
                          <a:solidFill>
                            <a:srgbClr val="262B33"/>
                          </a:solidFill>
                          <a:latin typeface="Calibri"/>
                        </a:rPr>
                        <a:t>0,911</a:t>
                      </a:r>
                    </a:p>
                  </a:txBody>
                  <a:tcPr anchor="ctr" marT="12700" marB="12700">
                    <a:solidFill>
                      <a:srgbClr val="F2F4F7"/>
                    </a:solidFill>
                  </a:tcPr>
                </a:tc>
                <a:tc>
                  <a:txBody>
                    <a:bodyPr/>
                    <a:lstStyle/>
                    <a:p>
                      <a:r>
                        <a:rPr sz="1200" b="0" i="0">
                          <a:solidFill>
                            <a:srgbClr val="262B33"/>
                          </a:solidFill>
                          <a:latin typeface="Calibri"/>
                        </a:rPr>
                        <a:t>0,0069</a:t>
                      </a:r>
                    </a:p>
                  </a:txBody>
                  <a:tcPr anchor="ctr" marT="12700" marB="12700">
                    <a:solidFill>
                      <a:srgbClr val="F2F4F7"/>
                    </a:solidFill>
                  </a:tcPr>
                </a:tc>
              </a:tr>
              <a:tr h="329184">
                <a:tc>
                  <a:txBody>
                    <a:bodyPr/>
                    <a:lstStyle/>
                    <a:p>
                      <a:r>
                        <a:rPr sz="1200" b="1" i="0">
                          <a:solidFill>
                            <a:srgbClr val="0F2A4F"/>
                          </a:solidFill>
                          <a:latin typeface="Calibri"/>
                        </a:rPr>
                        <a:t>ANN (MLP)</a:t>
                      </a:r>
                    </a:p>
                  </a:txBody>
                  <a:tcPr anchor="ctr" marT="12700" marB="12700">
                    <a:solidFill>
                      <a:srgbClr val="FFFFFF"/>
                    </a:solidFill>
                  </a:tcPr>
                </a:tc>
                <a:tc>
                  <a:txBody>
                    <a:bodyPr/>
                    <a:lstStyle/>
                    <a:p>
                      <a:r>
                        <a:rPr sz="1200" b="0" i="0">
                          <a:solidFill>
                            <a:srgbClr val="262B33"/>
                          </a:solidFill>
                          <a:latin typeface="Calibri"/>
                        </a:rPr>
                        <a:t>0,920</a:t>
                      </a:r>
                    </a:p>
                  </a:txBody>
                  <a:tcPr anchor="ctr" marT="12700" marB="12700">
                    <a:solidFill>
                      <a:srgbClr val="FFFFFF"/>
                    </a:solidFill>
                  </a:tcPr>
                </a:tc>
                <a:tc>
                  <a:txBody>
                    <a:bodyPr/>
                    <a:lstStyle/>
                    <a:p>
                      <a:r>
                        <a:rPr sz="1200" b="0" i="0">
                          <a:solidFill>
                            <a:srgbClr val="262B33"/>
                          </a:solidFill>
                          <a:latin typeface="Calibri"/>
                        </a:rPr>
                        <a:t>—</a:t>
                      </a:r>
                    </a:p>
                  </a:txBody>
                  <a:tcPr anchor="ctr" marT="12700" marB="12700">
                    <a:solidFill>
                      <a:srgbClr val="FFFFFF"/>
                    </a:solidFill>
                  </a:tcPr>
                </a:tc>
                <a:tc>
                  <a:txBody>
                    <a:bodyPr/>
                    <a:lstStyle/>
                    <a:p>
                      <a:r>
                        <a:rPr sz="1200" b="0" i="0">
                          <a:solidFill>
                            <a:srgbClr val="262B33"/>
                          </a:solidFill>
                          <a:latin typeface="Calibri"/>
                        </a:rPr>
                        <a:t>0,926</a:t>
                      </a:r>
                    </a:p>
                  </a:txBody>
                  <a:tcPr anchor="ctr" marT="12700" marB="12700">
                    <a:solidFill>
                      <a:srgbClr val="FFFFFF"/>
                    </a:solidFill>
                  </a:tcPr>
                </a:tc>
                <a:tc>
                  <a:txBody>
                    <a:bodyPr/>
                    <a:lstStyle/>
                    <a:p>
                      <a:r>
                        <a:rPr sz="1200" b="0" i="0">
                          <a:solidFill>
                            <a:srgbClr val="262B33"/>
                          </a:solidFill>
                          <a:latin typeface="Calibri"/>
                        </a:rPr>
                        <a:t>0,925</a:t>
                      </a:r>
                    </a:p>
                  </a:txBody>
                  <a:tcPr anchor="ctr" marT="12700" marB="12700">
                    <a:solidFill>
                      <a:srgbClr val="FFFFFF"/>
                    </a:solidFill>
                  </a:tcPr>
                </a:tc>
                <a:tc>
                  <a:txBody>
                    <a:bodyPr/>
                    <a:lstStyle/>
                    <a:p>
                      <a:r>
                        <a:rPr sz="1200" b="0" i="0">
                          <a:solidFill>
                            <a:srgbClr val="262B33"/>
                          </a:solidFill>
                          <a:latin typeface="Calibri"/>
                        </a:rPr>
                        <a:t>0,0059</a:t>
                      </a:r>
                    </a:p>
                  </a:txBody>
                  <a:tcPr anchor="ctr" marT="12700" marB="12700">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55664"/>
            <a:ext cx="8686800" cy="310896"/>
          </a:xfrm>
          <a:prstGeom prst="rect">
            <a:avLst/>
          </a:prstGeom>
          <a:noFill/>
        </p:spPr>
        <p:txBody>
          <a:bodyPr wrap="square" lIns="0" rIns="0" tIns="0" bIns="0">
            <a:spAutoFit/>
          </a:bodyPr>
          <a:lstStyle/>
          <a:p>
            <a:r>
              <a:rPr sz="900" b="0" i="0">
                <a:solidFill>
                  <a:srgbClr val="5B6370"/>
                </a:solidFill>
                <a:latin typeface="Calibri"/>
              </a:rPr>
              <a:t>DSP391m · Nhóm 1 · Bảo vệ cuối kỳ</a:t>
            </a:r>
            <a:r>
              <a:rPr sz="900" b="1" i="0">
                <a:solidFill>
                  <a:srgbClr val="E8722B"/>
                </a:solidFill>
                <a:latin typeface="Calibri"/>
              </a:rPr>
              <a:t>   ·   Bình</a:t>
            </a:r>
          </a:p>
        </p:txBody>
      </p:sp>
      <p:sp>
        <p:nvSpPr>
          <p:cNvPr id="5" name="TextBox 4"/>
          <p:cNvSpPr txBox="1"/>
          <p:nvPr/>
        </p:nvSpPr>
        <p:spPr>
          <a:xfrm>
            <a:off x="11155680" y="6455664"/>
            <a:ext cx="822960" cy="310896"/>
          </a:xfrm>
          <a:prstGeom prst="rect">
            <a:avLst/>
          </a:prstGeom>
          <a:noFill/>
        </p:spPr>
        <p:txBody>
          <a:bodyPr wrap="square" lIns="0" rIns="0" tIns="0" bIns="0">
            <a:spAutoFit/>
          </a:bodyPr>
          <a:lstStyle/>
          <a:p>
            <a:pPr algn="r"/>
            <a:r>
              <a:rPr sz="1000" b="1" i="0">
                <a:solidFill>
                  <a:srgbClr val="0F2A4F"/>
                </a:solidFill>
                <a:latin typeface="Calibri"/>
              </a:rPr>
              <a:t>12</a:t>
            </a:r>
          </a:p>
        </p:txBody>
      </p:sp>
      <p:sp>
        <p:nvSpPr>
          <p:cNvPr id="6" name="TextBox 5"/>
          <p:cNvSpPr txBox="1"/>
          <p:nvPr/>
        </p:nvSpPr>
        <p:spPr>
          <a:xfrm>
            <a:off x="502920" y="292608"/>
            <a:ext cx="10972800" cy="365760"/>
          </a:xfrm>
          <a:prstGeom prst="rect">
            <a:avLst/>
          </a:prstGeom>
          <a:noFill/>
        </p:spPr>
        <p:txBody>
          <a:bodyPr wrap="square" lIns="0" rIns="0" tIns="0" bIns="0">
            <a:spAutoFit/>
          </a:bodyPr>
          <a:lstStyle/>
          <a:p>
            <a:r>
              <a:rPr sz="1200" b="1" i="0">
                <a:solidFill>
                  <a:srgbClr val="E8722B"/>
                </a:solidFill>
                <a:latin typeface="Calibri"/>
              </a:rPr>
              <a:t>RQ2 + RQ3 · GIẢI THÍCH</a:t>
            </a:r>
          </a:p>
        </p:txBody>
      </p:sp>
      <p:sp>
        <p:nvSpPr>
          <p:cNvPr id="7" name="TextBox 6"/>
          <p:cNvSpPr txBox="1"/>
          <p:nvPr/>
        </p:nvSpPr>
        <p:spPr>
          <a:xfrm>
            <a:off x="502920" y="603504"/>
            <a:ext cx="11155680" cy="868680"/>
          </a:xfrm>
          <a:prstGeom prst="rect">
            <a:avLst/>
          </a:prstGeom>
          <a:noFill/>
        </p:spPr>
        <p:txBody>
          <a:bodyPr wrap="square" lIns="0" rIns="0" tIns="0" bIns="0">
            <a:spAutoFit/>
          </a:bodyPr>
          <a:lstStyle/>
          <a:p>
            <a:r>
              <a:rPr sz="2500" b="1" i="0">
                <a:solidFill>
                  <a:srgbClr val="0F2A4F"/>
                </a:solidFill>
                <a:latin typeface="Calibri"/>
              </a:rPr>
              <a:t>Giải thích: ổn định theo seed, nhạy theo chiến lược resampling</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6263640" cy="4572000"/>
          </a:xfrm>
          <a:prstGeom prst="rect">
            <a:avLst/>
          </a:prstGeom>
          <a:noFill/>
        </p:spPr>
        <p:txBody>
          <a:bodyPr wrap="square" lIns="0" rIns="0" tIns="0" bIns="0" anchor="t">
            <a:spAutoFit/>
          </a:bodyPr>
          <a:lstStyle/>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RQ3 (vế giải thích): hiệu năng không đổi nhưng TOP-10 đặc trưng thì đổi — Jaccard từ 0,54 (No-resample vs Class-weight) đến 0,82 (SMOTE vs ADASYN).</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Chọn chiến lược resampling = chọn luôn 'câu chuyện' mà mô hình kể với cố vấn học tập.</a:t>
            </a:r>
          </a:p>
          <a:p>
            <a:pPr>
              <a:lnSpc>
                <a:spcPct val="104000"/>
              </a:lnSpc>
              <a:spcBef>
                <a:spcPts val="600"/>
              </a:spcBef>
              <a:spcAft>
                <a:spcPts val="700"/>
              </a:spcAft>
            </a:pPr>
            <a:r>
              <a:rPr sz="1350" b="1" i="0">
                <a:solidFill>
                  <a:srgbClr val="E8722B"/>
                </a:solidFill>
                <a:latin typeface="Calibri"/>
              </a:rPr>
              <a:t>▶ Số liệu chốt:  </a:t>
            </a:r>
            <a:r>
              <a:rPr sz="1350" b="1" i="0">
                <a:solidFill>
                  <a:srgbClr val="0F2A4F"/>
                </a:solidFill>
                <a:latin typeface="Calibri"/>
              </a:rPr>
              <a:t>RQ2 — ổn định theo seed: Jaccard top-10 TB 0,69 · Spearman TB 0,97 (10 cặp seed).</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Thứ hạng tổng thể rất ổn định (Spearman ~0,97); thành phần top-10 dao động nhẹ.</a:t>
            </a:r>
          </a:p>
        </p:txBody>
      </p:sp>
      <p:pic>
        <p:nvPicPr>
          <p:cNvPr id="10" name="Picture 9" descr="shap_importance_xgb_t100.png"/>
          <p:cNvPicPr>
            <a:picLocks noChangeAspect="1"/>
          </p:cNvPicPr>
          <p:nvPr/>
        </p:nvPicPr>
        <p:blipFill>
          <a:blip r:embed="rId2"/>
          <a:stretch>
            <a:fillRect/>
          </a:stretch>
        </p:blipFill>
        <p:spPr>
          <a:xfrm>
            <a:off x="7040880" y="1783080"/>
            <a:ext cx="4709160" cy="3334184"/>
          </a:xfrm>
          <a:prstGeom prst="rect">
            <a:avLst/>
          </a:prstGeom>
        </p:spPr>
      </p:pic>
      <p:sp>
        <p:nvSpPr>
          <p:cNvPr id="11" name="TextBox 10"/>
          <p:cNvSpPr txBox="1"/>
          <p:nvPr/>
        </p:nvSpPr>
        <p:spPr>
          <a:xfrm>
            <a:off x="7040880" y="5162984"/>
            <a:ext cx="4709160" cy="365760"/>
          </a:xfrm>
          <a:prstGeom prst="rect">
            <a:avLst/>
          </a:prstGeom>
          <a:noFill/>
        </p:spPr>
        <p:txBody>
          <a:bodyPr wrap="square" lIns="0" rIns="0" tIns="0" bIns="0">
            <a:spAutoFit/>
          </a:bodyPr>
          <a:lstStyle/>
          <a:p>
            <a:pPr algn="ctr"/>
            <a:r>
              <a:rPr sz="950" b="0" i="1">
                <a:solidFill>
                  <a:srgbClr val="5B6370"/>
                </a:solidFill>
                <a:latin typeface="Calibri"/>
              </a:rPr>
              <a:t>SHAP importance — XGBoost @ t=100%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55664"/>
            <a:ext cx="8686800" cy="310896"/>
          </a:xfrm>
          <a:prstGeom prst="rect">
            <a:avLst/>
          </a:prstGeom>
          <a:noFill/>
        </p:spPr>
        <p:txBody>
          <a:bodyPr wrap="square" lIns="0" rIns="0" tIns="0" bIns="0">
            <a:spAutoFit/>
          </a:bodyPr>
          <a:lstStyle/>
          <a:p>
            <a:r>
              <a:rPr sz="900" b="0" i="0">
                <a:solidFill>
                  <a:srgbClr val="5B6370"/>
                </a:solidFill>
                <a:latin typeface="Calibri"/>
              </a:rPr>
              <a:t>DSP391m · Nhóm 1 · Bảo vệ cuối kỳ</a:t>
            </a:r>
            <a:r>
              <a:rPr sz="900" b="1" i="0">
                <a:solidFill>
                  <a:srgbClr val="E8722B"/>
                </a:solidFill>
                <a:latin typeface="Calibri"/>
              </a:rPr>
              <a:t>   ·   Bình</a:t>
            </a:r>
          </a:p>
        </p:txBody>
      </p:sp>
      <p:sp>
        <p:nvSpPr>
          <p:cNvPr id="5" name="TextBox 4"/>
          <p:cNvSpPr txBox="1"/>
          <p:nvPr/>
        </p:nvSpPr>
        <p:spPr>
          <a:xfrm>
            <a:off x="11155680" y="6455664"/>
            <a:ext cx="822960" cy="310896"/>
          </a:xfrm>
          <a:prstGeom prst="rect">
            <a:avLst/>
          </a:prstGeom>
          <a:noFill/>
        </p:spPr>
        <p:txBody>
          <a:bodyPr wrap="square" lIns="0" rIns="0" tIns="0" bIns="0">
            <a:spAutoFit/>
          </a:bodyPr>
          <a:lstStyle/>
          <a:p>
            <a:pPr algn="r"/>
            <a:r>
              <a:rPr sz="1000" b="1" i="0">
                <a:solidFill>
                  <a:srgbClr val="0F2A4F"/>
                </a:solidFill>
                <a:latin typeface="Calibri"/>
              </a:rPr>
              <a:t>13</a:t>
            </a:r>
          </a:p>
        </p:txBody>
      </p:sp>
      <p:sp>
        <p:nvSpPr>
          <p:cNvPr id="6" name="TextBox 5"/>
          <p:cNvSpPr txBox="1"/>
          <p:nvPr/>
        </p:nvSpPr>
        <p:spPr>
          <a:xfrm>
            <a:off x="502920" y="292608"/>
            <a:ext cx="10972800" cy="365760"/>
          </a:xfrm>
          <a:prstGeom prst="rect">
            <a:avLst/>
          </a:prstGeom>
          <a:noFill/>
        </p:spPr>
        <p:txBody>
          <a:bodyPr wrap="square" lIns="0" rIns="0" tIns="0" bIns="0">
            <a:spAutoFit/>
          </a:bodyPr>
          <a:lstStyle/>
          <a:p>
            <a:r>
              <a:rPr sz="1200" b="1" i="0">
                <a:solidFill>
                  <a:srgbClr val="E8722B"/>
                </a:solidFill>
                <a:latin typeface="Calibri"/>
              </a:rPr>
              <a:t>CÔNG BẰNG</a:t>
            </a:r>
          </a:p>
        </p:txBody>
      </p:sp>
      <p:sp>
        <p:nvSpPr>
          <p:cNvPr id="7" name="TextBox 6"/>
          <p:cNvSpPr txBox="1"/>
          <p:nvPr/>
        </p:nvSpPr>
        <p:spPr>
          <a:xfrm>
            <a:off x="502920" y="603504"/>
            <a:ext cx="11155680" cy="868680"/>
          </a:xfrm>
          <a:prstGeom prst="rect">
            <a:avLst/>
          </a:prstGeom>
          <a:noFill/>
        </p:spPr>
        <p:txBody>
          <a:bodyPr wrap="square" lIns="0" rIns="0" tIns="0" bIns="0">
            <a:spAutoFit/>
          </a:bodyPr>
          <a:lstStyle/>
          <a:p>
            <a:r>
              <a:rPr sz="2500" b="1" i="0">
                <a:solidFill>
                  <a:srgbClr val="0F2A4F"/>
                </a:solidFill>
                <a:latin typeface="Calibri"/>
              </a:rPr>
              <a:t>Fairness — chênh lệch recall/FPR giữa các nhóm sinh viên</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11155680" cy="4572000"/>
          </a:xfrm>
          <a:prstGeom prst="rect">
            <a:avLst/>
          </a:prstGeom>
          <a:noFill/>
        </p:spPr>
        <p:txBody>
          <a:bodyPr wrap="square" lIns="0" rIns="0" t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Đo recall-gap &amp; FPR-gap của model chính trên các nhóm nhân khẩu học (tập test).</a:t>
            </a:r>
          </a:p>
          <a:p>
            <a:pPr>
              <a:lnSpc>
                <a:spcPct val="104000"/>
              </a:lnSpc>
              <a:spcBef>
                <a:spcPts val="600"/>
              </a:spcBef>
              <a:spcAft>
                <a:spcPts val="700"/>
              </a:spcAft>
            </a:pPr>
            <a:r>
              <a:rPr sz="1350" b="1" i="0">
                <a:solidFill>
                  <a:srgbClr val="E8722B"/>
                </a:solidFill>
                <a:latin typeface="Calibri"/>
              </a:rPr>
              <a:t>▶ Số liệu chốt:  </a:t>
            </a:r>
            <a:r>
              <a:rPr sz="1350" b="1" i="0">
                <a:solidFill>
                  <a:srgbClr val="0F2A4F"/>
                </a:solidFill>
                <a:latin typeface="Calibri"/>
              </a:rPr>
              <a:t>Gap lớn nhất: imd_band — recall chênh 0,066 giữa 11 nhóm; các thuộc tính nhị phân gap ≤ 0,026.</a:t>
            </a:r>
          </a:p>
          <a:p>
            <a:pPr>
              <a:lnSpc>
                <a:spcPct val="104000"/>
              </a:lnSpc>
              <a:spcBef>
                <a:spcPts val="400"/>
              </a:spcBef>
              <a:spcAft>
                <a:spcPts val="700"/>
              </a:spcAft>
            </a:pPr>
            <a:r>
              <a:rPr sz="1200" b="0" i="1">
                <a:solidFill>
                  <a:srgbClr val="5B6370"/>
                </a:solidFill>
                <a:latin typeface="Calibri"/>
              </a:rPr>
              <a:t>Gap tồn tại nhưng ở mức vừa phải; cần theo dõi khi triển khai thật.</a:t>
            </a:r>
          </a:p>
        </p:txBody>
      </p:sp>
      <p:graphicFrame>
        <p:nvGraphicFramePr>
          <p:cNvPr id="10" name="Table 9"/>
          <p:cNvGraphicFramePr>
            <a:graphicFrameLocks noGrp="1"/>
          </p:cNvGraphicFramePr>
          <p:nvPr/>
        </p:nvGraphicFramePr>
        <p:xfrm>
          <a:off x="548640" y="3474720"/>
          <a:ext cx="10607040" cy="2304288"/>
        </p:xfrm>
        <a:graphic>
          <a:graphicData uri="http://schemas.openxmlformats.org/drawingml/2006/table">
            <a:tbl>
              <a:tblPr firstRow="1" bandRow="1">
                <a:tableStyleId>{5C22544A-7EE6-4342-B048-85BDC9FD1C3A}</a:tableStyleId>
              </a:tblPr>
              <a:tblGrid>
                <a:gridCol w="2834640"/>
                <a:gridCol w="1280160"/>
                <a:gridCol w="1645920"/>
                <a:gridCol w="1645920"/>
                <a:gridCol w="1645920"/>
                <a:gridCol w="1554480"/>
              </a:tblGrid>
              <a:tr h="329184">
                <a:tc>
                  <a:txBody>
                    <a:bodyPr/>
                    <a:lstStyle/>
                    <a:p>
                      <a:r>
                        <a:rPr sz="1200" b="1" i="0">
                          <a:solidFill>
                            <a:srgbClr val="FFFFFF"/>
                          </a:solidFill>
                          <a:latin typeface="Calibri"/>
                        </a:rPr>
                        <a:t>Thuộc tính</a:t>
                      </a:r>
                    </a:p>
                  </a:txBody>
                  <a:tcPr anchor="ctr" marT="25400" marB="25400">
                    <a:solidFill>
                      <a:srgbClr val="0F2A4F"/>
                    </a:solidFill>
                  </a:tcPr>
                </a:tc>
                <a:tc>
                  <a:txBody>
                    <a:bodyPr/>
                    <a:lstStyle/>
                    <a:p>
                      <a:r>
                        <a:rPr sz="1200" b="1" i="0">
                          <a:solidFill>
                            <a:srgbClr val="FFFFFF"/>
                          </a:solidFill>
                          <a:latin typeface="Calibri"/>
                        </a:rPr>
                        <a:t>Số nhóm</a:t>
                      </a:r>
                    </a:p>
                  </a:txBody>
                  <a:tcPr anchor="ctr" marT="25400" marB="25400">
                    <a:solidFill>
                      <a:srgbClr val="0F2A4F"/>
                    </a:solidFill>
                  </a:tcPr>
                </a:tc>
                <a:tc>
                  <a:txBody>
                    <a:bodyPr/>
                    <a:lstStyle/>
                    <a:p>
                      <a:r>
                        <a:rPr sz="1200" b="1" i="0">
                          <a:solidFill>
                            <a:srgbClr val="FFFFFF"/>
                          </a:solidFill>
                          <a:latin typeface="Calibri"/>
                        </a:rPr>
                        <a:t>Recall min</a:t>
                      </a:r>
                    </a:p>
                  </a:txBody>
                  <a:tcPr anchor="ctr" marT="25400" marB="25400">
                    <a:solidFill>
                      <a:srgbClr val="0F2A4F"/>
                    </a:solidFill>
                  </a:tcPr>
                </a:tc>
                <a:tc>
                  <a:txBody>
                    <a:bodyPr/>
                    <a:lstStyle/>
                    <a:p>
                      <a:r>
                        <a:rPr sz="1200" b="1" i="0">
                          <a:solidFill>
                            <a:srgbClr val="FFFFFF"/>
                          </a:solidFill>
                          <a:latin typeface="Calibri"/>
                        </a:rPr>
                        <a:t>Recall max</a:t>
                      </a:r>
                    </a:p>
                  </a:txBody>
                  <a:tcPr anchor="ctr" marT="25400" marB="25400">
                    <a:solidFill>
                      <a:srgbClr val="0F2A4F"/>
                    </a:solidFill>
                  </a:tcPr>
                </a:tc>
                <a:tc>
                  <a:txBody>
                    <a:bodyPr/>
                    <a:lstStyle/>
                    <a:p>
                      <a:r>
                        <a:rPr sz="1200" b="1" i="0">
                          <a:solidFill>
                            <a:srgbClr val="FFFFFF"/>
                          </a:solidFill>
                          <a:latin typeface="Calibri"/>
                        </a:rPr>
                        <a:t>Gap recall</a:t>
                      </a:r>
                    </a:p>
                  </a:txBody>
                  <a:tcPr anchor="ctr" marT="25400" marB="25400">
                    <a:solidFill>
                      <a:srgbClr val="0F2A4F"/>
                    </a:solidFill>
                  </a:tcPr>
                </a:tc>
                <a:tc>
                  <a:txBody>
                    <a:bodyPr/>
                    <a:lstStyle/>
                    <a:p>
                      <a:r>
                        <a:rPr sz="1200" b="1" i="0">
                          <a:solidFill>
                            <a:srgbClr val="FFFFFF"/>
                          </a:solidFill>
                          <a:latin typeface="Calibri"/>
                        </a:rPr>
                        <a:t>Gap FPR</a:t>
                      </a:r>
                    </a:p>
                  </a:txBody>
                  <a:tcPr anchor="ctr" marT="25400" marB="25400">
                    <a:solidFill>
                      <a:srgbClr val="0F2A4F"/>
                    </a:solidFill>
                  </a:tcPr>
                </a:tc>
              </a:tr>
              <a:tr h="329184">
                <a:tc>
                  <a:txBody>
                    <a:bodyPr/>
                    <a:lstStyle/>
                    <a:p>
                      <a:r>
                        <a:rPr sz="1200" b="1" i="0">
                          <a:solidFill>
                            <a:srgbClr val="0F2A4F"/>
                          </a:solidFill>
                          <a:latin typeface="Calibri"/>
                        </a:rPr>
                        <a:t>imd_band</a:t>
                      </a:r>
                    </a:p>
                  </a:txBody>
                  <a:tcPr anchor="ctr" marT="12700" marB="12700">
                    <a:solidFill>
                      <a:srgbClr val="FFFFFF"/>
                    </a:solidFill>
                  </a:tcPr>
                </a:tc>
                <a:tc>
                  <a:txBody>
                    <a:bodyPr/>
                    <a:lstStyle/>
                    <a:p>
                      <a:r>
                        <a:rPr sz="1200" b="0" i="0">
                          <a:solidFill>
                            <a:srgbClr val="262B33"/>
                          </a:solidFill>
                          <a:latin typeface="Calibri"/>
                        </a:rPr>
                        <a:t>11</a:t>
                      </a:r>
                    </a:p>
                  </a:txBody>
                  <a:tcPr anchor="ctr" marT="12700" marB="12700">
                    <a:solidFill>
                      <a:srgbClr val="FFFFFF"/>
                    </a:solidFill>
                  </a:tcPr>
                </a:tc>
                <a:tc>
                  <a:txBody>
                    <a:bodyPr/>
                    <a:lstStyle/>
                    <a:p>
                      <a:r>
                        <a:rPr sz="1200" b="0" i="0">
                          <a:solidFill>
                            <a:srgbClr val="262B33"/>
                          </a:solidFill>
                          <a:latin typeface="Calibri"/>
                        </a:rPr>
                        <a:t>0,894</a:t>
                      </a:r>
                    </a:p>
                  </a:txBody>
                  <a:tcPr anchor="ctr" marT="12700" marB="12700">
                    <a:solidFill>
                      <a:srgbClr val="FFFFFF"/>
                    </a:solidFill>
                  </a:tcPr>
                </a:tc>
                <a:tc>
                  <a:txBody>
                    <a:bodyPr/>
                    <a:lstStyle/>
                    <a:p>
                      <a:r>
                        <a:rPr sz="1200" b="0" i="0">
                          <a:solidFill>
                            <a:srgbClr val="262B33"/>
                          </a:solidFill>
                          <a:latin typeface="Calibri"/>
                        </a:rPr>
                        <a:t>0,960</a:t>
                      </a:r>
                    </a:p>
                  </a:txBody>
                  <a:tcPr anchor="ctr" marT="12700" marB="12700">
                    <a:solidFill>
                      <a:srgbClr val="FFFFFF"/>
                    </a:solidFill>
                  </a:tcPr>
                </a:tc>
                <a:tc>
                  <a:txBody>
                    <a:bodyPr/>
                    <a:lstStyle/>
                    <a:p>
                      <a:r>
                        <a:rPr sz="1200" b="0" i="0">
                          <a:solidFill>
                            <a:srgbClr val="262B33"/>
                          </a:solidFill>
                          <a:latin typeface="Calibri"/>
                        </a:rPr>
                        <a:t>0,066</a:t>
                      </a:r>
                    </a:p>
                  </a:txBody>
                  <a:tcPr anchor="ctr" marT="12700" marB="12700">
                    <a:solidFill>
                      <a:srgbClr val="FFFFFF"/>
                    </a:solidFill>
                  </a:tcPr>
                </a:tc>
                <a:tc>
                  <a:txBody>
                    <a:bodyPr/>
                    <a:lstStyle/>
                    <a:p>
                      <a:r>
                        <a:rPr sz="1200" b="0" i="0">
                          <a:solidFill>
                            <a:srgbClr val="262B33"/>
                          </a:solidFill>
                          <a:latin typeface="Calibri"/>
                        </a:rPr>
                        <a:t>0,046</a:t>
                      </a:r>
                    </a:p>
                  </a:txBody>
                  <a:tcPr anchor="ctr" marT="12700" marB="12700">
                    <a:solidFill>
                      <a:srgbClr val="FFFFFF"/>
                    </a:solidFill>
                  </a:tcPr>
                </a:tc>
              </a:tr>
              <a:tr h="329184">
                <a:tc>
                  <a:txBody>
                    <a:bodyPr/>
                    <a:lstStyle/>
                    <a:p>
                      <a:r>
                        <a:rPr sz="1200" b="1" i="0">
                          <a:solidFill>
                            <a:srgbClr val="0F2A4F"/>
                          </a:solidFill>
                          <a:latin typeface="Calibri"/>
                        </a:rPr>
                        <a:t>region</a:t>
                      </a:r>
                    </a:p>
                  </a:txBody>
                  <a:tcPr anchor="ctr" marT="12700" marB="12700">
                    <a:solidFill>
                      <a:srgbClr val="F2F4F7"/>
                    </a:solidFill>
                  </a:tcPr>
                </a:tc>
                <a:tc>
                  <a:txBody>
                    <a:bodyPr/>
                    <a:lstStyle/>
                    <a:p>
                      <a:r>
                        <a:rPr sz="1200" b="0" i="0">
                          <a:solidFill>
                            <a:srgbClr val="262B33"/>
                          </a:solidFill>
                          <a:latin typeface="Calibri"/>
                        </a:rPr>
                        <a:t>13</a:t>
                      </a:r>
                    </a:p>
                  </a:txBody>
                  <a:tcPr anchor="ctr" marT="12700" marB="12700">
                    <a:solidFill>
                      <a:srgbClr val="F2F4F7"/>
                    </a:solidFill>
                  </a:tcPr>
                </a:tc>
                <a:tc>
                  <a:txBody>
                    <a:bodyPr/>
                    <a:lstStyle/>
                    <a:p>
                      <a:r>
                        <a:rPr sz="1200" b="0" i="0">
                          <a:solidFill>
                            <a:srgbClr val="262B33"/>
                          </a:solidFill>
                          <a:latin typeface="Calibri"/>
                        </a:rPr>
                        <a:t>0,909</a:t>
                      </a:r>
                    </a:p>
                  </a:txBody>
                  <a:tcPr anchor="ctr" marT="12700" marB="12700">
                    <a:solidFill>
                      <a:srgbClr val="F2F4F7"/>
                    </a:solidFill>
                  </a:tcPr>
                </a:tc>
                <a:tc>
                  <a:txBody>
                    <a:bodyPr/>
                    <a:lstStyle/>
                    <a:p>
                      <a:r>
                        <a:rPr sz="1200" b="0" i="0">
                          <a:solidFill>
                            <a:srgbClr val="262B33"/>
                          </a:solidFill>
                          <a:latin typeface="Calibri"/>
                        </a:rPr>
                        <a:t>0,950</a:t>
                      </a:r>
                    </a:p>
                  </a:txBody>
                  <a:tcPr anchor="ctr" marT="12700" marB="12700">
                    <a:solidFill>
                      <a:srgbClr val="F2F4F7"/>
                    </a:solidFill>
                  </a:tcPr>
                </a:tc>
                <a:tc>
                  <a:txBody>
                    <a:bodyPr/>
                    <a:lstStyle/>
                    <a:p>
                      <a:r>
                        <a:rPr sz="1200" b="0" i="0">
                          <a:solidFill>
                            <a:srgbClr val="262B33"/>
                          </a:solidFill>
                          <a:latin typeface="Calibri"/>
                        </a:rPr>
                        <a:t>0,041</a:t>
                      </a:r>
                    </a:p>
                  </a:txBody>
                  <a:tcPr anchor="ctr" marT="12700" marB="12700">
                    <a:solidFill>
                      <a:srgbClr val="F2F4F7"/>
                    </a:solidFill>
                  </a:tcPr>
                </a:tc>
                <a:tc>
                  <a:txBody>
                    <a:bodyPr/>
                    <a:lstStyle/>
                    <a:p>
                      <a:r>
                        <a:rPr sz="1200" b="0" i="0">
                          <a:solidFill>
                            <a:srgbClr val="262B33"/>
                          </a:solidFill>
                          <a:latin typeface="Calibri"/>
                        </a:rPr>
                        <a:t>0,038</a:t>
                      </a:r>
                    </a:p>
                  </a:txBody>
                  <a:tcPr anchor="ctr" marT="12700" marB="12700">
                    <a:solidFill>
                      <a:srgbClr val="F2F4F7"/>
                    </a:solidFill>
                  </a:tcPr>
                </a:tc>
              </a:tr>
              <a:tr h="329184">
                <a:tc>
                  <a:txBody>
                    <a:bodyPr/>
                    <a:lstStyle/>
                    <a:p>
                      <a:r>
                        <a:rPr sz="1200" b="1" i="0">
                          <a:solidFill>
                            <a:srgbClr val="0F2A4F"/>
                          </a:solidFill>
                          <a:latin typeface="Calibri"/>
                        </a:rPr>
                        <a:t>highest_education</a:t>
                      </a:r>
                    </a:p>
                  </a:txBody>
                  <a:tcPr anchor="ctr" marT="12700" marB="12700">
                    <a:solidFill>
                      <a:srgbClr val="FFFFFF"/>
                    </a:solidFill>
                  </a:tcPr>
                </a:tc>
                <a:tc>
                  <a:txBody>
                    <a:bodyPr/>
                    <a:lstStyle/>
                    <a:p>
                      <a:r>
                        <a:rPr sz="1200" b="0" i="0">
                          <a:solidFill>
                            <a:srgbClr val="262B33"/>
                          </a:solidFill>
                          <a:latin typeface="Calibri"/>
                        </a:rPr>
                        <a:t>5</a:t>
                      </a:r>
                    </a:p>
                  </a:txBody>
                  <a:tcPr anchor="ctr" marT="12700" marB="12700">
                    <a:solidFill>
                      <a:srgbClr val="FFFFFF"/>
                    </a:solidFill>
                  </a:tcPr>
                </a:tc>
                <a:tc>
                  <a:txBody>
                    <a:bodyPr/>
                    <a:lstStyle/>
                    <a:p>
                      <a:r>
                        <a:rPr sz="1200" b="0" i="0">
                          <a:solidFill>
                            <a:srgbClr val="262B33"/>
                          </a:solidFill>
                          <a:latin typeface="Calibri"/>
                        </a:rPr>
                        <a:t>0,926</a:t>
                      </a:r>
                    </a:p>
                  </a:txBody>
                  <a:tcPr anchor="ctr" marT="12700" marB="12700">
                    <a:solidFill>
                      <a:srgbClr val="FFFFFF"/>
                    </a:solidFill>
                  </a:tcPr>
                </a:tc>
                <a:tc>
                  <a:txBody>
                    <a:bodyPr/>
                    <a:lstStyle/>
                    <a:p>
                      <a:r>
                        <a:rPr sz="1200" b="0" i="0">
                          <a:solidFill>
                            <a:srgbClr val="262B33"/>
                          </a:solidFill>
                          <a:latin typeface="Calibri"/>
                        </a:rPr>
                        <a:t>0,957</a:t>
                      </a:r>
                    </a:p>
                  </a:txBody>
                  <a:tcPr anchor="ctr" marT="12700" marB="12700">
                    <a:solidFill>
                      <a:srgbClr val="FFFFFF"/>
                    </a:solidFill>
                  </a:tcPr>
                </a:tc>
                <a:tc>
                  <a:txBody>
                    <a:bodyPr/>
                    <a:lstStyle/>
                    <a:p>
                      <a:r>
                        <a:rPr sz="1200" b="0" i="0">
                          <a:solidFill>
                            <a:srgbClr val="262B33"/>
                          </a:solidFill>
                          <a:latin typeface="Calibri"/>
                        </a:rPr>
                        <a:t>0,030</a:t>
                      </a:r>
                    </a:p>
                  </a:txBody>
                  <a:tcPr anchor="ctr" marT="12700" marB="12700">
                    <a:solidFill>
                      <a:srgbClr val="FFFFFF"/>
                    </a:solidFill>
                  </a:tcPr>
                </a:tc>
                <a:tc>
                  <a:txBody>
                    <a:bodyPr/>
                    <a:lstStyle/>
                    <a:p>
                      <a:r>
                        <a:rPr sz="1200" b="0" i="0">
                          <a:solidFill>
                            <a:srgbClr val="262B33"/>
                          </a:solidFill>
                          <a:latin typeface="Calibri"/>
                        </a:rPr>
                        <a:t>0,053</a:t>
                      </a:r>
                    </a:p>
                  </a:txBody>
                  <a:tcPr anchor="ctr" marT="12700" marB="12700">
                    <a:solidFill>
                      <a:srgbClr val="FFFFFF"/>
                    </a:solidFill>
                  </a:tcPr>
                </a:tc>
              </a:tr>
              <a:tr h="329184">
                <a:tc>
                  <a:txBody>
                    <a:bodyPr/>
                    <a:lstStyle/>
                    <a:p>
                      <a:r>
                        <a:rPr sz="1200" b="1" i="0">
                          <a:solidFill>
                            <a:srgbClr val="0F2A4F"/>
                          </a:solidFill>
                          <a:latin typeface="Calibri"/>
                        </a:rPr>
                        <a:t>gender</a:t>
                      </a:r>
                    </a:p>
                  </a:txBody>
                  <a:tcPr anchor="ctr" marT="12700" marB="12700">
                    <a:solidFill>
                      <a:srgbClr val="F2F4F7"/>
                    </a:solidFill>
                  </a:tcPr>
                </a:tc>
                <a:tc>
                  <a:txBody>
                    <a:bodyPr/>
                    <a:lstStyle/>
                    <a:p>
                      <a:r>
                        <a:rPr sz="1200" b="0" i="0">
                          <a:solidFill>
                            <a:srgbClr val="262B33"/>
                          </a:solidFill>
                          <a:latin typeface="Calibri"/>
                        </a:rPr>
                        <a:t>2</a:t>
                      </a:r>
                    </a:p>
                  </a:txBody>
                  <a:tcPr anchor="ctr" marT="12700" marB="12700">
                    <a:solidFill>
                      <a:srgbClr val="F2F4F7"/>
                    </a:solidFill>
                  </a:tcPr>
                </a:tc>
                <a:tc>
                  <a:txBody>
                    <a:bodyPr/>
                    <a:lstStyle/>
                    <a:p>
                      <a:r>
                        <a:rPr sz="1200" b="0" i="0">
                          <a:solidFill>
                            <a:srgbClr val="262B33"/>
                          </a:solidFill>
                          <a:latin typeface="Calibri"/>
                        </a:rPr>
                        <a:t>0,915</a:t>
                      </a:r>
                    </a:p>
                  </a:txBody>
                  <a:tcPr anchor="ctr" marT="12700" marB="12700">
                    <a:solidFill>
                      <a:srgbClr val="F2F4F7"/>
                    </a:solidFill>
                  </a:tcPr>
                </a:tc>
                <a:tc>
                  <a:txBody>
                    <a:bodyPr/>
                    <a:lstStyle/>
                    <a:p>
                      <a:r>
                        <a:rPr sz="1200" b="0" i="0">
                          <a:solidFill>
                            <a:srgbClr val="262B33"/>
                          </a:solidFill>
                          <a:latin typeface="Calibri"/>
                        </a:rPr>
                        <a:t>0,941</a:t>
                      </a:r>
                    </a:p>
                  </a:txBody>
                  <a:tcPr anchor="ctr" marT="12700" marB="12700">
                    <a:solidFill>
                      <a:srgbClr val="F2F4F7"/>
                    </a:solidFill>
                  </a:tcPr>
                </a:tc>
                <a:tc>
                  <a:txBody>
                    <a:bodyPr/>
                    <a:lstStyle/>
                    <a:p>
                      <a:r>
                        <a:rPr sz="1200" b="0" i="0">
                          <a:solidFill>
                            <a:srgbClr val="262B33"/>
                          </a:solidFill>
                          <a:latin typeface="Calibri"/>
                        </a:rPr>
                        <a:t>0,026</a:t>
                      </a:r>
                    </a:p>
                  </a:txBody>
                  <a:tcPr anchor="ctr" marT="12700" marB="12700">
                    <a:solidFill>
                      <a:srgbClr val="F2F4F7"/>
                    </a:solidFill>
                  </a:tcPr>
                </a:tc>
                <a:tc>
                  <a:txBody>
                    <a:bodyPr/>
                    <a:lstStyle/>
                    <a:p>
                      <a:r>
                        <a:rPr sz="1200" b="0" i="0">
                          <a:solidFill>
                            <a:srgbClr val="262B33"/>
                          </a:solidFill>
                          <a:latin typeface="Calibri"/>
                        </a:rPr>
                        <a:t>0,002</a:t>
                      </a:r>
                    </a:p>
                  </a:txBody>
                  <a:tcPr anchor="ctr" marT="12700" marB="12700">
                    <a:solidFill>
                      <a:srgbClr val="F2F4F7"/>
                    </a:solidFill>
                  </a:tcPr>
                </a:tc>
              </a:tr>
              <a:tr h="329184">
                <a:tc>
                  <a:txBody>
                    <a:bodyPr/>
                    <a:lstStyle/>
                    <a:p>
                      <a:r>
                        <a:rPr sz="1200" b="1" i="0">
                          <a:solidFill>
                            <a:srgbClr val="0F2A4F"/>
                          </a:solidFill>
                          <a:latin typeface="Calibri"/>
                        </a:rPr>
                        <a:t>disability</a:t>
                      </a:r>
                    </a:p>
                  </a:txBody>
                  <a:tcPr anchor="ctr" marT="12700" marB="12700">
                    <a:solidFill>
                      <a:srgbClr val="FFFFFF"/>
                    </a:solidFill>
                  </a:tcPr>
                </a:tc>
                <a:tc>
                  <a:txBody>
                    <a:bodyPr/>
                    <a:lstStyle/>
                    <a:p>
                      <a:r>
                        <a:rPr sz="1200" b="0" i="0">
                          <a:solidFill>
                            <a:srgbClr val="262B33"/>
                          </a:solidFill>
                          <a:latin typeface="Calibri"/>
                        </a:rPr>
                        <a:t>2</a:t>
                      </a:r>
                    </a:p>
                  </a:txBody>
                  <a:tcPr anchor="ctr" marT="12700" marB="12700">
                    <a:solidFill>
                      <a:srgbClr val="FFFFFF"/>
                    </a:solidFill>
                  </a:tcPr>
                </a:tc>
                <a:tc>
                  <a:txBody>
                    <a:bodyPr/>
                    <a:lstStyle/>
                    <a:p>
                      <a:r>
                        <a:rPr sz="1200" b="0" i="0">
                          <a:solidFill>
                            <a:srgbClr val="262B33"/>
                          </a:solidFill>
                          <a:latin typeface="Calibri"/>
                        </a:rPr>
                        <a:t>0,928</a:t>
                      </a:r>
                    </a:p>
                  </a:txBody>
                  <a:tcPr anchor="ctr" marT="12700" marB="12700">
                    <a:solidFill>
                      <a:srgbClr val="FFFFFF"/>
                    </a:solidFill>
                  </a:tcPr>
                </a:tc>
                <a:tc>
                  <a:txBody>
                    <a:bodyPr/>
                    <a:lstStyle/>
                    <a:p>
                      <a:r>
                        <a:rPr sz="1200" b="0" i="0">
                          <a:solidFill>
                            <a:srgbClr val="262B33"/>
                          </a:solidFill>
                          <a:latin typeface="Calibri"/>
                        </a:rPr>
                        <a:t>0,945</a:t>
                      </a:r>
                    </a:p>
                  </a:txBody>
                  <a:tcPr anchor="ctr" marT="12700" marB="12700">
                    <a:solidFill>
                      <a:srgbClr val="FFFFFF"/>
                    </a:solidFill>
                  </a:tcPr>
                </a:tc>
                <a:tc>
                  <a:txBody>
                    <a:bodyPr/>
                    <a:lstStyle/>
                    <a:p>
                      <a:r>
                        <a:rPr sz="1200" b="0" i="0">
                          <a:solidFill>
                            <a:srgbClr val="262B33"/>
                          </a:solidFill>
                          <a:latin typeface="Calibri"/>
                        </a:rPr>
                        <a:t>0,017</a:t>
                      </a:r>
                    </a:p>
                  </a:txBody>
                  <a:tcPr anchor="ctr" marT="12700" marB="12700">
                    <a:solidFill>
                      <a:srgbClr val="FFFFFF"/>
                    </a:solidFill>
                  </a:tcPr>
                </a:tc>
                <a:tc>
                  <a:txBody>
                    <a:bodyPr/>
                    <a:lstStyle/>
                    <a:p>
                      <a:r>
                        <a:rPr sz="1200" b="0" i="0">
                          <a:solidFill>
                            <a:srgbClr val="262B33"/>
                          </a:solidFill>
                          <a:latin typeface="Calibri"/>
                        </a:rPr>
                        <a:t>0,021</a:t>
                      </a:r>
                    </a:p>
                  </a:txBody>
                  <a:tcPr anchor="ctr" marT="12700" marB="12700">
                    <a:solidFill>
                      <a:srgbClr val="FFFFFF"/>
                    </a:solidFill>
                  </a:tcPr>
                </a:tc>
              </a:tr>
              <a:tr h="329184">
                <a:tc>
                  <a:txBody>
                    <a:bodyPr/>
                    <a:lstStyle/>
                    <a:p>
                      <a:r>
                        <a:rPr sz="1200" b="1" i="0">
                          <a:solidFill>
                            <a:srgbClr val="0F2A4F"/>
                          </a:solidFill>
                          <a:latin typeface="Calibri"/>
                        </a:rPr>
                        <a:t>age_band</a:t>
                      </a:r>
                    </a:p>
                  </a:txBody>
                  <a:tcPr anchor="ctr" marT="12700" marB="12700">
                    <a:solidFill>
                      <a:srgbClr val="F2F4F7"/>
                    </a:solidFill>
                  </a:tcPr>
                </a:tc>
                <a:tc>
                  <a:txBody>
                    <a:bodyPr/>
                    <a:lstStyle/>
                    <a:p>
                      <a:r>
                        <a:rPr sz="1200" b="0" i="0">
                          <a:solidFill>
                            <a:srgbClr val="262B33"/>
                          </a:solidFill>
                          <a:latin typeface="Calibri"/>
                        </a:rPr>
                        <a:t>2</a:t>
                      </a:r>
                    </a:p>
                  </a:txBody>
                  <a:tcPr anchor="ctr" marT="12700" marB="12700">
                    <a:solidFill>
                      <a:srgbClr val="F2F4F7"/>
                    </a:solidFill>
                  </a:tcPr>
                </a:tc>
                <a:tc>
                  <a:txBody>
                    <a:bodyPr/>
                    <a:lstStyle/>
                    <a:p>
                      <a:r>
                        <a:rPr sz="1200" b="0" i="0">
                          <a:solidFill>
                            <a:srgbClr val="262B33"/>
                          </a:solidFill>
                          <a:latin typeface="Calibri"/>
                        </a:rPr>
                        <a:t>0,918</a:t>
                      </a:r>
                    </a:p>
                  </a:txBody>
                  <a:tcPr anchor="ctr" marT="12700" marB="12700">
                    <a:solidFill>
                      <a:srgbClr val="F2F4F7"/>
                    </a:solidFill>
                  </a:tcPr>
                </a:tc>
                <a:tc>
                  <a:txBody>
                    <a:bodyPr/>
                    <a:lstStyle/>
                    <a:p>
                      <a:r>
                        <a:rPr sz="1200" b="0" i="0">
                          <a:solidFill>
                            <a:srgbClr val="262B33"/>
                          </a:solidFill>
                          <a:latin typeface="Calibri"/>
                        </a:rPr>
                        <a:t>0,934</a:t>
                      </a:r>
                    </a:p>
                  </a:txBody>
                  <a:tcPr anchor="ctr" marT="12700" marB="12700">
                    <a:solidFill>
                      <a:srgbClr val="F2F4F7"/>
                    </a:solidFill>
                  </a:tcPr>
                </a:tc>
                <a:tc>
                  <a:txBody>
                    <a:bodyPr/>
                    <a:lstStyle/>
                    <a:p>
                      <a:r>
                        <a:rPr sz="1200" b="0" i="0">
                          <a:solidFill>
                            <a:srgbClr val="262B33"/>
                          </a:solidFill>
                          <a:latin typeface="Calibri"/>
                        </a:rPr>
                        <a:t>0,016</a:t>
                      </a:r>
                    </a:p>
                  </a:txBody>
                  <a:tcPr anchor="ctr" marT="12700" marB="12700">
                    <a:solidFill>
                      <a:srgbClr val="F2F4F7"/>
                    </a:solidFill>
                  </a:tcPr>
                </a:tc>
                <a:tc>
                  <a:txBody>
                    <a:bodyPr/>
                    <a:lstStyle/>
                    <a:p>
                      <a:r>
                        <a:rPr sz="1200" b="0" i="0">
                          <a:solidFill>
                            <a:srgbClr val="262B33"/>
                          </a:solidFill>
                          <a:latin typeface="Calibri"/>
                        </a:rPr>
                        <a:t>0,007</a:t>
                      </a:r>
                    </a:p>
                  </a:txBody>
                  <a:tcPr anchor="ctr" marT="12700" marB="12700">
                    <a:solidFill>
                      <a:srgbClr val="F2F4F7"/>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55664"/>
            <a:ext cx="8686800" cy="310896"/>
          </a:xfrm>
          <a:prstGeom prst="rect">
            <a:avLst/>
          </a:prstGeom>
          <a:noFill/>
        </p:spPr>
        <p:txBody>
          <a:bodyPr wrap="square" lIns="0" rIns="0" tIns="0" bIns="0">
            <a:spAutoFit/>
          </a:bodyPr>
          <a:lstStyle/>
          <a:p>
            <a:r>
              <a:rPr sz="900" b="0" i="0">
                <a:solidFill>
                  <a:srgbClr val="5B6370"/>
                </a:solidFill>
                <a:latin typeface="Calibri"/>
              </a:rPr>
              <a:t>DSP391m · Nhóm 1 · Bảo vệ cuối kỳ</a:t>
            </a:r>
            <a:r>
              <a:rPr sz="900" b="1" i="0">
                <a:solidFill>
                  <a:srgbClr val="E8722B"/>
                </a:solidFill>
                <a:latin typeface="Calibri"/>
              </a:rPr>
              <a:t>   ·   An</a:t>
            </a:r>
          </a:p>
        </p:txBody>
      </p:sp>
      <p:sp>
        <p:nvSpPr>
          <p:cNvPr id="5" name="TextBox 4"/>
          <p:cNvSpPr txBox="1"/>
          <p:nvPr/>
        </p:nvSpPr>
        <p:spPr>
          <a:xfrm>
            <a:off x="11155680" y="6455664"/>
            <a:ext cx="822960" cy="310896"/>
          </a:xfrm>
          <a:prstGeom prst="rect">
            <a:avLst/>
          </a:prstGeom>
          <a:noFill/>
        </p:spPr>
        <p:txBody>
          <a:bodyPr wrap="square" lIns="0" rIns="0" tIns="0" bIns="0">
            <a:spAutoFit/>
          </a:bodyPr>
          <a:lstStyle/>
          <a:p>
            <a:pPr algn="r"/>
            <a:r>
              <a:rPr sz="1000" b="1" i="0">
                <a:solidFill>
                  <a:srgbClr val="0F2A4F"/>
                </a:solidFill>
                <a:latin typeface="Calibri"/>
              </a:rPr>
              <a:t>14</a:t>
            </a:r>
          </a:p>
        </p:txBody>
      </p:sp>
      <p:sp>
        <p:nvSpPr>
          <p:cNvPr id="6" name="TextBox 5"/>
          <p:cNvSpPr txBox="1"/>
          <p:nvPr/>
        </p:nvSpPr>
        <p:spPr>
          <a:xfrm>
            <a:off x="502920" y="292608"/>
            <a:ext cx="10972800" cy="365760"/>
          </a:xfrm>
          <a:prstGeom prst="rect">
            <a:avLst/>
          </a:prstGeom>
          <a:noFill/>
        </p:spPr>
        <p:txBody>
          <a:bodyPr wrap="square" lIns="0" rIns="0" tIns="0" bIns="0">
            <a:spAutoFit/>
          </a:bodyPr>
          <a:lstStyle/>
          <a:p>
            <a:r>
              <a:rPr sz="1200" b="1" i="0">
                <a:solidFill>
                  <a:srgbClr val="E8722B"/>
                </a:solidFill>
                <a:latin typeface="Calibri"/>
              </a:rPr>
              <a:t>SẢN PHẨM · DASHBOARD</a:t>
            </a:r>
          </a:p>
        </p:txBody>
      </p:sp>
      <p:sp>
        <p:nvSpPr>
          <p:cNvPr id="7" name="TextBox 6"/>
          <p:cNvSpPr txBox="1"/>
          <p:nvPr/>
        </p:nvSpPr>
        <p:spPr>
          <a:xfrm>
            <a:off x="502920" y="603504"/>
            <a:ext cx="11155680" cy="868680"/>
          </a:xfrm>
          <a:prstGeom prst="rect">
            <a:avLst/>
          </a:prstGeom>
          <a:noFill/>
        </p:spPr>
        <p:txBody>
          <a:bodyPr wrap="square" lIns="0" rIns="0" tIns="0" bIns="0">
            <a:spAutoFit/>
          </a:bodyPr>
          <a:lstStyle/>
          <a:p>
            <a:r>
              <a:rPr sz="2500" b="1" i="0">
                <a:solidFill>
                  <a:srgbClr val="0F2A4F"/>
                </a:solidFill>
                <a:latin typeface="Calibri"/>
              </a:rPr>
              <a:t>Streamlit dashboard cho cố vấn học tập</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11155680" cy="4572000"/>
          </a:xfrm>
          <a:prstGeom prst="rect">
            <a:avLst/>
          </a:prstGeom>
          <a:noFill/>
        </p:spPr>
        <p:txBody>
          <a:bodyPr wrap="square" lIns="0" rIns="0" t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App Streamlit: chọn khóa-kỳ + mốc tiến độ → danh sách SV xếp theo xác suất nguy cơ, kèm giải thích SHAP theo từng sinh viên.</a:t>
            </a:r>
          </a:p>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Bộ lọc 'còn đang học' (still-enrolled): mặc định ẩn SV đã rút trước mốc t — đúng tinh thần dual-cohort ở slide 9.</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Người dùng cuối là cố vấn học tập: cần danh sách hành động được, không phải bảng metric.</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Chạy tái lập từ repo (streamlit run), đọc đúng model + bảng số liệu đã đóng băng.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55664"/>
            <a:ext cx="8686800" cy="310896"/>
          </a:xfrm>
          <a:prstGeom prst="rect">
            <a:avLst/>
          </a:prstGeom>
          <a:noFill/>
        </p:spPr>
        <p:txBody>
          <a:bodyPr wrap="square" lIns="0" rIns="0" tIns="0" bIns="0">
            <a:spAutoFit/>
          </a:bodyPr>
          <a:lstStyle/>
          <a:p>
            <a:r>
              <a:rPr sz="900" b="0" i="0">
                <a:solidFill>
                  <a:srgbClr val="5B6370"/>
                </a:solidFill>
                <a:latin typeface="Calibri"/>
              </a:rPr>
              <a:t>DSP391m · Nhóm 1 · Bảo vệ cuối kỳ</a:t>
            </a:r>
            <a:r>
              <a:rPr sz="900" b="1" i="0">
                <a:solidFill>
                  <a:srgbClr val="E8722B"/>
                </a:solidFill>
                <a:latin typeface="Calibri"/>
              </a:rPr>
              <a:t>   ·   Khoa</a:t>
            </a:r>
          </a:p>
        </p:txBody>
      </p:sp>
      <p:sp>
        <p:nvSpPr>
          <p:cNvPr id="5" name="TextBox 4"/>
          <p:cNvSpPr txBox="1"/>
          <p:nvPr/>
        </p:nvSpPr>
        <p:spPr>
          <a:xfrm>
            <a:off x="11155680" y="6455664"/>
            <a:ext cx="822960" cy="310896"/>
          </a:xfrm>
          <a:prstGeom prst="rect">
            <a:avLst/>
          </a:prstGeom>
          <a:noFill/>
        </p:spPr>
        <p:txBody>
          <a:bodyPr wrap="square" lIns="0" rIns="0" tIns="0" bIns="0">
            <a:spAutoFit/>
          </a:bodyPr>
          <a:lstStyle/>
          <a:p>
            <a:pPr algn="r"/>
            <a:r>
              <a:rPr sz="1000" b="1" i="0">
                <a:solidFill>
                  <a:srgbClr val="0F2A4F"/>
                </a:solidFill>
                <a:latin typeface="Calibri"/>
              </a:rPr>
              <a:t>15</a:t>
            </a:r>
          </a:p>
        </p:txBody>
      </p:sp>
      <p:sp>
        <p:nvSpPr>
          <p:cNvPr id="6" name="TextBox 5"/>
          <p:cNvSpPr txBox="1"/>
          <p:nvPr/>
        </p:nvSpPr>
        <p:spPr>
          <a:xfrm>
            <a:off x="502920" y="292608"/>
            <a:ext cx="10972800" cy="365760"/>
          </a:xfrm>
          <a:prstGeom prst="rect">
            <a:avLst/>
          </a:prstGeom>
          <a:noFill/>
        </p:spPr>
        <p:txBody>
          <a:bodyPr wrap="square" lIns="0" rIns="0" tIns="0" bIns="0">
            <a:spAutoFit/>
          </a:bodyPr>
          <a:lstStyle/>
          <a:p>
            <a:r>
              <a:rPr sz="1200" b="1" i="0">
                <a:solidFill>
                  <a:srgbClr val="E8722B"/>
                </a:solidFill>
                <a:latin typeface="Calibri"/>
              </a:rPr>
              <a:t>KẾT LUẬN</a:t>
            </a:r>
          </a:p>
        </p:txBody>
      </p:sp>
      <p:sp>
        <p:nvSpPr>
          <p:cNvPr id="7" name="TextBox 6"/>
          <p:cNvSpPr txBox="1"/>
          <p:nvPr/>
        </p:nvSpPr>
        <p:spPr>
          <a:xfrm>
            <a:off x="502920" y="603504"/>
            <a:ext cx="11155680" cy="868680"/>
          </a:xfrm>
          <a:prstGeom prst="rect">
            <a:avLst/>
          </a:prstGeom>
          <a:noFill/>
        </p:spPr>
        <p:txBody>
          <a:bodyPr wrap="square" lIns="0" rIns="0" tIns="0" bIns="0">
            <a:spAutoFit/>
          </a:bodyPr>
          <a:lstStyle/>
          <a:p>
            <a:r>
              <a:rPr sz="2500" b="1" i="0">
                <a:solidFill>
                  <a:srgbClr val="0F2A4F"/>
                </a:solidFill>
                <a:latin typeface="Calibri"/>
              </a:rPr>
              <a:t>Trả lời 3 RQ &amp; hạn chế trung thực</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91640"/>
            <a:ext cx="11155680" cy="4572000"/>
          </a:xfrm>
          <a:prstGeom prst="rect">
            <a:avLst/>
          </a:prstGeom>
          <a:noFill/>
        </p:spPr>
        <p:txBody>
          <a:bodyPr wrap="square" lIns="0" rIns="0" tIns="0" bIns="0" anchor="t">
            <a:spAutoFit/>
          </a:bodyPr>
          <a:lstStyle/>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RQ1: dự đoán sớm khả thi từ giữa khóa trên toàn cohort; với SV còn đang học, độ nhạy chỉ đạt mức cao ở cuối khóa — báo cáo cả hai.</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RQ2: giải thích ổn định theo seed (thứ hạng ~0,97 Spearman), top-10 dao động nhẹ.</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RQ3: resampling không đổi hiệu năng (dữ liệu gần cân bằng) nhưng ĐỔI lời giải thích → khuyến nghị no-resample/class-weight.</a:t>
            </a:r>
          </a:p>
          <a:p>
            <a:pPr>
              <a:lnSpc>
                <a:spcPct val="104000"/>
              </a:lnSpc>
              <a:spcAft>
                <a:spcPts val="700"/>
              </a:spcAft>
            </a:pPr>
            <a:r>
              <a:rPr sz="1200" b="1" i="0">
                <a:solidFill>
                  <a:srgbClr val="0F2A4F"/>
                </a:solidFill>
                <a:latin typeface="Calibri"/>
              </a:rPr>
              <a:t>▪ </a:t>
            </a:r>
            <a:r>
              <a:rPr sz="1450" b="0" i="0">
                <a:solidFill>
                  <a:srgbClr val="262B33"/>
                </a:solidFill>
                <a:latin typeface="Calibri"/>
              </a:rPr>
              <a:t>Hạn chế: 1 bộ dữ liệu (OULAD, 2013–2014) · nhãn Withdrawn gộp nhiều lý do · recall active-cohort ở mốc sớm còn thấp · chưa kiểm chứng ngoài (external validation).</a:t>
            </a:r>
          </a:p>
          <a:p>
            <a:pPr>
              <a:lnSpc>
                <a:spcPct val="104000"/>
              </a:lnSpc>
              <a:spcBef>
                <a:spcPts val="400"/>
              </a:spcBef>
              <a:spcAft>
                <a:spcPts val="700"/>
              </a:spcAft>
            </a:pPr>
            <a:r>
              <a:rPr sz="1200" b="0" i="1">
                <a:solidFill>
                  <a:srgbClr val="5B6370"/>
                </a:solidFill>
                <a:latin typeface="Calibri"/>
              </a:rPr>
              <a:t>Toàn bộ kết quả tái lập từ repo: 1 lệnh chạy pipeline + bộ test tự động.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17520"/>
            <a:ext cx="12191695" cy="64008"/>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48840"/>
            <a:ext cx="10515600" cy="914400"/>
          </a:xfrm>
          <a:prstGeom prst="rect">
            <a:avLst/>
          </a:prstGeom>
          <a:noFill/>
        </p:spPr>
        <p:txBody>
          <a:bodyPr wrap="square" lIns="0" rIns="0" tIns="0" bIns="0">
            <a:spAutoFit/>
          </a:bodyPr>
          <a:lstStyle/>
          <a:p>
            <a:r>
              <a:rPr sz="3400" b="1" i="0">
                <a:solidFill>
                  <a:srgbClr val="FFFFFF"/>
                </a:solidFill>
                <a:latin typeface="Calibri"/>
              </a:rPr>
              <a:t>Q&amp;A — Cảm ơn thầy/cô và các bạn!</a:t>
            </a:r>
          </a:p>
        </p:txBody>
      </p:sp>
      <p:sp>
        <p:nvSpPr>
          <p:cNvPr id="5" name="TextBox 4"/>
          <p:cNvSpPr txBox="1"/>
          <p:nvPr/>
        </p:nvSpPr>
        <p:spPr>
          <a:xfrm>
            <a:off x="822960" y="3291840"/>
            <a:ext cx="10515600" cy="1097280"/>
          </a:xfrm>
          <a:prstGeom prst="rect">
            <a:avLst/>
          </a:prstGeom>
          <a:noFill/>
        </p:spPr>
        <p:txBody>
          <a:bodyPr wrap="square" lIns="0" rIns="0" tIns="0" bIns="0">
            <a:spAutoFit/>
          </a:bodyPr>
          <a:lstStyle/>
          <a:p>
            <a:r>
              <a:rPr sz="1400" b="0" i="0">
                <a:solidFill>
                  <a:srgbClr val="D7E0EC"/>
                </a:solidFill>
                <a:latin typeface="Calibri"/>
              </a:rPr>
              <a:t>DSP391m · Nhóm 1 · GVHD: Nguyễn Thị Hoàng Yến</a:t>
            </a:r>
          </a:p>
          <a:p>
            <a:pPr>
              <a:spcBef>
                <a:spcPts val="400"/>
              </a:spcBef>
            </a:pPr>
            <a:r>
              <a:rPr sz="1200" b="0" i="1">
                <a:solidFill>
                  <a:srgbClr val="AFBED2"/>
                </a:solidFill>
                <a:latin typeface="Calibri"/>
              </a:rPr>
              <a:t>Mã nguồn, số liệu và slide tái lập được từ repo của nhóm.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